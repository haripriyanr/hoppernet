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31520"/>
            <a:ext cx="10058400" cy="365760"/>
          </a:xfrm>
          <a:prstGeom prst="rect">
            <a:avLst/>
          </a:prstGeom>
          <a:noFill/>
        </p:spPr>
        <p:txBody>
          <a:bodyPr wrap="square" lIns="0" rIns="0" tIns="0" bIns="0">
            <a:spAutoFit/>
          </a:bodyPr>
          <a:lstStyle/>
          <a:p>
            <a:pPr algn="l"/>
            <a:r>
              <a:rPr sz="1200" b="1" i="0">
                <a:solidFill>
                  <a:srgbClr val="38BDF8"/>
                </a:solidFill>
              </a:rPr>
              <a:t>HopperNet  /  MedRelay</a:t>
            </a:r>
          </a:p>
        </p:txBody>
      </p:sp>
      <p:sp>
        <p:nvSpPr>
          <p:cNvPr id="5" name="TextBox 4"/>
          <p:cNvSpPr txBox="1"/>
          <p:nvPr/>
        </p:nvSpPr>
        <p:spPr>
          <a:xfrm>
            <a:off x="822960" y="1097280"/>
            <a:ext cx="10058400" cy="777240"/>
          </a:xfrm>
          <a:prstGeom prst="rect">
            <a:avLst/>
          </a:prstGeom>
          <a:noFill/>
        </p:spPr>
        <p:txBody>
          <a:bodyPr wrap="square" lIns="0" rIns="0" tIns="0" bIns="0">
            <a:spAutoFit/>
          </a:bodyPr>
          <a:lstStyle/>
          <a:p>
            <a:pPr algn="l"/>
            <a:r>
              <a:rPr sz="2800" b="1" i="0">
                <a:solidFill>
                  <a:srgbClr val="FFFFFF"/>
                </a:solidFill>
              </a:rPr>
              <a:t>Jammer-Resilient Slotted FHSS Mesh
with Dynamic Blacklisting &amp; Persistent Edge Buffering</a:t>
            </a:r>
          </a:p>
        </p:txBody>
      </p:sp>
      <p:sp>
        <p:nvSpPr>
          <p:cNvPr id="6" name="TextBox 5"/>
          <p:cNvSpPr txBox="1"/>
          <p:nvPr/>
        </p:nvSpPr>
        <p:spPr>
          <a:xfrm>
            <a:off x="822960" y="1965960"/>
            <a:ext cx="10058400" cy="320040"/>
          </a:xfrm>
          <a:prstGeom prst="rect">
            <a:avLst/>
          </a:prstGeom>
          <a:noFill/>
        </p:spPr>
        <p:txBody>
          <a:bodyPr wrap="square" lIns="0" rIns="0" tIns="0" bIns="0">
            <a:spAutoFit/>
          </a:bodyPr>
          <a:lstStyle/>
          <a:p>
            <a:pPr algn="l"/>
            <a:r>
              <a:rPr sz="1100" b="0" i="0">
                <a:solidFill>
                  <a:srgbClr val="B0A0D0"/>
                </a:solidFill>
              </a:rPr>
              <a:t>3-Node ESP32 Mesh  |  nRF24L01+ 2.4 GHz Transceiver  |  124 RF Channels  |  Real-Time Cloud Telemetry</a:t>
            </a:r>
          </a:p>
        </p:txBody>
      </p:sp>
      <p:sp>
        <p:nvSpPr>
          <p:cNvPr id="7" name="Rectangle 6"/>
          <p:cNvSpPr/>
          <p:nvPr/>
        </p:nvSpPr>
        <p:spPr>
          <a:xfrm>
            <a:off x="822960" y="2423160"/>
            <a:ext cx="10543032"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60320"/>
            <a:ext cx="4937760" cy="256032"/>
          </a:xfrm>
          <a:prstGeom prst="rect">
            <a:avLst/>
          </a:prstGeom>
          <a:noFill/>
        </p:spPr>
        <p:txBody>
          <a:bodyPr wrap="square" lIns="0" rIns="0" tIns="0" bIns="0">
            <a:spAutoFit/>
          </a:bodyPr>
          <a:lstStyle/>
          <a:p>
            <a:pPr algn="l"/>
            <a:r>
              <a:rPr sz="950" b="1" i="0">
                <a:solidFill>
                  <a:srgbClr val="A060FF"/>
                </a:solidFill>
              </a:rPr>
              <a:t>PROJECT INFO</a:t>
            </a:r>
          </a:p>
        </p:txBody>
      </p:sp>
      <p:sp>
        <p:nvSpPr>
          <p:cNvPr id="9" name="TextBox 8"/>
          <p:cNvSpPr txBox="1"/>
          <p:nvPr/>
        </p:nvSpPr>
        <p:spPr>
          <a:xfrm>
            <a:off x="822960" y="2816352"/>
            <a:ext cx="1005840" cy="201168"/>
          </a:xfrm>
          <a:prstGeom prst="rect">
            <a:avLst/>
          </a:prstGeom>
          <a:noFill/>
        </p:spPr>
        <p:txBody>
          <a:bodyPr wrap="square" lIns="0" rIns="0" tIns="0" bIns="0">
            <a:spAutoFit/>
          </a:bodyPr>
          <a:lstStyle/>
          <a:p>
            <a:pPr algn="l"/>
            <a:r>
              <a:rPr sz="950" b="1" i="0">
                <a:solidFill>
                  <a:srgbClr val="B0A0D0"/>
                </a:solidFill>
              </a:rPr>
              <a:t>Domain:</a:t>
            </a:r>
          </a:p>
        </p:txBody>
      </p:sp>
      <p:sp>
        <p:nvSpPr>
          <p:cNvPr id="10" name="TextBox 9"/>
          <p:cNvSpPr txBox="1"/>
          <p:nvPr/>
        </p:nvSpPr>
        <p:spPr>
          <a:xfrm>
            <a:off x="1874519" y="2816352"/>
            <a:ext cx="3840480" cy="201168"/>
          </a:xfrm>
          <a:prstGeom prst="rect">
            <a:avLst/>
          </a:prstGeom>
          <a:noFill/>
        </p:spPr>
        <p:txBody>
          <a:bodyPr wrap="square" lIns="0" rIns="0" tIns="0" bIns="0">
            <a:spAutoFit/>
          </a:bodyPr>
          <a:lstStyle/>
          <a:p>
            <a:pPr algn="l"/>
            <a:r>
              <a:rPr sz="950" b="0" i="0">
                <a:solidFill>
                  <a:srgbClr val="FFFFFF"/>
                </a:solidFill>
              </a:rPr>
              <a:t>Embedded Systems, RF Communications, Wireless Security</a:t>
            </a:r>
          </a:p>
        </p:txBody>
      </p:sp>
      <p:sp>
        <p:nvSpPr>
          <p:cNvPr id="11" name="TextBox 10"/>
          <p:cNvSpPr txBox="1"/>
          <p:nvPr/>
        </p:nvSpPr>
        <p:spPr>
          <a:xfrm>
            <a:off x="822960" y="3054096"/>
            <a:ext cx="1005840" cy="201168"/>
          </a:xfrm>
          <a:prstGeom prst="rect">
            <a:avLst/>
          </a:prstGeom>
          <a:noFill/>
        </p:spPr>
        <p:txBody>
          <a:bodyPr wrap="square" lIns="0" rIns="0" tIns="0" bIns="0">
            <a:spAutoFit/>
          </a:bodyPr>
          <a:lstStyle/>
          <a:p>
            <a:pPr algn="l"/>
            <a:r>
              <a:rPr sz="950" b="1" i="0">
                <a:solidFill>
                  <a:srgbClr val="B0A0D0"/>
                </a:solidFill>
              </a:rPr>
              <a:t>Architecture:</a:t>
            </a:r>
          </a:p>
        </p:txBody>
      </p:sp>
      <p:sp>
        <p:nvSpPr>
          <p:cNvPr id="12" name="TextBox 11"/>
          <p:cNvSpPr txBox="1"/>
          <p:nvPr/>
        </p:nvSpPr>
        <p:spPr>
          <a:xfrm>
            <a:off x="1874519" y="3054096"/>
            <a:ext cx="3840480" cy="201168"/>
          </a:xfrm>
          <a:prstGeom prst="rect">
            <a:avLst/>
          </a:prstGeom>
          <a:noFill/>
        </p:spPr>
        <p:txBody>
          <a:bodyPr wrap="square" lIns="0" rIns="0" tIns="0" bIns="0">
            <a:spAutoFit/>
          </a:bodyPr>
          <a:lstStyle/>
          <a:p>
            <a:pPr algn="l"/>
            <a:r>
              <a:rPr sz="950" b="0" i="0">
                <a:solidFill>
                  <a:srgbClr val="FFFFFF"/>
                </a:solidFill>
              </a:rPr>
              <a:t>Node A (Source)  -&gt;  Node B (Relay)  -&gt;  Node C (Destination) + Jammer Console</a:t>
            </a:r>
          </a:p>
        </p:txBody>
      </p:sp>
      <p:sp>
        <p:nvSpPr>
          <p:cNvPr id="13" name="TextBox 12"/>
          <p:cNvSpPr txBox="1"/>
          <p:nvPr/>
        </p:nvSpPr>
        <p:spPr>
          <a:xfrm>
            <a:off x="822960" y="3291840"/>
            <a:ext cx="1005840" cy="201168"/>
          </a:xfrm>
          <a:prstGeom prst="rect">
            <a:avLst/>
          </a:prstGeom>
          <a:noFill/>
        </p:spPr>
        <p:txBody>
          <a:bodyPr wrap="square" lIns="0" rIns="0" tIns="0" bIns="0">
            <a:spAutoFit/>
          </a:bodyPr>
          <a:lstStyle/>
          <a:p>
            <a:pPr algn="l"/>
            <a:r>
              <a:rPr sz="950" b="1" i="0">
                <a:solidFill>
                  <a:srgbClr val="B0A0D0"/>
                </a:solidFill>
              </a:rPr>
              <a:t>Transceiver:</a:t>
            </a:r>
          </a:p>
        </p:txBody>
      </p:sp>
      <p:sp>
        <p:nvSpPr>
          <p:cNvPr id="14" name="TextBox 13"/>
          <p:cNvSpPr txBox="1"/>
          <p:nvPr/>
        </p:nvSpPr>
        <p:spPr>
          <a:xfrm>
            <a:off x="1874519" y="3291840"/>
            <a:ext cx="3840480" cy="201168"/>
          </a:xfrm>
          <a:prstGeom prst="rect">
            <a:avLst/>
          </a:prstGeom>
          <a:noFill/>
        </p:spPr>
        <p:txBody>
          <a:bodyPr wrap="square" lIns="0" rIns="0" tIns="0" bIns="0">
            <a:spAutoFit/>
          </a:bodyPr>
          <a:lstStyle/>
          <a:p>
            <a:pPr algn="l"/>
            <a:r>
              <a:rPr sz="950" b="0" i="0">
                <a:solidFill>
                  <a:srgbClr val="FFFFFF"/>
                </a:solidFill>
              </a:rPr>
              <a:t>nRF24L01+  |  2.402 - 2.525 GHz  |  124 channels</a:t>
            </a:r>
          </a:p>
        </p:txBody>
      </p:sp>
      <p:sp>
        <p:nvSpPr>
          <p:cNvPr id="15" name="TextBox 14"/>
          <p:cNvSpPr txBox="1"/>
          <p:nvPr/>
        </p:nvSpPr>
        <p:spPr>
          <a:xfrm>
            <a:off x="822960" y="3529584"/>
            <a:ext cx="1005840" cy="201168"/>
          </a:xfrm>
          <a:prstGeom prst="rect">
            <a:avLst/>
          </a:prstGeom>
          <a:noFill/>
        </p:spPr>
        <p:txBody>
          <a:bodyPr wrap="square" lIns="0" rIns="0" tIns="0" bIns="0">
            <a:spAutoFit/>
          </a:bodyPr>
          <a:lstStyle/>
          <a:p>
            <a:pPr algn="l"/>
            <a:r>
              <a:rPr sz="950" b="1" i="0">
                <a:solidFill>
                  <a:srgbClr val="B0A0D0"/>
                </a:solidFill>
              </a:rPr>
              <a:t>Backend:</a:t>
            </a:r>
          </a:p>
        </p:txBody>
      </p:sp>
      <p:sp>
        <p:nvSpPr>
          <p:cNvPr id="16" name="TextBox 15"/>
          <p:cNvSpPr txBox="1"/>
          <p:nvPr/>
        </p:nvSpPr>
        <p:spPr>
          <a:xfrm>
            <a:off x="1874519" y="3529584"/>
            <a:ext cx="3840480" cy="201168"/>
          </a:xfrm>
          <a:prstGeom prst="rect">
            <a:avLst/>
          </a:prstGeom>
          <a:noFill/>
        </p:spPr>
        <p:txBody>
          <a:bodyPr wrap="square" lIns="0" rIns="0" tIns="0" bIns="0">
            <a:spAutoFit/>
          </a:bodyPr>
          <a:lstStyle/>
          <a:p>
            <a:pPr algn="l"/>
            <a:r>
              <a:rPr sz="950" b="0" i="0">
                <a:solidFill>
                  <a:srgbClr val="FFFFFF"/>
                </a:solidFill>
              </a:rPr>
              <a:t>Supabase PostgreSQL with REST &amp; WebSocket real-time sync</a:t>
            </a:r>
          </a:p>
        </p:txBody>
      </p:sp>
      <p:sp>
        <p:nvSpPr>
          <p:cNvPr id="17" name="TextBox 16"/>
          <p:cNvSpPr txBox="1"/>
          <p:nvPr/>
        </p:nvSpPr>
        <p:spPr>
          <a:xfrm>
            <a:off x="822960" y="3767328"/>
            <a:ext cx="1005840" cy="201168"/>
          </a:xfrm>
          <a:prstGeom prst="rect">
            <a:avLst/>
          </a:prstGeom>
          <a:noFill/>
        </p:spPr>
        <p:txBody>
          <a:bodyPr wrap="square" lIns="0" rIns="0" tIns="0" bIns="0">
            <a:spAutoFit/>
          </a:bodyPr>
          <a:lstStyle/>
          <a:p>
            <a:pPr algn="l"/>
            <a:r>
              <a:rPr sz="950" b="1" i="0">
                <a:solidFill>
                  <a:srgbClr val="B0A0D0"/>
                </a:solidFill>
              </a:rPr>
              <a:t>Application:</a:t>
            </a:r>
          </a:p>
        </p:txBody>
      </p:sp>
      <p:sp>
        <p:nvSpPr>
          <p:cNvPr id="18" name="TextBox 17"/>
          <p:cNvSpPr txBox="1"/>
          <p:nvPr/>
        </p:nvSpPr>
        <p:spPr>
          <a:xfrm>
            <a:off x="1874519" y="3767328"/>
            <a:ext cx="3840480" cy="201168"/>
          </a:xfrm>
          <a:prstGeom prst="rect">
            <a:avLst/>
          </a:prstGeom>
          <a:noFill/>
        </p:spPr>
        <p:txBody>
          <a:bodyPr wrap="square" lIns="0" rIns="0" tIns="0" bIns="0">
            <a:spAutoFit/>
          </a:bodyPr>
          <a:lstStyle/>
          <a:p>
            <a:pPr algn="l"/>
            <a:r>
              <a:rPr sz="950" b="0" i="0">
                <a:solidFill>
                  <a:srgbClr val="FFFFFF"/>
                </a:solidFill>
              </a:rPr>
              <a:t>Emergency medical telemetry &amp; tactical edge communications</a:t>
            </a:r>
          </a:p>
        </p:txBody>
      </p:sp>
      <p:sp>
        <p:nvSpPr>
          <p:cNvPr id="19" name="TextBox 18"/>
          <p:cNvSpPr txBox="1"/>
          <p:nvPr/>
        </p:nvSpPr>
        <p:spPr>
          <a:xfrm>
            <a:off x="6583680" y="2560320"/>
            <a:ext cx="4937760" cy="256032"/>
          </a:xfrm>
          <a:prstGeom prst="rect">
            <a:avLst/>
          </a:prstGeom>
          <a:noFill/>
        </p:spPr>
        <p:txBody>
          <a:bodyPr wrap="square" lIns="0" rIns="0" tIns="0" bIns="0">
            <a:spAutoFit/>
          </a:bodyPr>
          <a:lstStyle/>
          <a:p>
            <a:pPr algn="l"/>
            <a:r>
              <a:rPr sz="950" b="1" i="0">
                <a:solidFill>
                  <a:srgbClr val="A060FF"/>
                </a:solidFill>
              </a:rPr>
              <a:t>EVALUATION RUBRIC</a:t>
            </a:r>
          </a:p>
        </p:txBody>
      </p:sp>
      <p:sp>
        <p:nvSpPr>
          <p:cNvPr id="20" name="Rectangle 19"/>
          <p:cNvSpPr/>
          <p:nvPr/>
        </p:nvSpPr>
        <p:spPr>
          <a:xfrm>
            <a:off x="6583680" y="2852928"/>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2816352"/>
            <a:ext cx="749808" cy="201168"/>
          </a:xfrm>
          <a:prstGeom prst="rect">
            <a:avLst/>
          </a:prstGeom>
          <a:noFill/>
        </p:spPr>
        <p:txBody>
          <a:bodyPr wrap="square" lIns="0" rIns="0" tIns="0" bIns="0">
            <a:spAutoFit/>
          </a:bodyPr>
          <a:lstStyle/>
          <a:p>
            <a:pPr algn="ctr"/>
            <a:r>
              <a:rPr sz="850" b="1" i="0">
                <a:solidFill>
                  <a:srgbClr val="34D399"/>
                </a:solidFill>
              </a:rPr>
              <a:t>2 marks</a:t>
            </a:r>
          </a:p>
        </p:txBody>
      </p:sp>
      <p:sp>
        <p:nvSpPr>
          <p:cNvPr id="22" name="TextBox 21"/>
          <p:cNvSpPr txBox="1"/>
          <p:nvPr/>
        </p:nvSpPr>
        <p:spPr>
          <a:xfrm>
            <a:off x="7406640" y="2816352"/>
            <a:ext cx="4114800" cy="201168"/>
          </a:xfrm>
          <a:prstGeom prst="rect">
            <a:avLst/>
          </a:prstGeom>
          <a:noFill/>
        </p:spPr>
        <p:txBody>
          <a:bodyPr wrap="square" lIns="0" rIns="0" tIns="0" bIns="0">
            <a:spAutoFit/>
          </a:bodyPr>
          <a:lstStyle/>
          <a:p>
            <a:pPr algn="l"/>
            <a:r>
              <a:rPr sz="950" b="0" i="0">
                <a:solidFill>
                  <a:srgbClr val="FFFFFF"/>
                </a:solidFill>
              </a:rPr>
              <a:t>Problem Statement &amp; Objectives</a:t>
            </a:r>
          </a:p>
        </p:txBody>
      </p:sp>
      <p:sp>
        <p:nvSpPr>
          <p:cNvPr id="23" name="Rectangle 22"/>
          <p:cNvSpPr/>
          <p:nvPr/>
        </p:nvSpPr>
        <p:spPr>
          <a:xfrm>
            <a:off x="6583680" y="3090672"/>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3054096"/>
            <a:ext cx="749808" cy="201168"/>
          </a:xfrm>
          <a:prstGeom prst="rect">
            <a:avLst/>
          </a:prstGeom>
          <a:noFill/>
        </p:spPr>
        <p:txBody>
          <a:bodyPr wrap="square" lIns="0" rIns="0" tIns="0" bIns="0">
            <a:spAutoFit/>
          </a:bodyPr>
          <a:lstStyle/>
          <a:p>
            <a:pPr algn="ctr"/>
            <a:r>
              <a:rPr sz="850" b="1" i="0">
                <a:solidFill>
                  <a:srgbClr val="34D399"/>
                </a:solidFill>
              </a:rPr>
              <a:t>3 marks</a:t>
            </a:r>
          </a:p>
        </p:txBody>
      </p:sp>
      <p:sp>
        <p:nvSpPr>
          <p:cNvPr id="25" name="TextBox 24"/>
          <p:cNvSpPr txBox="1"/>
          <p:nvPr/>
        </p:nvSpPr>
        <p:spPr>
          <a:xfrm>
            <a:off x="7406640" y="3054096"/>
            <a:ext cx="4114800" cy="201168"/>
          </a:xfrm>
          <a:prstGeom prst="rect">
            <a:avLst/>
          </a:prstGeom>
          <a:noFill/>
        </p:spPr>
        <p:txBody>
          <a:bodyPr wrap="square" lIns="0" rIns="0" tIns="0" bIns="0">
            <a:spAutoFit/>
          </a:bodyPr>
          <a:lstStyle/>
          <a:p>
            <a:pPr algn="l"/>
            <a:r>
              <a:rPr sz="950" b="0" i="0">
                <a:solidFill>
                  <a:srgbClr val="FFFFFF"/>
                </a:solidFill>
              </a:rPr>
              <a:t>Literature Survey &amp; Research Gap</a:t>
            </a:r>
          </a:p>
        </p:txBody>
      </p:sp>
      <p:sp>
        <p:nvSpPr>
          <p:cNvPr id="26" name="Rectangle 25"/>
          <p:cNvSpPr/>
          <p:nvPr/>
        </p:nvSpPr>
        <p:spPr>
          <a:xfrm>
            <a:off x="6583680" y="3328416"/>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3291840"/>
            <a:ext cx="749808" cy="201168"/>
          </a:xfrm>
          <a:prstGeom prst="rect">
            <a:avLst/>
          </a:prstGeom>
          <a:noFill/>
        </p:spPr>
        <p:txBody>
          <a:bodyPr wrap="square" lIns="0" rIns="0" tIns="0" bIns="0">
            <a:spAutoFit/>
          </a:bodyPr>
          <a:lstStyle/>
          <a:p>
            <a:pPr algn="ctr"/>
            <a:r>
              <a:rPr sz="850" b="1" i="0">
                <a:solidFill>
                  <a:srgbClr val="34D399"/>
                </a:solidFill>
              </a:rPr>
              <a:t>3 marks</a:t>
            </a:r>
          </a:p>
        </p:txBody>
      </p:sp>
      <p:sp>
        <p:nvSpPr>
          <p:cNvPr id="28" name="TextBox 27"/>
          <p:cNvSpPr txBox="1"/>
          <p:nvPr/>
        </p:nvSpPr>
        <p:spPr>
          <a:xfrm>
            <a:off x="7406640" y="3291840"/>
            <a:ext cx="4114800" cy="201168"/>
          </a:xfrm>
          <a:prstGeom prst="rect">
            <a:avLst/>
          </a:prstGeom>
          <a:noFill/>
        </p:spPr>
        <p:txBody>
          <a:bodyPr wrap="square" lIns="0" rIns="0" tIns="0" bIns="0">
            <a:spAutoFit/>
          </a:bodyPr>
          <a:lstStyle/>
          <a:p>
            <a:pPr algn="l"/>
            <a:r>
              <a:rPr sz="950" b="0" i="0">
                <a:solidFill>
                  <a:srgbClr val="FFFFFF"/>
                </a:solidFill>
              </a:rPr>
              <a:t>Proposed Methodology &amp; Architecture</a:t>
            </a:r>
          </a:p>
        </p:txBody>
      </p:sp>
      <p:sp>
        <p:nvSpPr>
          <p:cNvPr id="29" name="Rectangle 28"/>
          <p:cNvSpPr/>
          <p:nvPr/>
        </p:nvSpPr>
        <p:spPr>
          <a:xfrm>
            <a:off x="6583680" y="3566160"/>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3529584"/>
            <a:ext cx="749808" cy="201168"/>
          </a:xfrm>
          <a:prstGeom prst="rect">
            <a:avLst/>
          </a:prstGeom>
          <a:noFill/>
        </p:spPr>
        <p:txBody>
          <a:bodyPr wrap="square" lIns="0" rIns="0" tIns="0" bIns="0">
            <a:spAutoFit/>
          </a:bodyPr>
          <a:lstStyle/>
          <a:p>
            <a:pPr algn="ctr"/>
            <a:r>
              <a:rPr sz="850" b="1" i="0">
                <a:solidFill>
                  <a:srgbClr val="34D399"/>
                </a:solidFill>
              </a:rPr>
              <a:t>3 marks</a:t>
            </a:r>
          </a:p>
        </p:txBody>
      </p:sp>
      <p:sp>
        <p:nvSpPr>
          <p:cNvPr id="31" name="TextBox 30"/>
          <p:cNvSpPr txBox="1"/>
          <p:nvPr/>
        </p:nvSpPr>
        <p:spPr>
          <a:xfrm>
            <a:off x="7406640" y="3529584"/>
            <a:ext cx="4114800" cy="201168"/>
          </a:xfrm>
          <a:prstGeom prst="rect">
            <a:avLst/>
          </a:prstGeom>
          <a:noFill/>
        </p:spPr>
        <p:txBody>
          <a:bodyPr wrap="square" lIns="0" rIns="0" tIns="0" bIns="0">
            <a:spAutoFit/>
          </a:bodyPr>
          <a:lstStyle/>
          <a:p>
            <a:pPr algn="l"/>
            <a:r>
              <a:rPr sz="950" b="0" i="0">
                <a:solidFill>
                  <a:srgbClr val="FFFFFF"/>
                </a:solidFill>
              </a:rPr>
              <a:t>Implementation Progress</a:t>
            </a:r>
          </a:p>
        </p:txBody>
      </p:sp>
      <p:sp>
        <p:nvSpPr>
          <p:cNvPr id="32" name="Rectangle 31"/>
          <p:cNvSpPr/>
          <p:nvPr/>
        </p:nvSpPr>
        <p:spPr>
          <a:xfrm>
            <a:off x="6583680" y="3803904"/>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3767328"/>
            <a:ext cx="749808" cy="201168"/>
          </a:xfrm>
          <a:prstGeom prst="rect">
            <a:avLst/>
          </a:prstGeom>
          <a:noFill/>
        </p:spPr>
        <p:txBody>
          <a:bodyPr wrap="square" lIns="0" rIns="0" tIns="0" bIns="0">
            <a:spAutoFit/>
          </a:bodyPr>
          <a:lstStyle/>
          <a:p>
            <a:pPr algn="ctr"/>
            <a:r>
              <a:rPr sz="850" b="1" i="0">
                <a:solidFill>
                  <a:srgbClr val="34D399"/>
                </a:solidFill>
              </a:rPr>
              <a:t>2 marks</a:t>
            </a:r>
          </a:p>
        </p:txBody>
      </p:sp>
      <p:sp>
        <p:nvSpPr>
          <p:cNvPr id="34" name="TextBox 33"/>
          <p:cNvSpPr txBox="1"/>
          <p:nvPr/>
        </p:nvSpPr>
        <p:spPr>
          <a:xfrm>
            <a:off x="7406640" y="3767328"/>
            <a:ext cx="4114800" cy="201168"/>
          </a:xfrm>
          <a:prstGeom prst="rect">
            <a:avLst/>
          </a:prstGeom>
          <a:noFill/>
        </p:spPr>
        <p:txBody>
          <a:bodyPr wrap="square" lIns="0" rIns="0" tIns="0" bIns="0">
            <a:spAutoFit/>
          </a:bodyPr>
          <a:lstStyle/>
          <a:p>
            <a:pPr algn="l"/>
            <a:r>
              <a:rPr sz="950" b="0" i="0">
                <a:solidFill>
                  <a:srgbClr val="FFFFFF"/>
                </a:solidFill>
              </a:rPr>
              <a:t>Documentation &amp; Planning</a:t>
            </a:r>
          </a:p>
        </p:txBody>
      </p:sp>
      <p:sp>
        <p:nvSpPr>
          <p:cNvPr id="35" name="Rectangle 34"/>
          <p:cNvSpPr/>
          <p:nvPr/>
        </p:nvSpPr>
        <p:spPr>
          <a:xfrm>
            <a:off x="6583680" y="4041648"/>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4005072"/>
            <a:ext cx="749808" cy="201168"/>
          </a:xfrm>
          <a:prstGeom prst="rect">
            <a:avLst/>
          </a:prstGeom>
          <a:noFill/>
        </p:spPr>
        <p:txBody>
          <a:bodyPr wrap="square" lIns="0" rIns="0" tIns="0" bIns="0">
            <a:spAutoFit/>
          </a:bodyPr>
          <a:lstStyle/>
          <a:p>
            <a:pPr algn="ctr"/>
            <a:r>
              <a:rPr sz="850" b="1" i="0">
                <a:solidFill>
                  <a:srgbClr val="34D399"/>
                </a:solidFill>
              </a:rPr>
              <a:t>2 marks</a:t>
            </a:r>
          </a:p>
        </p:txBody>
      </p:sp>
      <p:sp>
        <p:nvSpPr>
          <p:cNvPr id="37" name="TextBox 36"/>
          <p:cNvSpPr txBox="1"/>
          <p:nvPr/>
        </p:nvSpPr>
        <p:spPr>
          <a:xfrm>
            <a:off x="7406640" y="4005072"/>
            <a:ext cx="4114800" cy="201168"/>
          </a:xfrm>
          <a:prstGeom prst="rect">
            <a:avLst/>
          </a:prstGeom>
          <a:noFill/>
        </p:spPr>
        <p:txBody>
          <a:bodyPr wrap="square" lIns="0" rIns="0" tIns="0" bIns="0">
            <a:spAutoFit/>
          </a:bodyPr>
          <a:lstStyle/>
          <a:p>
            <a:pPr algn="l"/>
            <a:r>
              <a:rPr sz="950" b="0" i="0">
                <a:solidFill>
                  <a:srgbClr val="FFFFFF"/>
                </a:solidFill>
              </a:rPr>
              <a:t>Team Presentation &amp; Q&amp;A</a:t>
            </a:r>
          </a:p>
        </p:txBody>
      </p:sp>
      <p:sp>
        <p:nvSpPr>
          <p:cNvPr id="38" name="Rectangle 37"/>
          <p:cNvSpPr/>
          <p:nvPr/>
        </p:nvSpPr>
        <p:spPr>
          <a:xfrm>
            <a:off x="0" y="6803136"/>
            <a:ext cx="12191695" cy="54864"/>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1  |  PROBLEM STATEMENT &amp; OBJECTIVES  |  2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Wireless Links That Fail When It Matters Most</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Critical communications break down under RF jamming and dead-zone disconnection</a:t>
            </a:r>
          </a:p>
        </p:txBody>
      </p:sp>
      <p:sp>
        <p:nvSpPr>
          <p:cNvPr id="7" name="Rectangle 6"/>
          <p:cNvSpPr/>
          <p:nvPr/>
        </p:nvSpPr>
        <p:spPr>
          <a:xfrm>
            <a:off x="640080"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37360"/>
            <a:ext cx="2962656" cy="237744"/>
          </a:xfrm>
          <a:prstGeom prst="rect">
            <a:avLst/>
          </a:prstGeom>
          <a:noFill/>
        </p:spPr>
        <p:txBody>
          <a:bodyPr wrap="square" lIns="0" rIns="0" tIns="0" bIns="0">
            <a:spAutoFit/>
          </a:bodyPr>
          <a:lstStyle/>
          <a:p>
            <a:pPr algn="l"/>
            <a:r>
              <a:rPr sz="1100" b="1" i="0">
                <a:solidFill>
                  <a:srgbClr val="F87171"/>
                </a:solidFill>
              </a:rPr>
              <a:t>Operational Context</a:t>
            </a:r>
          </a:p>
        </p:txBody>
      </p:sp>
      <p:sp>
        <p:nvSpPr>
          <p:cNvPr id="9" name="Rectangle 8"/>
          <p:cNvSpPr/>
          <p:nvPr/>
        </p:nvSpPr>
        <p:spPr>
          <a:xfrm>
            <a:off x="804672"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03120"/>
            <a:ext cx="2962656" cy="493776"/>
          </a:xfrm>
          <a:prstGeom prst="rect">
            <a:avLst/>
          </a:prstGeom>
          <a:noFill/>
        </p:spPr>
        <p:txBody>
          <a:bodyPr wrap="square" lIns="0" rIns="0" tIns="0" bIns="0">
            <a:spAutoFit/>
          </a:bodyPr>
          <a:lstStyle/>
          <a:p>
            <a:pPr algn="l"/>
            <a:r>
              <a:rPr sz="950" b="0" i="0">
                <a:solidFill>
                  <a:srgbClr val="B0A0D0"/>
                </a:solidFill>
              </a:rPr>
              <a:t>- The 2.4 GHz ISM band is heavily contested. Wi-Fi, Bluetooth, Zigbee, and cheap RF jammers all share the same spectrum.</a:t>
            </a:r>
          </a:p>
        </p:txBody>
      </p:sp>
      <p:sp>
        <p:nvSpPr>
          <p:cNvPr id="11" name="TextBox 10"/>
          <p:cNvSpPr txBox="1"/>
          <p:nvPr/>
        </p:nvSpPr>
        <p:spPr>
          <a:xfrm>
            <a:off x="804672" y="2697480"/>
            <a:ext cx="2962656" cy="493776"/>
          </a:xfrm>
          <a:prstGeom prst="rect">
            <a:avLst/>
          </a:prstGeom>
          <a:noFill/>
        </p:spPr>
        <p:txBody>
          <a:bodyPr wrap="square" lIns="0" rIns="0" tIns="0" bIns="0">
            <a:spAutoFit/>
          </a:bodyPr>
          <a:lstStyle/>
          <a:p>
            <a:pPr algn="l"/>
            <a:r>
              <a:rPr sz="950" b="0" i="0">
                <a:solidFill>
                  <a:srgbClr val="B0A0D0"/>
                </a:solidFill>
              </a:rPr>
              <a:t>- In hospital emergency triage (Code Blue alerts, ECG/SpO2 vitals), dropping even a single transmission can be fatal.</a:t>
            </a:r>
          </a:p>
        </p:txBody>
      </p:sp>
      <p:sp>
        <p:nvSpPr>
          <p:cNvPr id="12" name="TextBox 11"/>
          <p:cNvSpPr txBox="1"/>
          <p:nvPr/>
        </p:nvSpPr>
        <p:spPr>
          <a:xfrm>
            <a:off x="804672" y="3291840"/>
            <a:ext cx="2962656" cy="493776"/>
          </a:xfrm>
          <a:prstGeom prst="rect">
            <a:avLst/>
          </a:prstGeom>
          <a:noFill/>
        </p:spPr>
        <p:txBody>
          <a:bodyPr wrap="square" lIns="0" rIns="0" tIns="0" bIns="0">
            <a:spAutoFit/>
          </a:bodyPr>
          <a:lstStyle/>
          <a:p>
            <a:pPr algn="l"/>
            <a:r>
              <a:rPr sz="950" b="0" i="0">
                <a:solidFill>
                  <a:srgbClr val="B0A0D0"/>
                </a:solidFill>
              </a:rPr>
              <a:t>- A $10 software-defined radio can blind any standard single-channel wireless link indefinitely.</a:t>
            </a:r>
          </a:p>
        </p:txBody>
      </p:sp>
      <p:sp>
        <p:nvSpPr>
          <p:cNvPr id="13" name="TextBox 12"/>
          <p:cNvSpPr txBox="1"/>
          <p:nvPr/>
        </p:nvSpPr>
        <p:spPr>
          <a:xfrm>
            <a:off x="804672" y="3886200"/>
            <a:ext cx="2962656" cy="493776"/>
          </a:xfrm>
          <a:prstGeom prst="rect">
            <a:avLst/>
          </a:prstGeom>
          <a:noFill/>
        </p:spPr>
        <p:txBody>
          <a:bodyPr wrap="square" lIns="0" rIns="0" tIns="0" bIns="0">
            <a:spAutoFit/>
          </a:bodyPr>
          <a:lstStyle/>
          <a:p>
            <a:pPr algn="l"/>
            <a:r>
              <a:rPr sz="950" b="0" i="0">
                <a:solidFill>
                  <a:srgbClr val="B0A0D0"/>
                </a:solidFill>
              </a:rPr>
              <a:t>- Hospital elevators and concrete floors create sudden RF dead-zones where doctors lose reception mid-transmission.</a:t>
            </a:r>
          </a:p>
        </p:txBody>
      </p:sp>
      <p:sp>
        <p:nvSpPr>
          <p:cNvPr id="14" name="Rectangle 13"/>
          <p:cNvSpPr/>
          <p:nvPr/>
        </p:nvSpPr>
        <p:spPr>
          <a:xfrm>
            <a:off x="4178808"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43400" y="1737360"/>
            <a:ext cx="2962656" cy="237744"/>
          </a:xfrm>
          <a:prstGeom prst="rect">
            <a:avLst/>
          </a:prstGeom>
          <a:noFill/>
        </p:spPr>
        <p:txBody>
          <a:bodyPr wrap="square" lIns="0" rIns="0" tIns="0" bIns="0">
            <a:spAutoFit/>
          </a:bodyPr>
          <a:lstStyle/>
          <a:p>
            <a:pPr algn="l"/>
            <a:r>
              <a:rPr sz="1100" b="1" i="0">
                <a:solidFill>
                  <a:srgbClr val="FBBF24"/>
                </a:solidFill>
              </a:rPr>
              <a:t>Core Engineering Problem</a:t>
            </a:r>
          </a:p>
        </p:txBody>
      </p:sp>
      <p:sp>
        <p:nvSpPr>
          <p:cNvPr id="16" name="Rectangle 15"/>
          <p:cNvSpPr/>
          <p:nvPr/>
        </p:nvSpPr>
        <p:spPr>
          <a:xfrm>
            <a:off x="4343400"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2103120"/>
            <a:ext cx="2962656" cy="493776"/>
          </a:xfrm>
          <a:prstGeom prst="rect">
            <a:avLst/>
          </a:prstGeom>
          <a:noFill/>
        </p:spPr>
        <p:txBody>
          <a:bodyPr wrap="square" lIns="0" rIns="0" tIns="0" bIns="0">
            <a:spAutoFit/>
          </a:bodyPr>
          <a:lstStyle/>
          <a:p>
            <a:pPr algn="l"/>
            <a:r>
              <a:rPr sz="950" b="0" i="0">
                <a:solidFill>
                  <a:srgbClr val="B0A0D0"/>
                </a:solidFill>
              </a:rPr>
              <a:t>- Existing protocols lose clock synchronisation when their control channels are jammed, partitioning the entire network.</a:t>
            </a:r>
          </a:p>
        </p:txBody>
      </p:sp>
      <p:sp>
        <p:nvSpPr>
          <p:cNvPr id="18" name="TextBox 17"/>
          <p:cNvSpPr txBox="1"/>
          <p:nvPr/>
        </p:nvSpPr>
        <p:spPr>
          <a:xfrm>
            <a:off x="4343400" y="2697480"/>
            <a:ext cx="2962656" cy="493776"/>
          </a:xfrm>
          <a:prstGeom prst="rect">
            <a:avLst/>
          </a:prstGeom>
          <a:noFill/>
        </p:spPr>
        <p:txBody>
          <a:bodyPr wrap="square" lIns="0" rIns="0" tIns="0" bIns="0">
            <a:spAutoFit/>
          </a:bodyPr>
          <a:lstStyle/>
          <a:p>
            <a:pPr algn="l"/>
            <a:r>
              <a:rPr sz="950" b="0" i="0">
                <a:solidFill>
                  <a:srgbClr val="B0A0D0"/>
                </a:solidFill>
              </a:rPr>
              <a:t>- Conventional mesh routers use drop-tail queuing: un-ACKed packets are discarded immediately, causing irreversible data loss.</a:t>
            </a:r>
          </a:p>
        </p:txBody>
      </p:sp>
      <p:sp>
        <p:nvSpPr>
          <p:cNvPr id="19" name="TextBox 18"/>
          <p:cNvSpPr txBox="1"/>
          <p:nvPr/>
        </p:nvSpPr>
        <p:spPr>
          <a:xfrm>
            <a:off x="4343400" y="3291840"/>
            <a:ext cx="2962656" cy="493776"/>
          </a:xfrm>
          <a:prstGeom prst="rect">
            <a:avLst/>
          </a:prstGeom>
          <a:noFill/>
        </p:spPr>
        <p:txBody>
          <a:bodyPr wrap="square" lIns="0" rIns="0" tIns="0" bIns="0">
            <a:spAutoFit/>
          </a:bodyPr>
          <a:lstStyle/>
          <a:p>
            <a:pPr algn="l"/>
            <a:r>
              <a:rPr sz="950" b="0" i="0">
                <a:solidFill>
                  <a:srgbClr val="B0A0D0"/>
                </a:solidFill>
              </a:rPr>
              <a:t>- Re-negotiating frequency blacklists over RF adds 100-300 ms latency and the negotiation itself can be jammed.</a:t>
            </a:r>
          </a:p>
        </p:txBody>
      </p:sp>
      <p:sp>
        <p:nvSpPr>
          <p:cNvPr id="20" name="TextBox 19"/>
          <p:cNvSpPr txBox="1"/>
          <p:nvPr/>
        </p:nvSpPr>
        <p:spPr>
          <a:xfrm>
            <a:off x="4343400" y="3886200"/>
            <a:ext cx="2962656" cy="493776"/>
          </a:xfrm>
          <a:prstGeom prst="rect">
            <a:avLst/>
          </a:prstGeom>
          <a:noFill/>
        </p:spPr>
        <p:txBody>
          <a:bodyPr wrap="square" lIns="0" rIns="0" tIns="0" bIns="0">
            <a:spAutoFit/>
          </a:bodyPr>
          <a:lstStyle/>
          <a:p>
            <a:pPr algn="l"/>
            <a:r>
              <a:rPr sz="950" b="0" i="0">
                <a:solidFill>
                  <a:srgbClr val="B0A0D0"/>
                </a:solidFill>
              </a:rPr>
              <a:t>- No existing commodity embedded system combines custody-transfer buffering with real-time cloud telemetry.</a:t>
            </a:r>
          </a:p>
        </p:txBody>
      </p:sp>
      <p:sp>
        <p:nvSpPr>
          <p:cNvPr id="21" name="Rectangle 20"/>
          <p:cNvSpPr/>
          <p:nvPr/>
        </p:nvSpPr>
        <p:spPr>
          <a:xfrm>
            <a:off x="7717536"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82128" y="1737360"/>
            <a:ext cx="2962656" cy="237744"/>
          </a:xfrm>
          <a:prstGeom prst="rect">
            <a:avLst/>
          </a:prstGeom>
          <a:noFill/>
        </p:spPr>
        <p:txBody>
          <a:bodyPr wrap="square" lIns="0" rIns="0" tIns="0" bIns="0">
            <a:spAutoFit/>
          </a:bodyPr>
          <a:lstStyle/>
          <a:p>
            <a:pPr algn="l"/>
            <a:r>
              <a:rPr sz="1100" b="1" i="0">
                <a:solidFill>
                  <a:srgbClr val="34D399"/>
                </a:solidFill>
              </a:rPr>
              <a:t>Our Design Targets</a:t>
            </a:r>
          </a:p>
        </p:txBody>
      </p:sp>
      <p:sp>
        <p:nvSpPr>
          <p:cNvPr id="23" name="Rectangle 22"/>
          <p:cNvSpPr/>
          <p:nvPr/>
        </p:nvSpPr>
        <p:spPr>
          <a:xfrm>
            <a:off x="7882128"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82128" y="2103120"/>
            <a:ext cx="2962656" cy="182880"/>
          </a:xfrm>
          <a:prstGeom prst="rect">
            <a:avLst/>
          </a:prstGeom>
          <a:noFill/>
        </p:spPr>
        <p:txBody>
          <a:bodyPr wrap="square" lIns="0" rIns="0" tIns="0" bIns="0">
            <a:spAutoFit/>
          </a:bodyPr>
          <a:lstStyle/>
          <a:p>
            <a:pPr algn="l"/>
            <a:r>
              <a:rPr sz="950" b="1" i="0">
                <a:solidFill>
                  <a:srgbClr val="FFFFFF"/>
                </a:solidFill>
              </a:rPr>
              <a:t>- 25 ms slotted FHSS</a:t>
            </a:r>
          </a:p>
        </p:txBody>
      </p:sp>
      <p:sp>
        <p:nvSpPr>
          <p:cNvPr id="25" name="TextBox 24"/>
          <p:cNvSpPr txBox="1"/>
          <p:nvPr/>
        </p:nvSpPr>
        <p:spPr>
          <a:xfrm>
            <a:off x="7973568" y="2304288"/>
            <a:ext cx="2871216" cy="310896"/>
          </a:xfrm>
          <a:prstGeom prst="rect">
            <a:avLst/>
          </a:prstGeom>
          <a:noFill/>
        </p:spPr>
        <p:txBody>
          <a:bodyPr wrap="square" lIns="0" rIns="0" tIns="0" bIns="0">
            <a:spAutoFit/>
          </a:bodyPr>
          <a:lstStyle/>
          <a:p>
            <a:pPr algn="l"/>
            <a:r>
              <a:rPr sz="900" b="0" i="0">
                <a:solidFill>
                  <a:srgbClr val="B0A0D0"/>
                </a:solidFill>
              </a:rPr>
              <a:t>Deterministic XORShift hops across 124 channels with &lt;10 us jitter on FreeRTOS dual-core.</a:t>
            </a:r>
          </a:p>
        </p:txBody>
      </p:sp>
      <p:sp>
        <p:nvSpPr>
          <p:cNvPr id="26" name="TextBox 25"/>
          <p:cNvSpPr txBox="1"/>
          <p:nvPr/>
        </p:nvSpPr>
        <p:spPr>
          <a:xfrm>
            <a:off x="7882128" y="2688336"/>
            <a:ext cx="2962656" cy="182880"/>
          </a:xfrm>
          <a:prstGeom prst="rect">
            <a:avLst/>
          </a:prstGeom>
          <a:noFill/>
        </p:spPr>
        <p:txBody>
          <a:bodyPr wrap="square" lIns="0" rIns="0" tIns="0" bIns="0">
            <a:spAutoFit/>
          </a:bodyPr>
          <a:lstStyle/>
          <a:p>
            <a:pPr algn="l"/>
            <a:r>
              <a:rPr sz="950" b="1" i="0">
                <a:solidFill>
                  <a:srgbClr val="FFFFFF"/>
                </a:solidFill>
              </a:rPr>
              <a:t>- Zero-loss buffering</a:t>
            </a:r>
          </a:p>
        </p:txBody>
      </p:sp>
      <p:sp>
        <p:nvSpPr>
          <p:cNvPr id="27" name="TextBox 26"/>
          <p:cNvSpPr txBox="1"/>
          <p:nvPr/>
        </p:nvSpPr>
        <p:spPr>
          <a:xfrm>
            <a:off x="7973568" y="2889504"/>
            <a:ext cx="2871216" cy="310896"/>
          </a:xfrm>
          <a:prstGeom prst="rect">
            <a:avLst/>
          </a:prstGeom>
          <a:noFill/>
        </p:spPr>
        <p:txBody>
          <a:bodyPr wrap="square" lIns="0" rIns="0" tIns="0" bIns="0">
            <a:spAutoFit/>
          </a:bodyPr>
          <a:lstStyle/>
          <a:p>
            <a:pPr algn="l"/>
            <a:r>
              <a:rPr sz="900" b="0" i="0">
                <a:solidFill>
                  <a:srgbClr val="B0A0D0"/>
                </a:solidFill>
              </a:rPr>
              <a:t>SRAM + SPIFFS ring queue stores all packets during dead zones and drains on reconnect.</a:t>
            </a:r>
          </a:p>
        </p:txBody>
      </p:sp>
      <p:sp>
        <p:nvSpPr>
          <p:cNvPr id="28" name="TextBox 27"/>
          <p:cNvSpPr txBox="1"/>
          <p:nvPr/>
        </p:nvSpPr>
        <p:spPr>
          <a:xfrm>
            <a:off x="7882128" y="3273552"/>
            <a:ext cx="2962656" cy="182880"/>
          </a:xfrm>
          <a:prstGeom prst="rect">
            <a:avLst/>
          </a:prstGeom>
          <a:noFill/>
        </p:spPr>
        <p:txBody>
          <a:bodyPr wrap="square" lIns="0" rIns="0" tIns="0" bIns="0">
            <a:spAutoFit/>
          </a:bodyPr>
          <a:lstStyle/>
          <a:p>
            <a:pPr algn="l"/>
            <a:r>
              <a:rPr sz="950" b="1" i="0">
                <a:solidFill>
                  <a:srgbClr val="FFFFFF"/>
                </a:solidFill>
              </a:rPr>
              <a:t>- Zero-negotiation blacklisting</a:t>
            </a:r>
          </a:p>
        </p:txBody>
      </p:sp>
      <p:sp>
        <p:nvSpPr>
          <p:cNvPr id="29" name="TextBox 28"/>
          <p:cNvSpPr txBox="1"/>
          <p:nvPr/>
        </p:nvSpPr>
        <p:spPr>
          <a:xfrm>
            <a:off x="7973568" y="3474720"/>
            <a:ext cx="2871216" cy="310896"/>
          </a:xfrm>
          <a:prstGeom prst="rect">
            <a:avLst/>
          </a:prstGeom>
          <a:noFill/>
        </p:spPr>
        <p:txBody>
          <a:bodyPr wrap="square" lIns="0" rIns="0" tIns="0" bIns="0">
            <a:spAutoFit/>
          </a:bodyPr>
          <a:lstStyle/>
          <a:p>
            <a:pPr algn="l"/>
            <a:r>
              <a:rPr sz="900" b="0" i="0">
                <a:solidFill>
                  <a:srgbClr val="B0A0D0"/>
                </a:solidFill>
              </a:rPr>
              <a:t>RPD carrier scan in quiet tail; 16-byte bitmap broadcast in SYNC beacon.</a:t>
            </a:r>
          </a:p>
        </p:txBody>
      </p:sp>
      <p:sp>
        <p:nvSpPr>
          <p:cNvPr id="30" name="TextBox 29"/>
          <p:cNvSpPr txBox="1"/>
          <p:nvPr/>
        </p:nvSpPr>
        <p:spPr>
          <a:xfrm>
            <a:off x="7882128" y="3858768"/>
            <a:ext cx="2962656" cy="182880"/>
          </a:xfrm>
          <a:prstGeom prst="rect">
            <a:avLst/>
          </a:prstGeom>
          <a:noFill/>
        </p:spPr>
        <p:txBody>
          <a:bodyPr wrap="square" lIns="0" rIns="0" tIns="0" bIns="0">
            <a:spAutoFit/>
          </a:bodyPr>
          <a:lstStyle/>
          <a:p>
            <a:pPr algn="l"/>
            <a:r>
              <a:rPr sz="950" b="1" i="0">
                <a:solidFill>
                  <a:srgbClr val="FFFFFF"/>
                </a:solidFill>
              </a:rPr>
              <a:t>- &lt; 500 ms sync recovery</a:t>
            </a:r>
          </a:p>
        </p:txBody>
      </p:sp>
      <p:sp>
        <p:nvSpPr>
          <p:cNvPr id="31" name="TextBox 30"/>
          <p:cNvSpPr txBox="1"/>
          <p:nvPr/>
        </p:nvSpPr>
        <p:spPr>
          <a:xfrm>
            <a:off x="7973568" y="4059936"/>
            <a:ext cx="2871216" cy="310896"/>
          </a:xfrm>
          <a:prstGeom prst="rect">
            <a:avLst/>
          </a:prstGeom>
          <a:noFill/>
        </p:spPr>
        <p:txBody>
          <a:bodyPr wrap="square" lIns="0" rIns="0" tIns="0" bIns="0">
            <a:spAutoFit/>
          </a:bodyPr>
          <a:lstStyle/>
          <a:p>
            <a:pPr algn="l"/>
            <a:r>
              <a:rPr sz="900" b="0" i="0">
                <a:solidFill>
                  <a:srgbClr val="B0A0D0"/>
                </a:solidFill>
              </a:rPr>
              <a:t>Flywheel clock sustains lockstep for 40 hops without a beacon.</a:t>
            </a:r>
          </a:p>
        </p:txBody>
      </p:sp>
      <p:sp>
        <p:nvSpPr>
          <p:cNvPr id="32" name="Rectangle 31"/>
          <p:cNvSpPr/>
          <p:nvPr/>
        </p:nvSpPr>
        <p:spPr>
          <a:xfrm>
            <a:off x="640080"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961888"/>
            <a:ext cx="2635758" cy="320040"/>
          </a:xfrm>
          <a:prstGeom prst="rect">
            <a:avLst/>
          </a:prstGeom>
          <a:noFill/>
        </p:spPr>
        <p:txBody>
          <a:bodyPr wrap="square" lIns="0" rIns="0" tIns="0" bIns="0">
            <a:spAutoFit/>
          </a:bodyPr>
          <a:lstStyle/>
          <a:p>
            <a:pPr algn="ctr"/>
            <a:r>
              <a:rPr sz="1800" b="1" i="0">
                <a:solidFill>
                  <a:srgbClr val="38BDF8"/>
                </a:solidFill>
              </a:rPr>
              <a:t>25 ms</a:t>
            </a:r>
          </a:p>
        </p:txBody>
      </p:sp>
      <p:sp>
        <p:nvSpPr>
          <p:cNvPr id="34" name="TextBox 33"/>
          <p:cNvSpPr txBox="1"/>
          <p:nvPr/>
        </p:nvSpPr>
        <p:spPr>
          <a:xfrm>
            <a:off x="640080" y="6291072"/>
            <a:ext cx="2635758" cy="256032"/>
          </a:xfrm>
          <a:prstGeom prst="rect">
            <a:avLst/>
          </a:prstGeom>
          <a:noFill/>
        </p:spPr>
        <p:txBody>
          <a:bodyPr wrap="square" lIns="0" rIns="0" tIns="0" bIns="0">
            <a:spAutoFit/>
          </a:bodyPr>
          <a:lstStyle/>
          <a:p>
            <a:pPr algn="ctr"/>
            <a:r>
              <a:rPr sz="900" b="0" i="0">
                <a:solidFill>
                  <a:srgbClr val="B0A0D0"/>
                </a:solidFill>
              </a:rPr>
              <a:t>Slotted dwell time</a:t>
            </a:r>
          </a:p>
        </p:txBody>
      </p:sp>
      <p:sp>
        <p:nvSpPr>
          <p:cNvPr id="35" name="Rectangle 34"/>
          <p:cNvSpPr/>
          <p:nvPr/>
        </p:nvSpPr>
        <p:spPr>
          <a:xfrm>
            <a:off x="3367278"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7278" y="5961888"/>
            <a:ext cx="2635758" cy="320040"/>
          </a:xfrm>
          <a:prstGeom prst="rect">
            <a:avLst/>
          </a:prstGeom>
          <a:noFill/>
        </p:spPr>
        <p:txBody>
          <a:bodyPr wrap="square" lIns="0" rIns="0" tIns="0" bIns="0">
            <a:spAutoFit/>
          </a:bodyPr>
          <a:lstStyle/>
          <a:p>
            <a:pPr algn="ctr"/>
            <a:r>
              <a:rPr sz="1800" b="1" i="0">
                <a:solidFill>
                  <a:srgbClr val="A060FF"/>
                </a:solidFill>
              </a:rPr>
              <a:t>124 ch</a:t>
            </a:r>
          </a:p>
        </p:txBody>
      </p:sp>
      <p:sp>
        <p:nvSpPr>
          <p:cNvPr id="37" name="TextBox 36"/>
          <p:cNvSpPr txBox="1"/>
          <p:nvPr/>
        </p:nvSpPr>
        <p:spPr>
          <a:xfrm>
            <a:off x="3367278" y="6291072"/>
            <a:ext cx="2635758" cy="256032"/>
          </a:xfrm>
          <a:prstGeom prst="rect">
            <a:avLst/>
          </a:prstGeom>
          <a:noFill/>
        </p:spPr>
        <p:txBody>
          <a:bodyPr wrap="square" lIns="0" rIns="0" tIns="0" bIns="0">
            <a:spAutoFit/>
          </a:bodyPr>
          <a:lstStyle/>
          <a:p>
            <a:pPr algn="ctr"/>
            <a:r>
              <a:rPr sz="900" b="0" i="0">
                <a:solidFill>
                  <a:srgbClr val="B0A0D0"/>
                </a:solidFill>
              </a:rPr>
              <a:t>RF spectrum span</a:t>
            </a:r>
          </a:p>
        </p:txBody>
      </p:sp>
      <p:sp>
        <p:nvSpPr>
          <p:cNvPr id="38" name="Rectangle 37"/>
          <p:cNvSpPr/>
          <p:nvPr/>
        </p:nvSpPr>
        <p:spPr>
          <a:xfrm>
            <a:off x="6094476"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94476" y="5961888"/>
            <a:ext cx="2635758" cy="320040"/>
          </a:xfrm>
          <a:prstGeom prst="rect">
            <a:avLst/>
          </a:prstGeom>
          <a:noFill/>
        </p:spPr>
        <p:txBody>
          <a:bodyPr wrap="square" lIns="0" rIns="0" tIns="0" bIns="0">
            <a:spAutoFit/>
          </a:bodyPr>
          <a:lstStyle/>
          <a:p>
            <a:pPr algn="ctr"/>
            <a:r>
              <a:rPr sz="1800" b="1" i="0">
                <a:solidFill>
                  <a:srgbClr val="34D399"/>
                </a:solidFill>
              </a:rPr>
              <a:t>0.0 %</a:t>
            </a:r>
          </a:p>
        </p:txBody>
      </p:sp>
      <p:sp>
        <p:nvSpPr>
          <p:cNvPr id="40" name="TextBox 39"/>
          <p:cNvSpPr txBox="1"/>
          <p:nvPr/>
        </p:nvSpPr>
        <p:spPr>
          <a:xfrm>
            <a:off x="6094476" y="6291072"/>
            <a:ext cx="2635758" cy="256032"/>
          </a:xfrm>
          <a:prstGeom prst="rect">
            <a:avLst/>
          </a:prstGeom>
          <a:noFill/>
        </p:spPr>
        <p:txBody>
          <a:bodyPr wrap="square" lIns="0" rIns="0" tIns="0" bIns="0">
            <a:spAutoFit/>
          </a:bodyPr>
          <a:lstStyle/>
          <a:p>
            <a:pPr algn="ctr"/>
            <a:r>
              <a:rPr sz="900" b="0" i="0">
                <a:solidFill>
                  <a:srgbClr val="B0A0D0"/>
                </a:solidFill>
              </a:rPr>
              <a:t>Dead-zone packet loss</a:t>
            </a:r>
          </a:p>
        </p:txBody>
      </p:sp>
      <p:sp>
        <p:nvSpPr>
          <p:cNvPr id="41" name="Rectangle 40"/>
          <p:cNvSpPr/>
          <p:nvPr/>
        </p:nvSpPr>
        <p:spPr>
          <a:xfrm>
            <a:off x="8821674"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21674" y="5961888"/>
            <a:ext cx="2635758" cy="320040"/>
          </a:xfrm>
          <a:prstGeom prst="rect">
            <a:avLst/>
          </a:prstGeom>
          <a:noFill/>
        </p:spPr>
        <p:txBody>
          <a:bodyPr wrap="square" lIns="0" rIns="0" tIns="0" bIns="0">
            <a:spAutoFit/>
          </a:bodyPr>
          <a:lstStyle/>
          <a:p>
            <a:pPr algn="ctr"/>
            <a:r>
              <a:rPr sz="1800" b="1" i="0">
                <a:solidFill>
                  <a:srgbClr val="FBBF24"/>
                </a:solidFill>
              </a:rPr>
              <a:t>&lt; 500 ms</a:t>
            </a:r>
          </a:p>
        </p:txBody>
      </p:sp>
      <p:sp>
        <p:nvSpPr>
          <p:cNvPr id="43" name="TextBox 42"/>
          <p:cNvSpPr txBox="1"/>
          <p:nvPr/>
        </p:nvSpPr>
        <p:spPr>
          <a:xfrm>
            <a:off x="8821674" y="6291072"/>
            <a:ext cx="2635758" cy="256032"/>
          </a:xfrm>
          <a:prstGeom prst="rect">
            <a:avLst/>
          </a:prstGeom>
          <a:noFill/>
        </p:spPr>
        <p:txBody>
          <a:bodyPr wrap="square" lIns="0" rIns="0" tIns="0" bIns="0">
            <a:spAutoFit/>
          </a:bodyPr>
          <a:lstStyle/>
          <a:p>
            <a:pPr algn="ctr"/>
            <a:r>
              <a:rPr sz="900" b="0" i="0">
                <a:solidFill>
                  <a:srgbClr val="B0A0D0"/>
                </a:solidFill>
              </a:rPr>
              <a:t>Sync lock acquisition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THE CORE CONCEPT  |  WHY DO WE HOP?  |  IN SIMPLE TERMS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Dodging Interference by Never Standing Still</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How frequency hopping defeats jammers by constantly changing channels</a:t>
            </a:r>
          </a:p>
        </p:txBody>
      </p:sp>
      <p:sp>
        <p:nvSpPr>
          <p:cNvPr id="7" name="Rectangle 6"/>
          <p:cNvSpPr/>
          <p:nvPr/>
        </p:nvSpPr>
        <p:spPr>
          <a:xfrm>
            <a:off x="640080"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37360"/>
            <a:ext cx="2962656" cy="237744"/>
          </a:xfrm>
          <a:prstGeom prst="rect">
            <a:avLst/>
          </a:prstGeom>
          <a:noFill/>
        </p:spPr>
        <p:txBody>
          <a:bodyPr wrap="square" lIns="0" rIns="0" tIns="0" bIns="0">
            <a:spAutoFit/>
          </a:bodyPr>
          <a:lstStyle/>
          <a:p>
            <a:pPr algn="l"/>
            <a:r>
              <a:rPr sz="1100" b="1" i="0">
                <a:solidFill>
                  <a:srgbClr val="F87171"/>
                </a:solidFill>
              </a:rPr>
              <a:t>1. The Problem with Staying Still</a:t>
            </a:r>
          </a:p>
        </p:txBody>
      </p:sp>
      <p:sp>
        <p:nvSpPr>
          <p:cNvPr id="9" name="Rectangle 8"/>
          <p:cNvSpPr/>
          <p:nvPr/>
        </p:nvSpPr>
        <p:spPr>
          <a:xfrm>
            <a:off x="804672"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48840"/>
            <a:ext cx="2962656" cy="1828800"/>
          </a:xfrm>
          <a:prstGeom prst="rect">
            <a:avLst/>
          </a:prstGeom>
          <a:noFill/>
        </p:spPr>
        <p:txBody>
          <a:bodyPr wrap="square" lIns="0" rIns="0" tIns="0" bIns="0">
            <a:spAutoFit/>
          </a:bodyPr>
          <a:lstStyle/>
          <a:p>
            <a:pPr algn="l"/>
            <a:r>
              <a:rPr sz="950" b="0" i="0">
                <a:solidFill>
                  <a:srgbClr val="B0A0D0"/>
                </a:solidFill>
              </a:rPr>
              <a:t>Standard Wi-Fi and Bluetooth stay on a single radio channel to communicate.
Because they never move, an attacker (jammer) only has to blast loud radio noise on that one specific channel to completely block the signal.
It's like trying to have a conversation while someone blows an air horn directly in your ear.</a:t>
            </a:r>
          </a:p>
        </p:txBody>
      </p:sp>
      <p:sp>
        <p:nvSpPr>
          <p:cNvPr id="11" name="Rectangle 10"/>
          <p:cNvSpPr/>
          <p:nvPr/>
        </p:nvSpPr>
        <p:spPr>
          <a:xfrm>
            <a:off x="4178808"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737360"/>
            <a:ext cx="2962656" cy="237744"/>
          </a:xfrm>
          <a:prstGeom prst="rect">
            <a:avLst/>
          </a:prstGeom>
          <a:noFill/>
        </p:spPr>
        <p:txBody>
          <a:bodyPr wrap="square" lIns="0" rIns="0" tIns="0" bIns="0">
            <a:spAutoFit/>
          </a:bodyPr>
          <a:lstStyle/>
          <a:p>
            <a:pPr algn="l"/>
            <a:r>
              <a:rPr sz="1100" b="1" i="0">
                <a:solidFill>
                  <a:srgbClr val="38BDF8"/>
                </a:solidFill>
              </a:rPr>
              <a:t>2. The Solution: Frequency Hopping</a:t>
            </a:r>
          </a:p>
        </p:txBody>
      </p:sp>
      <p:sp>
        <p:nvSpPr>
          <p:cNvPr id="13" name="Rectangle 12"/>
          <p:cNvSpPr/>
          <p:nvPr/>
        </p:nvSpPr>
        <p:spPr>
          <a:xfrm>
            <a:off x="4343400"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148840"/>
            <a:ext cx="2962656" cy="1828800"/>
          </a:xfrm>
          <a:prstGeom prst="rect">
            <a:avLst/>
          </a:prstGeom>
          <a:noFill/>
        </p:spPr>
        <p:txBody>
          <a:bodyPr wrap="square" lIns="0" rIns="0" tIns="0" bIns="0">
            <a:spAutoFit/>
          </a:bodyPr>
          <a:lstStyle/>
          <a:p>
            <a:pPr algn="l"/>
            <a:r>
              <a:rPr sz="950" b="0" i="0">
                <a:solidFill>
                  <a:srgbClr val="B0A0D0"/>
                </a:solidFill>
              </a:rPr>
              <a:t>Instead of staying still, HopperNet changes its radio channel 40 times every second.
We "hop" across 124 different frequencies in a fast, random pattern.
Both the sender and receiver know the secret pattern, so they hop together in perfect sync.</a:t>
            </a:r>
          </a:p>
        </p:txBody>
      </p:sp>
      <p:sp>
        <p:nvSpPr>
          <p:cNvPr id="15" name="Rectangle 14"/>
          <p:cNvSpPr/>
          <p:nvPr/>
        </p:nvSpPr>
        <p:spPr>
          <a:xfrm>
            <a:off x="7717536"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82128" y="1737360"/>
            <a:ext cx="2962656" cy="237744"/>
          </a:xfrm>
          <a:prstGeom prst="rect">
            <a:avLst/>
          </a:prstGeom>
          <a:noFill/>
        </p:spPr>
        <p:txBody>
          <a:bodyPr wrap="square" lIns="0" rIns="0" tIns="0" bIns="0">
            <a:spAutoFit/>
          </a:bodyPr>
          <a:lstStyle/>
          <a:p>
            <a:pPr algn="l"/>
            <a:r>
              <a:rPr sz="1100" b="1" i="0">
                <a:solidFill>
                  <a:srgbClr val="34D399"/>
                </a:solidFill>
              </a:rPr>
              <a:t>3. The Result: Jammer Resilience</a:t>
            </a:r>
          </a:p>
        </p:txBody>
      </p:sp>
      <p:sp>
        <p:nvSpPr>
          <p:cNvPr id="17" name="Rectangle 16"/>
          <p:cNvSpPr/>
          <p:nvPr/>
        </p:nvSpPr>
        <p:spPr>
          <a:xfrm>
            <a:off x="7882128"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2148840"/>
            <a:ext cx="2962656" cy="1828800"/>
          </a:xfrm>
          <a:prstGeom prst="rect">
            <a:avLst/>
          </a:prstGeom>
          <a:noFill/>
        </p:spPr>
        <p:txBody>
          <a:bodyPr wrap="square" lIns="0" rIns="0" tIns="0" bIns="0">
            <a:spAutoFit/>
          </a:bodyPr>
          <a:lstStyle/>
          <a:p>
            <a:pPr algn="l"/>
            <a:r>
              <a:rPr sz="950" b="0" i="0">
                <a:solidFill>
                  <a:srgbClr val="B0A0D0"/>
                </a:solidFill>
              </a:rPr>
              <a:t>If a jammer tries to block us, they might hit one of our channels.
But we only lose a tiny fraction of a second of data. Before the jammer can even figure out where we went, we have already hopped to a new, clear channel.
It makes our network like a moving target in the dark—impossible for the jammer to hit.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2  |  LITERATURE SURVEY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Academic Foundations: 100+ Peer-Reviewed Papers Surveyed</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IEEE, ACM, Elsevier, and Springer publications across four foundational domains</a:t>
            </a:r>
          </a:p>
        </p:txBody>
      </p:sp>
      <p:sp>
        <p:nvSpPr>
          <p:cNvPr id="7" name="Rectangle 6"/>
          <p:cNvSpPr/>
          <p:nvPr/>
        </p:nvSpPr>
        <p:spPr>
          <a:xfrm>
            <a:off x="640080"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19456"/>
          </a:xfrm>
          <a:prstGeom prst="rect">
            <a:avLst/>
          </a:prstGeom>
          <a:noFill/>
        </p:spPr>
        <p:txBody>
          <a:bodyPr wrap="square" lIns="0" rIns="0" tIns="0" bIns="0">
            <a:spAutoFit/>
          </a:bodyPr>
          <a:lstStyle/>
          <a:p>
            <a:pPr algn="l"/>
            <a:r>
              <a:rPr sz="1000" b="1" i="0">
                <a:solidFill>
                  <a:srgbClr val="38BDF8"/>
                </a:solidFill>
              </a:rPr>
              <a:t>Pillar 1 -- FHSS &amp; Anti-Jamming PHY/MAC  (28 papers)</a:t>
            </a:r>
          </a:p>
        </p:txBody>
      </p:sp>
      <p:sp>
        <p:nvSpPr>
          <p:cNvPr id="9" name="Rectangle 8"/>
          <p:cNvSpPr/>
          <p:nvPr/>
        </p:nvSpPr>
        <p:spPr>
          <a:xfrm>
            <a:off x="804672"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1993392"/>
            <a:ext cx="4901184" cy="256032"/>
          </a:xfrm>
          <a:prstGeom prst="rect">
            <a:avLst/>
          </a:prstGeom>
          <a:noFill/>
        </p:spPr>
        <p:txBody>
          <a:bodyPr wrap="square" lIns="0" rIns="0" tIns="0" bIns="0">
            <a:spAutoFit/>
          </a:bodyPr>
          <a:lstStyle/>
          <a:p>
            <a:pPr algn="l"/>
            <a:r>
              <a:rPr sz="880" b="0" i="0">
                <a:solidFill>
                  <a:srgbClr val="B0A0D0"/>
                </a:solidFill>
              </a:rPr>
              <a:t>- Simon et al. -- Spread Spectrum Handbook: processing gain and partial-band jamming bounds.</a:t>
            </a:r>
          </a:p>
        </p:txBody>
      </p:sp>
      <p:sp>
        <p:nvSpPr>
          <p:cNvPr id="11" name="TextBox 10"/>
          <p:cNvSpPr txBox="1"/>
          <p:nvPr/>
        </p:nvSpPr>
        <p:spPr>
          <a:xfrm>
            <a:off x="841248" y="2304288"/>
            <a:ext cx="4901184" cy="256032"/>
          </a:xfrm>
          <a:prstGeom prst="rect">
            <a:avLst/>
          </a:prstGeom>
          <a:noFill/>
        </p:spPr>
        <p:txBody>
          <a:bodyPr wrap="square" lIns="0" rIns="0" tIns="0" bIns="0">
            <a:spAutoFit/>
          </a:bodyPr>
          <a:lstStyle/>
          <a:p>
            <a:pPr algn="l"/>
            <a:r>
              <a:rPr sz="880" b="0" i="0">
                <a:solidFill>
                  <a:srgbClr val="B0A0D0"/>
                </a:solidFill>
              </a:rPr>
              <a:t>- Torrieri -- Slow vs. fast FH derivations and BER under non-coherent FSK jamming.</a:t>
            </a:r>
          </a:p>
        </p:txBody>
      </p:sp>
      <p:sp>
        <p:nvSpPr>
          <p:cNvPr id="12" name="TextBox 11"/>
          <p:cNvSpPr txBox="1"/>
          <p:nvPr/>
        </p:nvSpPr>
        <p:spPr>
          <a:xfrm>
            <a:off x="841248" y="2615184"/>
            <a:ext cx="4901184" cy="256032"/>
          </a:xfrm>
          <a:prstGeom prst="rect">
            <a:avLst/>
          </a:prstGeom>
          <a:noFill/>
        </p:spPr>
        <p:txBody>
          <a:bodyPr wrap="square" lIns="0" rIns="0" tIns="0" bIns="0">
            <a:spAutoFit/>
          </a:bodyPr>
          <a:lstStyle/>
          <a:p>
            <a:pPr algn="l"/>
            <a:r>
              <a:rPr sz="880" b="0" i="0">
                <a:solidFill>
                  <a:srgbClr val="B0A0D0"/>
                </a:solidFill>
              </a:rPr>
              <a:t>- Strasser et al. (IEEE S&amp;P) -- Uncoordinated FHSS without pre-shared keys using birthday-paradox rendezvous.</a:t>
            </a:r>
          </a:p>
        </p:txBody>
      </p:sp>
      <p:sp>
        <p:nvSpPr>
          <p:cNvPr id="13" name="TextBox 12"/>
          <p:cNvSpPr txBox="1"/>
          <p:nvPr/>
        </p:nvSpPr>
        <p:spPr>
          <a:xfrm>
            <a:off x="841248" y="2926080"/>
            <a:ext cx="4901184" cy="256032"/>
          </a:xfrm>
          <a:prstGeom prst="rect">
            <a:avLst/>
          </a:prstGeom>
          <a:noFill/>
        </p:spPr>
        <p:txBody>
          <a:bodyPr wrap="square" lIns="0" rIns="0" tIns="0" bIns="0">
            <a:spAutoFit/>
          </a:bodyPr>
          <a:lstStyle/>
          <a:p>
            <a:pPr algn="l"/>
            <a:r>
              <a:rPr sz="880" b="0" i="0">
                <a:solidFill>
                  <a:srgbClr val="B0A0D0"/>
                </a:solidFill>
              </a:rPr>
              <a:t>- Wilhelm et al. (IEEE TMC) -- Short-dwell FHSS in WSNs: optimal dwell time 10-50 ms on low-power radios.</a:t>
            </a:r>
          </a:p>
        </p:txBody>
      </p:sp>
      <p:sp>
        <p:nvSpPr>
          <p:cNvPr id="14" name="TextBox 13"/>
          <p:cNvSpPr txBox="1"/>
          <p:nvPr/>
        </p:nvSpPr>
        <p:spPr>
          <a:xfrm>
            <a:off x="841248" y="3236976"/>
            <a:ext cx="4901184" cy="256032"/>
          </a:xfrm>
          <a:prstGeom prst="rect">
            <a:avLst/>
          </a:prstGeom>
          <a:noFill/>
        </p:spPr>
        <p:txBody>
          <a:bodyPr wrap="square" lIns="0" rIns="0" tIns="0" bIns="0">
            <a:spAutoFit/>
          </a:bodyPr>
          <a:lstStyle/>
          <a:p>
            <a:pPr algn="l"/>
            <a:r>
              <a:rPr sz="880" b="0" i="0">
                <a:solidFill>
                  <a:srgbClr val="B0A0D0"/>
                </a:solidFill>
              </a:rPr>
              <a:t>- Zou et al. (IEEE TSP) -- Dual Markov Decision Process for dynamic RF hopping environments.</a:t>
            </a:r>
          </a:p>
        </p:txBody>
      </p:sp>
      <p:sp>
        <p:nvSpPr>
          <p:cNvPr id="15" name="Rectangle 14"/>
          <p:cNvSpPr/>
          <p:nvPr/>
        </p:nvSpPr>
        <p:spPr>
          <a:xfrm>
            <a:off x="6153912"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8504" y="1664208"/>
            <a:ext cx="4974336" cy="219456"/>
          </a:xfrm>
          <a:prstGeom prst="rect">
            <a:avLst/>
          </a:prstGeom>
          <a:noFill/>
        </p:spPr>
        <p:txBody>
          <a:bodyPr wrap="square" lIns="0" rIns="0" tIns="0" bIns="0">
            <a:spAutoFit/>
          </a:bodyPr>
          <a:lstStyle/>
          <a:p>
            <a:pPr algn="l"/>
            <a:r>
              <a:rPr sz="1000" b="1" i="0">
                <a:solidFill>
                  <a:srgbClr val="A060FF"/>
                </a:solidFill>
              </a:rPr>
              <a:t>Pillar 2 -- Dynamic Blacklisting &amp; Cognitive MAC  (26 papers)</a:t>
            </a:r>
          </a:p>
        </p:txBody>
      </p:sp>
      <p:sp>
        <p:nvSpPr>
          <p:cNvPr id="17" name="Rectangle 16"/>
          <p:cNvSpPr/>
          <p:nvPr/>
        </p:nvSpPr>
        <p:spPr>
          <a:xfrm>
            <a:off x="6318504"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1993392"/>
            <a:ext cx="4901184" cy="256032"/>
          </a:xfrm>
          <a:prstGeom prst="rect">
            <a:avLst/>
          </a:prstGeom>
          <a:noFill/>
        </p:spPr>
        <p:txBody>
          <a:bodyPr wrap="square" lIns="0" rIns="0" tIns="0" bIns="0">
            <a:spAutoFit/>
          </a:bodyPr>
          <a:lstStyle/>
          <a:p>
            <a:pPr algn="l"/>
            <a:r>
              <a:rPr sz="880" b="0" i="0">
                <a:solidFill>
                  <a:srgbClr val="B0A0D0"/>
                </a:solidFill>
              </a:rPr>
              <a:t>- Urkowitz (Proc. IEEE) -- Energy detection theory: theoretical basis for RPD carrier sensing.</a:t>
            </a:r>
          </a:p>
        </p:txBody>
      </p:sp>
      <p:sp>
        <p:nvSpPr>
          <p:cNvPr id="19" name="TextBox 18"/>
          <p:cNvSpPr txBox="1"/>
          <p:nvPr/>
        </p:nvSpPr>
        <p:spPr>
          <a:xfrm>
            <a:off x="6355080" y="2304288"/>
            <a:ext cx="4901184" cy="256032"/>
          </a:xfrm>
          <a:prstGeom prst="rect">
            <a:avLst/>
          </a:prstGeom>
          <a:noFill/>
        </p:spPr>
        <p:txBody>
          <a:bodyPr wrap="square" lIns="0" rIns="0" tIns="0" bIns="0">
            <a:spAutoFit/>
          </a:bodyPr>
          <a:lstStyle/>
          <a:p>
            <a:pPr algn="l"/>
            <a:r>
              <a:rPr sz="880" b="0" i="0">
                <a:solidFill>
                  <a:srgbClr val="B0A0D0"/>
                </a:solidFill>
              </a:rPr>
              <a:t>- Cabric et al. (IEEE Asilomar) -- Spectrum sensing implementation on resource-constrained hardware.</a:t>
            </a:r>
          </a:p>
        </p:txBody>
      </p:sp>
      <p:sp>
        <p:nvSpPr>
          <p:cNvPr id="20" name="TextBox 19"/>
          <p:cNvSpPr txBox="1"/>
          <p:nvPr/>
        </p:nvSpPr>
        <p:spPr>
          <a:xfrm>
            <a:off x="6355080" y="2615184"/>
            <a:ext cx="4901184" cy="256032"/>
          </a:xfrm>
          <a:prstGeom prst="rect">
            <a:avLst/>
          </a:prstGeom>
          <a:noFill/>
        </p:spPr>
        <p:txBody>
          <a:bodyPr wrap="square" lIns="0" rIns="0" tIns="0" bIns="0">
            <a:spAutoFit/>
          </a:bodyPr>
          <a:lstStyle/>
          <a:p>
            <a:pPr algn="l"/>
            <a:r>
              <a:rPr sz="880" b="0" i="0">
                <a:solidFill>
                  <a:srgbClr val="B0A0D0"/>
                </a:solidFill>
              </a:rPr>
              <a:t>- Sha et al. (IEEE RTSS) -- Adaptive channel blacklisting for industrial TSCH: loss reduced from 40% to &lt;0.1%.</a:t>
            </a:r>
          </a:p>
        </p:txBody>
      </p:sp>
      <p:sp>
        <p:nvSpPr>
          <p:cNvPr id="21" name="TextBox 20"/>
          <p:cNvSpPr txBox="1"/>
          <p:nvPr/>
        </p:nvSpPr>
        <p:spPr>
          <a:xfrm>
            <a:off x="6355080" y="2926080"/>
            <a:ext cx="4901184" cy="256032"/>
          </a:xfrm>
          <a:prstGeom prst="rect">
            <a:avLst/>
          </a:prstGeom>
          <a:noFill/>
        </p:spPr>
        <p:txBody>
          <a:bodyPr wrap="square" lIns="0" rIns="0" tIns="0" bIns="0">
            <a:spAutoFit/>
          </a:bodyPr>
          <a:lstStyle/>
          <a:p>
            <a:pPr algn="l"/>
            <a:r>
              <a:rPr sz="880" b="0" i="0">
                <a:solidFill>
                  <a:srgbClr val="B0A0D0"/>
                </a:solidFill>
              </a:rPr>
              <a:t>- Ting et al. (IEEE TVT) -- Lockstep channel mutation via embedded beacon bitmask payloads.</a:t>
            </a:r>
          </a:p>
        </p:txBody>
      </p:sp>
      <p:sp>
        <p:nvSpPr>
          <p:cNvPr id="22" name="TextBox 21"/>
          <p:cNvSpPr txBox="1"/>
          <p:nvPr/>
        </p:nvSpPr>
        <p:spPr>
          <a:xfrm>
            <a:off x="6355080" y="3236976"/>
            <a:ext cx="4901184" cy="256032"/>
          </a:xfrm>
          <a:prstGeom prst="rect">
            <a:avLst/>
          </a:prstGeom>
          <a:noFill/>
        </p:spPr>
        <p:txBody>
          <a:bodyPr wrap="square" lIns="0" rIns="0" tIns="0" bIns="0">
            <a:spAutoFit/>
          </a:bodyPr>
          <a:lstStyle/>
          <a:p>
            <a:pPr algn="l"/>
            <a:r>
              <a:rPr sz="880" b="0" i="0">
                <a:solidFill>
                  <a:srgbClr val="B0A0D0"/>
                </a:solidFill>
              </a:rPr>
              <a:t>- Arjoune &amp; Kaabouch (IEEE Access) -- ROC curve comparison for binary hypothesis jammer detection.</a:t>
            </a:r>
          </a:p>
        </p:txBody>
      </p:sp>
      <p:sp>
        <p:nvSpPr>
          <p:cNvPr id="23" name="Rectangle 22"/>
          <p:cNvSpPr/>
          <p:nvPr/>
        </p:nvSpPr>
        <p:spPr>
          <a:xfrm>
            <a:off x="640080"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977640"/>
            <a:ext cx="4974336" cy="219456"/>
          </a:xfrm>
          <a:prstGeom prst="rect">
            <a:avLst/>
          </a:prstGeom>
          <a:noFill/>
        </p:spPr>
        <p:txBody>
          <a:bodyPr wrap="square" lIns="0" rIns="0" tIns="0" bIns="0">
            <a:spAutoFit/>
          </a:bodyPr>
          <a:lstStyle/>
          <a:p>
            <a:pPr algn="l"/>
            <a:r>
              <a:rPr sz="1000" b="1" i="0">
                <a:solidFill>
                  <a:srgbClr val="34D399"/>
                </a:solidFill>
              </a:rPr>
              <a:t>Pillar 3 -- Delay-Tolerant Networking &amp; Edge Buffering  (22 papers)</a:t>
            </a:r>
          </a:p>
        </p:txBody>
      </p:sp>
      <p:sp>
        <p:nvSpPr>
          <p:cNvPr id="25" name="Rectangle 24"/>
          <p:cNvSpPr/>
          <p:nvPr/>
        </p:nvSpPr>
        <p:spPr>
          <a:xfrm>
            <a:off x="804672"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306824"/>
            <a:ext cx="4901184" cy="256032"/>
          </a:xfrm>
          <a:prstGeom prst="rect">
            <a:avLst/>
          </a:prstGeom>
          <a:noFill/>
        </p:spPr>
        <p:txBody>
          <a:bodyPr wrap="square" lIns="0" rIns="0" tIns="0" bIns="0">
            <a:spAutoFit/>
          </a:bodyPr>
          <a:lstStyle/>
          <a:p>
            <a:pPr algn="l"/>
            <a:r>
              <a:rPr sz="880" b="0" i="0">
                <a:solidFill>
                  <a:srgbClr val="B0A0D0"/>
                </a:solidFill>
              </a:rPr>
              <a:t>- Cerf et al. (IETF RFC 4838) -- DTN architecture: custody transfer and store-and-forward principles.</a:t>
            </a:r>
          </a:p>
        </p:txBody>
      </p:sp>
      <p:sp>
        <p:nvSpPr>
          <p:cNvPr id="27" name="TextBox 26"/>
          <p:cNvSpPr txBox="1"/>
          <p:nvPr/>
        </p:nvSpPr>
        <p:spPr>
          <a:xfrm>
            <a:off x="841248" y="4617720"/>
            <a:ext cx="4901184" cy="256032"/>
          </a:xfrm>
          <a:prstGeom prst="rect">
            <a:avLst/>
          </a:prstGeom>
          <a:noFill/>
        </p:spPr>
        <p:txBody>
          <a:bodyPr wrap="square" lIns="0" rIns="0" tIns="0" bIns="0">
            <a:spAutoFit/>
          </a:bodyPr>
          <a:lstStyle/>
          <a:p>
            <a:pPr algn="l"/>
            <a:r>
              <a:rPr sz="880" b="0" i="0">
                <a:solidFill>
                  <a:srgbClr val="B0A0D0"/>
                </a:solidFill>
              </a:rPr>
              <a:t>- Fall (ACM SIGCOMM) -- DTN for challenged internets: formalising intermittent-contact relaying.</a:t>
            </a:r>
          </a:p>
        </p:txBody>
      </p:sp>
      <p:sp>
        <p:nvSpPr>
          <p:cNvPr id="28" name="TextBox 27"/>
          <p:cNvSpPr txBox="1"/>
          <p:nvPr/>
        </p:nvSpPr>
        <p:spPr>
          <a:xfrm>
            <a:off x="841248" y="4928616"/>
            <a:ext cx="4901184" cy="256032"/>
          </a:xfrm>
          <a:prstGeom prst="rect">
            <a:avLst/>
          </a:prstGeom>
          <a:noFill/>
        </p:spPr>
        <p:txBody>
          <a:bodyPr wrap="square" lIns="0" rIns="0" tIns="0" bIns="0">
            <a:spAutoFit/>
          </a:bodyPr>
          <a:lstStyle/>
          <a:p>
            <a:pPr algn="l"/>
            <a:r>
              <a:rPr sz="880" b="0" i="0">
                <a:solidFill>
                  <a:srgbClr val="B0A0D0"/>
                </a:solidFill>
              </a:rPr>
              <a:t>- Scott &amp; Burleigh (IETF RFC 5050) -- Bundle Protocol: hop-by-hop persistent memory custody transfer.</a:t>
            </a:r>
          </a:p>
        </p:txBody>
      </p:sp>
      <p:sp>
        <p:nvSpPr>
          <p:cNvPr id="29" name="TextBox 28"/>
          <p:cNvSpPr txBox="1"/>
          <p:nvPr/>
        </p:nvSpPr>
        <p:spPr>
          <a:xfrm>
            <a:off x="841248" y="5239512"/>
            <a:ext cx="4901184" cy="256032"/>
          </a:xfrm>
          <a:prstGeom prst="rect">
            <a:avLst/>
          </a:prstGeom>
          <a:noFill/>
        </p:spPr>
        <p:txBody>
          <a:bodyPr wrap="square" lIns="0" rIns="0" tIns="0" bIns="0">
            <a:spAutoFit/>
          </a:bodyPr>
          <a:lstStyle/>
          <a:p>
            <a:pPr algn="l"/>
            <a:r>
              <a:rPr sz="880" b="0" i="0">
                <a:solidFill>
                  <a:srgbClr val="B0A0D0"/>
                </a:solidFill>
              </a:rPr>
              <a:t>- Pashalidis et al. (IEEE IoT-J) -- Edge-assisted DTN for critical infrastructure telemetry.</a:t>
            </a:r>
          </a:p>
        </p:txBody>
      </p:sp>
      <p:sp>
        <p:nvSpPr>
          <p:cNvPr id="30" name="TextBox 29"/>
          <p:cNvSpPr txBox="1"/>
          <p:nvPr/>
        </p:nvSpPr>
        <p:spPr>
          <a:xfrm>
            <a:off x="841248" y="5550408"/>
            <a:ext cx="4901184" cy="256032"/>
          </a:xfrm>
          <a:prstGeom prst="rect">
            <a:avLst/>
          </a:prstGeom>
          <a:noFill/>
        </p:spPr>
        <p:txBody>
          <a:bodyPr wrap="square" lIns="0" rIns="0" tIns="0" bIns="0">
            <a:spAutoFit/>
          </a:bodyPr>
          <a:lstStyle/>
          <a:p>
            <a:pPr algn="l"/>
            <a:r>
              <a:rPr sz="880" b="0" i="0">
                <a:solidFill>
                  <a:srgbClr val="B0A0D0"/>
                </a:solidFill>
              </a:rPr>
              <a:t>- Al-Ameen et al. (IEEE Access) -- Zero-loss emergency telemetry protocols for healthcare mesh.</a:t>
            </a:r>
          </a:p>
        </p:txBody>
      </p:sp>
      <p:sp>
        <p:nvSpPr>
          <p:cNvPr id="31" name="Rectangle 30"/>
          <p:cNvSpPr/>
          <p:nvPr/>
        </p:nvSpPr>
        <p:spPr>
          <a:xfrm>
            <a:off x="6153912"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18504" y="3977640"/>
            <a:ext cx="4974336" cy="219456"/>
          </a:xfrm>
          <a:prstGeom prst="rect">
            <a:avLst/>
          </a:prstGeom>
          <a:noFill/>
        </p:spPr>
        <p:txBody>
          <a:bodyPr wrap="square" lIns="0" rIns="0" tIns="0" bIns="0">
            <a:spAutoFit/>
          </a:bodyPr>
          <a:lstStyle/>
          <a:p>
            <a:pPr algn="l"/>
            <a:r>
              <a:rPr sz="1000" b="1" i="0">
                <a:solidFill>
                  <a:srgbClr val="FBBF24"/>
                </a:solidFill>
              </a:rPr>
              <a:t>Pillar 4 -- Adversarial Jamming &amp; Game Theory  (24 papers)</a:t>
            </a:r>
          </a:p>
        </p:txBody>
      </p:sp>
      <p:sp>
        <p:nvSpPr>
          <p:cNvPr id="33" name="Rectangle 32"/>
          <p:cNvSpPr/>
          <p:nvPr/>
        </p:nvSpPr>
        <p:spPr>
          <a:xfrm>
            <a:off x="6318504"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4306824"/>
            <a:ext cx="4901184" cy="256032"/>
          </a:xfrm>
          <a:prstGeom prst="rect">
            <a:avLst/>
          </a:prstGeom>
          <a:noFill/>
        </p:spPr>
        <p:txBody>
          <a:bodyPr wrap="square" lIns="0" rIns="0" tIns="0" bIns="0">
            <a:spAutoFit/>
          </a:bodyPr>
          <a:lstStyle/>
          <a:p>
            <a:pPr algn="l"/>
            <a:r>
              <a:rPr sz="880" b="0" i="0">
                <a:solidFill>
                  <a:srgbClr val="B0A0D0"/>
                </a:solidFill>
              </a:rPr>
              <a:t>- Pelechrinis et al. (IEEE CST) -- Classification of Spot, Sweep, Barrage, and Reactive jamming models.</a:t>
            </a:r>
          </a:p>
        </p:txBody>
      </p:sp>
      <p:sp>
        <p:nvSpPr>
          <p:cNvPr id="35" name="TextBox 34"/>
          <p:cNvSpPr txBox="1"/>
          <p:nvPr/>
        </p:nvSpPr>
        <p:spPr>
          <a:xfrm>
            <a:off x="6355080" y="4617720"/>
            <a:ext cx="4901184" cy="256032"/>
          </a:xfrm>
          <a:prstGeom prst="rect">
            <a:avLst/>
          </a:prstGeom>
          <a:noFill/>
        </p:spPr>
        <p:txBody>
          <a:bodyPr wrap="square" lIns="0" rIns="0" tIns="0" bIns="0">
            <a:spAutoFit/>
          </a:bodyPr>
          <a:lstStyle/>
          <a:p>
            <a:pPr algn="l"/>
            <a:r>
              <a:rPr sz="880" b="0" i="0">
                <a:solidFill>
                  <a:srgbClr val="B0A0D0"/>
                </a:solidFill>
              </a:rPr>
              <a:t>- Grover et al. (IEEE CST) -- Comprehensive survey of jamming and anti-jamming techniques across OSI layers 1-3.</a:t>
            </a:r>
          </a:p>
        </p:txBody>
      </p:sp>
      <p:sp>
        <p:nvSpPr>
          <p:cNvPr id="36" name="TextBox 35"/>
          <p:cNvSpPr txBox="1"/>
          <p:nvPr/>
        </p:nvSpPr>
        <p:spPr>
          <a:xfrm>
            <a:off x="6355080" y="4928616"/>
            <a:ext cx="4901184" cy="256032"/>
          </a:xfrm>
          <a:prstGeom prst="rect">
            <a:avLst/>
          </a:prstGeom>
          <a:noFill/>
        </p:spPr>
        <p:txBody>
          <a:bodyPr wrap="square" lIns="0" rIns="0" tIns="0" bIns="0">
            <a:spAutoFit/>
          </a:bodyPr>
          <a:lstStyle/>
          <a:p>
            <a:pPr algn="l"/>
            <a:r>
              <a:rPr sz="880" b="0" i="0">
                <a:solidFill>
                  <a:srgbClr val="B0A0D0"/>
                </a:solidFill>
              </a:rPr>
              <a:t>- Song et al. (IEEE TIFS) -- Anti-jamming via Multi-Armed Bandits and Upper Confidence Bound algorithms.</a:t>
            </a:r>
          </a:p>
        </p:txBody>
      </p:sp>
      <p:sp>
        <p:nvSpPr>
          <p:cNvPr id="37" name="TextBox 36"/>
          <p:cNvSpPr txBox="1"/>
          <p:nvPr/>
        </p:nvSpPr>
        <p:spPr>
          <a:xfrm>
            <a:off x="6355080" y="5239512"/>
            <a:ext cx="4901184" cy="256032"/>
          </a:xfrm>
          <a:prstGeom prst="rect">
            <a:avLst/>
          </a:prstGeom>
          <a:noFill/>
        </p:spPr>
        <p:txBody>
          <a:bodyPr wrap="square" lIns="0" rIns="0" tIns="0" bIns="0">
            <a:spAutoFit/>
          </a:bodyPr>
          <a:lstStyle/>
          <a:p>
            <a:pPr algn="l"/>
            <a:r>
              <a:rPr sz="880" b="0" i="0">
                <a:solidFill>
                  <a:srgbClr val="B0A0D0"/>
                </a:solidFill>
              </a:rPr>
              <a:t>- Pirayesh &amp; Zeng (IEEE CST 2022) -- Modern benchmark covering FHSS, DSSS, and cognitive anti-jamming.</a:t>
            </a:r>
          </a:p>
        </p:txBody>
      </p:sp>
      <p:sp>
        <p:nvSpPr>
          <p:cNvPr id="38" name="TextBox 37"/>
          <p:cNvSpPr txBox="1"/>
          <p:nvPr/>
        </p:nvSpPr>
        <p:spPr>
          <a:xfrm>
            <a:off x="6355080" y="5550408"/>
            <a:ext cx="4901184" cy="256032"/>
          </a:xfrm>
          <a:prstGeom prst="rect">
            <a:avLst/>
          </a:prstGeom>
          <a:noFill/>
        </p:spPr>
        <p:txBody>
          <a:bodyPr wrap="square" lIns="0" rIns="0" tIns="0" bIns="0">
            <a:spAutoFit/>
          </a:bodyPr>
          <a:lstStyle/>
          <a:p>
            <a:pPr algn="l"/>
            <a:r>
              <a:rPr sz="880" b="0" i="0">
                <a:solidFill>
                  <a:srgbClr val="B0A0D0"/>
                </a:solidFill>
              </a:rPr>
              <a:t>- Adamy (Artech House) -- Electronic warfare: J/S ratio calculations, burn-through range, ECCM fundamentals.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2  |  RESEARCH GAP &amp; EXISTING SOLUTIONS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Where Existing Protocols Fall Short</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Systematic gap identification and how HopperNet closes each one</a:t>
            </a:r>
          </a:p>
        </p:txBody>
      </p:sp>
      <p:graphicFrame>
        <p:nvGraphicFramePr>
          <p:cNvPr id="7" name="Table 6"/>
          <p:cNvGraphicFramePr>
            <a:graphicFrameLocks noGrp="1"/>
          </p:cNvGraphicFramePr>
          <p:nvPr/>
        </p:nvGraphicFramePr>
        <p:xfrm>
          <a:off x="640080" y="1645920"/>
          <a:ext cx="10908792" cy="4160520"/>
        </p:xfrm>
        <a:graphic>
          <a:graphicData uri="http://schemas.openxmlformats.org/drawingml/2006/table">
            <a:tbl>
              <a:tblPr firstRow="1" bandRow="1">
                <a:tableStyleId>{5C22544A-7EE6-4342-B048-85BDC9FD1C3A}</a:tableStyleId>
              </a:tblPr>
              <a:tblGrid>
                <a:gridCol w="1920240"/>
                <a:gridCol w="1920240"/>
                <a:gridCol w="2011680"/>
                <a:gridCol w="1828800"/>
                <a:gridCol w="3227832"/>
              </a:tblGrid>
              <a:tr h="693420">
                <a:tc>
                  <a:txBody>
                    <a:bodyPr/>
                    <a:lstStyle/>
                    <a:p>
                      <a:pPr algn="ctr">
                        <a:defRPr b="1" sz="950">
                          <a:solidFill>
                            <a:srgbClr val="FFFFFF"/>
                          </a:solidFill>
                        </a:defRPr>
                      </a:pPr>
                      <a:r>
                        <a:t>Technology</a:t>
                      </a:r>
                    </a:p>
                  </a:txBody>
                  <a:tcPr>
                    <a:solidFill>
                      <a:srgbClr val="301070"/>
                    </a:solidFill>
                  </a:tcPr>
                </a:tc>
                <a:tc>
                  <a:txBody>
                    <a:bodyPr/>
                    <a:lstStyle/>
                    <a:p>
                      <a:pPr algn="ctr">
                        <a:defRPr b="1" sz="950">
                          <a:solidFill>
                            <a:srgbClr val="FFFFFF"/>
                          </a:solidFill>
                        </a:defRPr>
                      </a:pPr>
                      <a:r>
                        <a:t>RF Strategy</a:t>
                      </a:r>
                    </a:p>
                  </a:txBody>
                  <a:tcPr>
                    <a:solidFill>
                      <a:srgbClr val="301070"/>
                    </a:solidFill>
                  </a:tcPr>
                </a:tc>
                <a:tc>
                  <a:txBody>
                    <a:bodyPr/>
                    <a:lstStyle/>
                    <a:p>
                      <a:pPr algn="ctr">
                        <a:defRPr b="1" sz="950">
                          <a:solidFill>
                            <a:srgbClr val="FFFFFF"/>
                          </a:solidFill>
                        </a:defRPr>
                      </a:pPr>
                      <a:r>
                        <a:t>Jamming Vulnerability</a:t>
                      </a:r>
                    </a:p>
                  </a:txBody>
                  <a:tcPr>
                    <a:solidFill>
                      <a:srgbClr val="301070"/>
                    </a:solidFill>
                  </a:tcPr>
                </a:tc>
                <a:tc>
                  <a:txBody>
                    <a:bodyPr/>
                    <a:lstStyle/>
                    <a:p>
                      <a:pPr algn="ctr">
                        <a:defRPr b="1" sz="950">
                          <a:solidFill>
                            <a:srgbClr val="FFFFFF"/>
                          </a:solidFill>
                        </a:defRPr>
                      </a:pPr>
                      <a:r>
                        <a:t>Dead-Zone Handling</a:t>
                      </a:r>
                    </a:p>
                  </a:txBody>
                  <a:tcPr>
                    <a:solidFill>
                      <a:srgbClr val="301070"/>
                    </a:solidFill>
                  </a:tcPr>
                </a:tc>
                <a:tc>
                  <a:txBody>
                    <a:bodyPr/>
                    <a:lstStyle/>
                    <a:p>
                      <a:pPr algn="ctr">
                        <a:defRPr b="1" sz="950">
                          <a:solidFill>
                            <a:srgbClr val="FFFFFF"/>
                          </a:solidFill>
                        </a:defRPr>
                      </a:pPr>
                      <a:r>
                        <a:t>Gap Closed by HopperNet</a:t>
                      </a:r>
                    </a:p>
                  </a:txBody>
                  <a:tcPr>
                    <a:solidFill>
                      <a:srgbClr val="301070"/>
                    </a:solidFill>
                  </a:tcPr>
                </a:tc>
              </a:tr>
              <a:tr h="693420">
                <a:tc>
                  <a:txBody>
                    <a:bodyPr/>
                    <a:lstStyle/>
                    <a:p>
                      <a:pPr>
                        <a:defRPr sz="900" b="0">
                          <a:solidFill>
                            <a:srgbClr val="B0A0D0"/>
                          </a:solidFill>
                        </a:defRPr>
                      </a:pPr>
                      <a:r>
                        <a:t>Wi-Fi 802.11</a:t>
                      </a:r>
                      <a:br/>
                      <a:r>
                        <a:t>b/g/n/ax</a:t>
                      </a:r>
                    </a:p>
                  </a:txBody>
                  <a:tcPr>
                    <a:solidFill>
                      <a:srgbClr val="1E0C48"/>
                    </a:solidFill>
                  </a:tcPr>
                </a:tc>
                <a:tc>
                  <a:txBody>
                    <a:bodyPr/>
                    <a:lstStyle/>
                    <a:p>
                      <a:pPr>
                        <a:defRPr sz="900" b="0">
                          <a:solidFill>
                            <a:srgbClr val="B0A0D0"/>
                          </a:solidFill>
                        </a:defRPr>
                      </a:pPr>
                      <a:r>
                        <a:t>Static 20/40/80 MHz</a:t>
                      </a:r>
                      <a:br/>
                      <a:r>
                        <a:t>13 channels only</a:t>
                      </a:r>
                    </a:p>
                  </a:txBody>
                  <a:tcPr>
                    <a:solidFill>
                      <a:srgbClr val="1E0C48"/>
                    </a:solidFill>
                  </a:tcPr>
                </a:tc>
                <a:tc>
                  <a:txBody>
                    <a:bodyPr/>
                    <a:lstStyle/>
                    <a:p>
                      <a:pPr>
                        <a:defRPr sz="900" b="0">
                          <a:solidFill>
                            <a:srgbClr val="B0A0D0"/>
                          </a:solidFill>
                        </a:defRPr>
                      </a:pPr>
                      <a:r>
                        <a:t>Collapses under wideband or deauth jamming</a:t>
                      </a:r>
                    </a:p>
                  </a:txBody>
                  <a:tcPr>
                    <a:solidFill>
                      <a:srgbClr val="1E0C48"/>
                    </a:solidFill>
                  </a:tcPr>
                </a:tc>
                <a:tc>
                  <a:txBody>
                    <a:bodyPr/>
                    <a:lstStyle/>
                    <a:p>
                      <a:pPr>
                        <a:defRPr sz="900" b="0">
                          <a:solidFill>
                            <a:srgbClr val="B0A0D0"/>
                          </a:solidFill>
                        </a:defRPr>
                      </a:pPr>
                      <a:r>
                        <a:t>Drop-tail on disconnect, no buffering</a:t>
                      </a:r>
                    </a:p>
                  </a:txBody>
                  <a:tcPr>
                    <a:solidFill>
                      <a:srgbClr val="1E0C48"/>
                    </a:solidFill>
                  </a:tcPr>
                </a:tc>
                <a:tc>
                  <a:txBody>
                    <a:bodyPr/>
                    <a:lstStyle/>
                    <a:p>
                      <a:pPr>
                        <a:defRPr sz="900" b="0">
                          <a:solidFill>
                            <a:srgbClr val="B0A0D0"/>
                          </a:solidFill>
                        </a:defRPr>
                      </a:pPr>
                      <a:r>
                        <a:t>124-ch agility + SRAM custody buffer gives zero loss even during dead zones</a:t>
                      </a:r>
                    </a:p>
                  </a:txBody>
                  <a:tcPr>
                    <a:solidFill>
                      <a:srgbClr val="1E0C48"/>
                    </a:solidFill>
                  </a:tcPr>
                </a:tc>
              </a:tr>
              <a:tr h="693420">
                <a:tc>
                  <a:txBody>
                    <a:bodyPr/>
                    <a:lstStyle/>
                    <a:p>
                      <a:pPr>
                        <a:defRPr sz="900" b="0">
                          <a:solidFill>
                            <a:srgbClr val="B0A0D0"/>
                          </a:solidFill>
                        </a:defRPr>
                      </a:pPr>
                      <a:r>
                        <a:t>Zigbee</a:t>
                      </a:r>
                      <a:br/>
                      <a:r>
                        <a:t>802.15.4</a:t>
                      </a:r>
                    </a:p>
                  </a:txBody>
                  <a:tcPr>
                    <a:solidFill>
                      <a:srgbClr val="221050"/>
                    </a:solidFill>
                  </a:tcPr>
                </a:tc>
                <a:tc>
                  <a:txBody>
                    <a:bodyPr/>
                    <a:lstStyle/>
                    <a:p>
                      <a:pPr>
                        <a:defRPr sz="900" b="0">
                          <a:solidFill>
                            <a:srgbClr val="B0A0D0"/>
                          </a:solidFill>
                        </a:defRPr>
                      </a:pPr>
                      <a:r>
                        <a:t>16 static channels</a:t>
                      </a:r>
                      <a:br/>
                      <a:r>
                        <a:t>Slow CCA carrier sense</a:t>
                      </a:r>
                    </a:p>
                  </a:txBody>
                  <a:tcPr>
                    <a:solidFill>
                      <a:srgbClr val="221050"/>
                    </a:solidFill>
                  </a:tcPr>
                </a:tc>
                <a:tc>
                  <a:txBody>
                    <a:bodyPr/>
                    <a:lstStyle/>
                    <a:p>
                      <a:pPr>
                        <a:defRPr sz="900" b="0">
                          <a:solidFill>
                            <a:srgbClr val="B0A0D0"/>
                          </a:solidFill>
                        </a:defRPr>
                      </a:pPr>
                      <a:r>
                        <a:t>Blinded by low-cost CW carrier jammer in &lt;1 ms</a:t>
                      </a:r>
                    </a:p>
                  </a:txBody>
                  <a:tcPr>
                    <a:solidFill>
                      <a:srgbClr val="221050"/>
                    </a:solidFill>
                  </a:tcPr>
                </a:tc>
                <a:tc>
                  <a:txBody>
                    <a:bodyPr/>
                    <a:lstStyle/>
                    <a:p>
                      <a:pPr>
                        <a:defRPr sz="900" b="0">
                          <a:solidFill>
                            <a:srgbClr val="B0A0D0"/>
                          </a:solidFill>
                        </a:defRPr>
                      </a:pPr>
                      <a:r>
                        <a:t>Tiny FIFO (&lt;5 pkts)</a:t>
                      </a:r>
                      <a:br/>
                      <a:r>
                        <a:t>Immediate drop on overflow</a:t>
                      </a:r>
                    </a:p>
                  </a:txBody>
                  <a:tcPr>
                    <a:solidFill>
                      <a:srgbClr val="221050"/>
                    </a:solidFill>
                  </a:tcPr>
                </a:tc>
                <a:tc>
                  <a:txBody>
                    <a:bodyPr/>
                    <a:lstStyle/>
                    <a:p>
                      <a:pPr>
                        <a:defRPr sz="900" b="0">
                          <a:solidFill>
                            <a:srgbClr val="B0A0D0"/>
                          </a:solidFill>
                        </a:defRPr>
                      </a:pPr>
                      <a:r>
                        <a:t>RPD quiet-tail detection flags jammer in a single hop cycle</a:t>
                      </a:r>
                    </a:p>
                  </a:txBody>
                  <a:tcPr>
                    <a:solidFill>
                      <a:srgbClr val="221050"/>
                    </a:solidFill>
                  </a:tcPr>
                </a:tc>
              </a:tr>
              <a:tr h="693420">
                <a:tc>
                  <a:txBody>
                    <a:bodyPr/>
                    <a:lstStyle/>
                    <a:p>
                      <a:pPr>
                        <a:defRPr sz="900" b="0">
                          <a:solidFill>
                            <a:srgbClr val="B0A0D0"/>
                          </a:solidFill>
                        </a:defRPr>
                      </a:pPr>
                      <a:r>
                        <a:t>Bluetooth TSCH</a:t>
                      </a:r>
                      <a:br/>
                      <a:r>
                        <a:t>6TiSCH</a:t>
                      </a:r>
                    </a:p>
                  </a:txBody>
                  <a:tcPr>
                    <a:solidFill>
                      <a:srgbClr val="1E0C48"/>
                    </a:solidFill>
                  </a:tcPr>
                </a:tc>
                <a:tc>
                  <a:txBody>
                    <a:bodyPr/>
                    <a:lstStyle/>
                    <a:p>
                      <a:pPr>
                        <a:defRPr sz="900" b="0">
                          <a:solidFill>
                            <a:srgbClr val="B0A0D0"/>
                          </a:solidFill>
                        </a:defRPr>
                      </a:pPr>
                      <a:r>
                        <a:t>16-40 channels</a:t>
                      </a:r>
                      <a:br/>
                      <a:r>
                        <a:t>Central coordinator schedule</a:t>
                      </a:r>
                    </a:p>
                  </a:txBody>
                  <a:tcPr>
                    <a:solidFill>
                      <a:srgbClr val="1E0C48"/>
                    </a:solidFill>
                  </a:tcPr>
                </a:tc>
                <a:tc>
                  <a:txBody>
                    <a:bodyPr/>
                    <a:lstStyle/>
                    <a:p>
                      <a:pPr>
                        <a:defRPr sz="900" b="0">
                          <a:solidFill>
                            <a:srgbClr val="B0A0D0"/>
                          </a:solidFill>
                        </a:defRPr>
                      </a:pPr>
                      <a:r>
                        <a:t>Jamming the coordinator partitions the entire mesh</a:t>
                      </a:r>
                    </a:p>
                  </a:txBody>
                  <a:tcPr>
                    <a:solidFill>
                      <a:srgbClr val="1E0C48"/>
                    </a:solidFill>
                  </a:tcPr>
                </a:tc>
                <a:tc>
                  <a:txBody>
                    <a:bodyPr/>
                    <a:lstStyle/>
                    <a:p>
                      <a:pPr>
                        <a:defRPr sz="900" b="0">
                          <a:solidFill>
                            <a:srgbClr val="B0A0D0"/>
                          </a:solidFill>
                        </a:defRPr>
                      </a:pPr>
                      <a:r>
                        <a:t>No custody transfer</a:t>
                      </a:r>
                      <a:br/>
                      <a:r>
                        <a:t>Packets lost on dropout</a:t>
                      </a:r>
                    </a:p>
                  </a:txBody>
                  <a:tcPr>
                    <a:solidFill>
                      <a:srgbClr val="1E0C48"/>
                    </a:solidFill>
                  </a:tcPr>
                </a:tc>
                <a:tc>
                  <a:txBody>
                    <a:bodyPr/>
                    <a:lstStyle/>
                    <a:p>
                      <a:pPr>
                        <a:defRPr sz="900" b="0">
                          <a:solidFill>
                            <a:srgbClr val="B0A0D0"/>
                          </a:solidFill>
                        </a:defRPr>
                      </a:pPr>
                      <a:r>
                        <a:t>Lockstep 16-byte bitmask in SYNC beacon, no coordinator needed</a:t>
                      </a:r>
                    </a:p>
                  </a:txBody>
                  <a:tcPr>
                    <a:solidFill>
                      <a:srgbClr val="1E0C48"/>
                    </a:solidFill>
                  </a:tcPr>
                </a:tc>
              </a:tr>
              <a:tr h="693420">
                <a:tc>
                  <a:txBody>
                    <a:bodyPr/>
                    <a:lstStyle/>
                    <a:p>
                      <a:pPr>
                        <a:defRPr sz="900" b="0">
                          <a:solidFill>
                            <a:srgbClr val="B0A0D0"/>
                          </a:solidFill>
                        </a:defRPr>
                      </a:pPr>
                      <a:r>
                        <a:t>Military Radios</a:t>
                      </a:r>
                      <a:br/>
                      <a:r>
                        <a:t>SINCGARS / HAVEQUICK</a:t>
                      </a:r>
                    </a:p>
                  </a:txBody>
                  <a:tcPr>
                    <a:solidFill>
                      <a:srgbClr val="221050"/>
                    </a:solidFill>
                  </a:tcPr>
                </a:tc>
                <a:tc>
                  <a:txBody>
                    <a:bodyPr/>
                    <a:lstStyle/>
                    <a:p>
                      <a:pPr>
                        <a:defRPr sz="900" b="0">
                          <a:solidFill>
                            <a:srgbClr val="B0A0D0"/>
                          </a:solidFill>
                        </a:defRPr>
                      </a:pPr>
                      <a:r>
                        <a:t>VHF/UHF hopping</a:t>
                      </a:r>
                      <a:br/>
                      <a:r>
                        <a:t>Proprietary waveforms</a:t>
                      </a:r>
                    </a:p>
                  </a:txBody>
                  <a:tcPr>
                    <a:solidFill>
                      <a:srgbClr val="221050"/>
                    </a:solidFill>
                  </a:tcPr>
                </a:tc>
                <a:tc>
                  <a:txBody>
                    <a:bodyPr/>
                    <a:lstStyle/>
                    <a:p>
                      <a:pPr>
                        <a:defRPr sz="900" b="0">
                          <a:solidFill>
                            <a:srgbClr val="B0A0D0"/>
                          </a:solidFill>
                        </a:defRPr>
                      </a:pPr>
                      <a:r>
                        <a:t>High ECCM resilience but costs $10,000+ per unit</a:t>
                      </a:r>
                    </a:p>
                  </a:txBody>
                  <a:tcPr>
                    <a:solidFill>
                      <a:srgbClr val="221050"/>
                    </a:solidFill>
                  </a:tcPr>
                </a:tc>
                <a:tc>
                  <a:txBody>
                    <a:bodyPr/>
                    <a:lstStyle/>
                    <a:p>
                      <a:pPr>
                        <a:defRPr sz="900" b="0">
                          <a:solidFill>
                            <a:srgbClr val="B0A0D0"/>
                          </a:solidFill>
                        </a:defRPr>
                      </a:pPr>
                      <a:r>
                        <a:t>Hardware buffer, no cloud/web telemetry</a:t>
                      </a:r>
                    </a:p>
                  </a:txBody>
                  <a:tcPr>
                    <a:solidFill>
                      <a:srgbClr val="221050"/>
                    </a:solidFill>
                  </a:tcPr>
                </a:tc>
                <a:tc>
                  <a:txBody>
                    <a:bodyPr/>
                    <a:lstStyle/>
                    <a:p>
                      <a:pPr>
                        <a:defRPr sz="900" b="0">
                          <a:solidFill>
                            <a:srgbClr val="B0A0D0"/>
                          </a:solidFill>
                        </a:defRPr>
                      </a:pPr>
                      <a:r>
                        <a:t>$5 COTS microcontrollers + cloud heatmap at lab cost</a:t>
                      </a:r>
                    </a:p>
                  </a:txBody>
                  <a:tcPr>
                    <a:solidFill>
                      <a:srgbClr val="221050"/>
                    </a:solidFill>
                  </a:tcPr>
                </a:tc>
              </a:tr>
              <a:tr h="693420">
                <a:tc>
                  <a:txBody>
                    <a:bodyPr/>
                    <a:lstStyle/>
                    <a:p>
                      <a:pPr>
                        <a:defRPr sz="950" b="1">
                          <a:solidFill>
                            <a:srgbClr val="FFFFFF"/>
                          </a:solidFill>
                        </a:defRPr>
                      </a:pPr>
                      <a:r>
                        <a:t>HopperNet</a:t>
                      </a:r>
                      <a:br/>
                      <a:r>
                        <a:t>(Our System)</a:t>
                      </a:r>
                    </a:p>
                  </a:txBody>
                  <a:tcPr>
                    <a:solidFill>
                      <a:srgbClr val="2A1860"/>
                    </a:solidFill>
                  </a:tcPr>
                </a:tc>
                <a:tc>
                  <a:txBody>
                    <a:bodyPr/>
                    <a:lstStyle/>
                    <a:p>
                      <a:pPr>
                        <a:defRPr sz="950" b="1">
                          <a:solidFill>
                            <a:srgbClr val="FFFFFF"/>
                          </a:solidFill>
                        </a:defRPr>
                      </a:pPr>
                      <a:r>
                        <a:t>124 ch, 2.402-2.525 GHz</a:t>
                      </a:r>
                      <a:br/>
                      <a:r>
                        <a:t>Slotted 25 ms FHSS</a:t>
                      </a:r>
                    </a:p>
                  </a:txBody>
                  <a:tcPr>
                    <a:solidFill>
                      <a:srgbClr val="2A1860"/>
                    </a:solidFill>
                  </a:tcPr>
                </a:tc>
                <a:tc>
                  <a:txBody>
                    <a:bodyPr/>
                    <a:lstStyle/>
                    <a:p>
                      <a:pPr>
                        <a:defRPr sz="950" b="1">
                          <a:solidFill>
                            <a:srgbClr val="FFFFFF"/>
                          </a:solidFill>
                        </a:defRPr>
                      </a:pPr>
                      <a:r>
                        <a:t>Dynamic lockstep blacklisting</a:t>
                      </a:r>
                      <a:br/>
                      <a:r>
                        <a:t>0 pkt loss under jamming</a:t>
                      </a:r>
                    </a:p>
                  </a:txBody>
                  <a:tcPr>
                    <a:solidFill>
                      <a:srgbClr val="2A1860"/>
                    </a:solidFill>
                  </a:tcPr>
                </a:tc>
                <a:tc>
                  <a:txBody>
                    <a:bodyPr/>
                    <a:lstStyle/>
                    <a:p>
                      <a:pPr>
                        <a:defRPr sz="950" b="1">
                          <a:solidFill>
                            <a:srgbClr val="FFFFFF"/>
                          </a:solidFill>
                        </a:defRPr>
                      </a:pPr>
                      <a:r>
                        <a:t>SRAM + SPIFFS ring buffer</a:t>
                      </a:r>
                      <a:br/>
                      <a:r>
                        <a:t>0.0% dead-zone loss</a:t>
                      </a:r>
                    </a:p>
                  </a:txBody>
                  <a:tcPr>
                    <a:solidFill>
                      <a:srgbClr val="2A1860"/>
                    </a:solidFill>
                  </a:tcPr>
                </a:tc>
                <a:tc>
                  <a:txBody>
                    <a:bodyPr/>
                    <a:lstStyle/>
                    <a:p>
                      <a:pPr>
                        <a:defRPr sz="950" b="1">
                          <a:solidFill>
                            <a:srgbClr val="34D399"/>
                          </a:solidFill>
                        </a:defRPr>
                      </a:pPr>
                      <a:r>
                        <a:t>Closes all above gaps simultaneously on commodity hardware</a:t>
                      </a:r>
                    </a:p>
                  </a:txBody>
                  <a:tcPr>
                    <a:solidFill>
                      <a:srgbClr val="2A1860"/>
                    </a:solidFill>
                  </a:tcPr>
                </a:tc>
              </a:tr>
            </a:tbl>
          </a:graphicData>
        </a:graphic>
      </p:graphicFrame>
      <p:sp>
        <p:nvSpPr>
          <p:cNvPr id="8" name="TextBox 7"/>
          <p:cNvSpPr txBox="1"/>
          <p:nvPr/>
        </p:nvSpPr>
        <p:spPr>
          <a:xfrm>
            <a:off x="640080" y="5943600"/>
            <a:ext cx="10908792" cy="256032"/>
          </a:xfrm>
          <a:prstGeom prst="rect">
            <a:avLst/>
          </a:prstGeom>
          <a:noFill/>
        </p:spPr>
        <p:txBody>
          <a:bodyPr wrap="square" lIns="0" rIns="0" tIns="0" bIns="0">
            <a:spAutoFit/>
          </a:bodyPr>
          <a:lstStyle/>
          <a:p>
            <a:pPr algn="l"/>
            <a:r>
              <a:rPr sz="950" b="0" i="1">
                <a:solidFill>
                  <a:srgbClr val="B0A0D0"/>
                </a:solidFill>
              </a:rPr>
              <a:t>Key novelty: tactical-grade anti-jamming + DTN custody transfer on $5 COTS hardware with real-time cloud spectrum telemetry.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3  |  SYSTEM ARCHITECTURE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4-Node Deployed Hardware Architecture</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Node A (Source)  -&gt;  Node B (FHSS master relay)  -&gt;  Node C (Destination)  +  Adversary console</a:t>
            </a:r>
          </a:p>
        </p:txBody>
      </p:sp>
      <p:sp>
        <p:nvSpPr>
          <p:cNvPr id="7" name="Rectangle 6"/>
          <p:cNvSpPr/>
          <p:nvPr/>
        </p:nvSpPr>
        <p:spPr>
          <a:xfrm>
            <a:off x="640080" y="1572768"/>
            <a:ext cx="251460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664208"/>
            <a:ext cx="2258568" cy="384048"/>
          </a:xfrm>
          <a:prstGeom prst="rect">
            <a:avLst/>
          </a:prstGeom>
          <a:noFill/>
        </p:spPr>
        <p:txBody>
          <a:bodyPr wrap="square" lIns="0" rIns="0" tIns="0" bIns="0">
            <a:spAutoFit/>
          </a:bodyPr>
          <a:lstStyle/>
          <a:p>
            <a:pPr algn="l"/>
            <a:r>
              <a:rPr sz="1050" b="1" i="0">
                <a:solidFill>
                  <a:srgbClr val="38BDF8"/>
                </a:solidFill>
              </a:rPr>
              <a:t>Node A -- Source
(ESP32 DevKit)</a:t>
            </a:r>
          </a:p>
        </p:txBody>
      </p:sp>
      <p:sp>
        <p:nvSpPr>
          <p:cNvPr id="9" name="Rectangle 8"/>
          <p:cNvSpPr/>
          <p:nvPr/>
        </p:nvSpPr>
        <p:spPr>
          <a:xfrm>
            <a:off x="768096" y="2084832"/>
            <a:ext cx="2258568"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185416" cy="182880"/>
          </a:xfrm>
          <a:prstGeom prst="rect">
            <a:avLst/>
          </a:prstGeom>
          <a:noFill/>
        </p:spPr>
        <p:txBody>
          <a:bodyPr wrap="square" lIns="0" rIns="0" tIns="0" bIns="0">
            <a:spAutoFit/>
          </a:bodyPr>
          <a:lstStyle/>
          <a:p>
            <a:pPr algn="l"/>
            <a:r>
              <a:rPr sz="900" b="1" i="0">
                <a:solidFill>
                  <a:srgbClr val="FFFFFF"/>
                </a:solidFill>
              </a:rPr>
              <a:t>  Role:</a:t>
            </a:r>
          </a:p>
        </p:txBody>
      </p:sp>
      <p:sp>
        <p:nvSpPr>
          <p:cNvPr id="11" name="TextBox 10"/>
          <p:cNvSpPr txBox="1"/>
          <p:nvPr/>
        </p:nvSpPr>
        <p:spPr>
          <a:xfrm>
            <a:off x="841248" y="2359152"/>
            <a:ext cx="2148840" cy="347472"/>
          </a:xfrm>
          <a:prstGeom prst="rect">
            <a:avLst/>
          </a:prstGeom>
          <a:noFill/>
        </p:spPr>
        <p:txBody>
          <a:bodyPr wrap="square" lIns="0" rIns="0" tIns="0" bIns="0">
            <a:spAutoFit/>
          </a:bodyPr>
          <a:lstStyle/>
          <a:p>
            <a:pPr algn="l"/>
            <a:r>
              <a:rPr sz="850" b="0" i="0">
                <a:solidFill>
                  <a:srgbClr val="B0A0D0"/>
                </a:solidFill>
              </a:rPr>
              <a:t>Dispatches emergency alerts (Code Blue) and patient vitals to the mesh.</a:t>
            </a:r>
          </a:p>
        </p:txBody>
      </p:sp>
      <p:sp>
        <p:nvSpPr>
          <p:cNvPr id="12" name="TextBox 11"/>
          <p:cNvSpPr txBox="1"/>
          <p:nvPr/>
        </p:nvSpPr>
        <p:spPr>
          <a:xfrm>
            <a:off x="804672" y="2761488"/>
            <a:ext cx="2185416" cy="182880"/>
          </a:xfrm>
          <a:prstGeom prst="rect">
            <a:avLst/>
          </a:prstGeom>
          <a:noFill/>
        </p:spPr>
        <p:txBody>
          <a:bodyPr wrap="square" lIns="0" rIns="0" tIns="0" bIns="0">
            <a:spAutoFit/>
          </a:bodyPr>
          <a:lstStyle/>
          <a:p>
            <a:pPr algn="l"/>
            <a:r>
              <a:rPr sz="900" b="1" i="0">
                <a:solidFill>
                  <a:srgbClr val="FFFFFF"/>
                </a:solidFill>
              </a:rPr>
              <a:t>  Core 0:</a:t>
            </a:r>
          </a:p>
        </p:txBody>
      </p:sp>
      <p:sp>
        <p:nvSpPr>
          <p:cNvPr id="13" name="TextBox 12"/>
          <p:cNvSpPr txBox="1"/>
          <p:nvPr/>
        </p:nvSpPr>
        <p:spPr>
          <a:xfrm>
            <a:off x="841248" y="2944368"/>
            <a:ext cx="2148840" cy="347472"/>
          </a:xfrm>
          <a:prstGeom prst="rect">
            <a:avLst/>
          </a:prstGeom>
          <a:noFill/>
        </p:spPr>
        <p:txBody>
          <a:bodyPr wrap="square" lIns="0" rIns="0" tIns="0" bIns="0">
            <a:spAutoFit/>
          </a:bodyPr>
          <a:lstStyle/>
          <a:p>
            <a:pPr algn="l"/>
            <a:r>
              <a:rPr sz="850" b="0" i="0">
                <a:solidFill>
                  <a:srgbClr val="B0A0D0"/>
                </a:solidFill>
              </a:rPr>
              <a:t>WiFi + Supabase REST client polls outbound message queue.</a:t>
            </a:r>
          </a:p>
        </p:txBody>
      </p:sp>
      <p:sp>
        <p:nvSpPr>
          <p:cNvPr id="14" name="TextBox 13"/>
          <p:cNvSpPr txBox="1"/>
          <p:nvPr/>
        </p:nvSpPr>
        <p:spPr>
          <a:xfrm>
            <a:off x="804672" y="3346704"/>
            <a:ext cx="2185416" cy="182880"/>
          </a:xfrm>
          <a:prstGeom prst="rect">
            <a:avLst/>
          </a:prstGeom>
          <a:noFill/>
        </p:spPr>
        <p:txBody>
          <a:bodyPr wrap="square" lIns="0" rIns="0" tIns="0" bIns="0">
            <a:spAutoFit/>
          </a:bodyPr>
          <a:lstStyle/>
          <a:p>
            <a:pPr algn="l"/>
            <a:r>
              <a:rPr sz="900" b="1" i="0">
                <a:solidFill>
                  <a:srgbClr val="FFFFFF"/>
                </a:solidFill>
              </a:rPr>
              <a:t>  Core 1:</a:t>
            </a:r>
          </a:p>
        </p:txBody>
      </p:sp>
      <p:sp>
        <p:nvSpPr>
          <p:cNvPr id="15" name="TextBox 14"/>
          <p:cNvSpPr txBox="1"/>
          <p:nvPr/>
        </p:nvSpPr>
        <p:spPr>
          <a:xfrm>
            <a:off x="841248" y="3529584"/>
            <a:ext cx="2148840" cy="347472"/>
          </a:xfrm>
          <a:prstGeom prst="rect">
            <a:avLst/>
          </a:prstGeom>
          <a:noFill/>
        </p:spPr>
        <p:txBody>
          <a:bodyPr wrap="square" lIns="0" rIns="0" tIns="0" bIns="0">
            <a:spAutoFit/>
          </a:bodyPr>
          <a:lstStyle/>
          <a:p>
            <a:pPr algn="l"/>
            <a:r>
              <a:rPr sz="850" b="0" i="0">
                <a:solidFill>
                  <a:srgbClr val="B0A0D0"/>
                </a:solidFill>
              </a:rPr>
              <a:t>Real-time SPI driver for microsecond-precise hop timing.</a:t>
            </a:r>
          </a:p>
        </p:txBody>
      </p:sp>
      <p:sp>
        <p:nvSpPr>
          <p:cNvPr id="16" name="TextBox 15"/>
          <p:cNvSpPr txBox="1"/>
          <p:nvPr/>
        </p:nvSpPr>
        <p:spPr>
          <a:xfrm>
            <a:off x="804672" y="3931920"/>
            <a:ext cx="2185416" cy="182880"/>
          </a:xfrm>
          <a:prstGeom prst="rect">
            <a:avLst/>
          </a:prstGeom>
          <a:noFill/>
        </p:spPr>
        <p:txBody>
          <a:bodyPr wrap="square" lIns="0" rIns="0" tIns="0" bIns="0">
            <a:spAutoFit/>
          </a:bodyPr>
          <a:lstStyle/>
          <a:p>
            <a:pPr algn="l"/>
            <a:r>
              <a:rPr sz="900" b="1" i="0">
                <a:solidFill>
                  <a:srgbClr val="FFFFFF"/>
                </a:solidFill>
              </a:rPr>
              <a:t>  WiFi AP:</a:t>
            </a:r>
          </a:p>
        </p:txBody>
      </p:sp>
      <p:sp>
        <p:nvSpPr>
          <p:cNvPr id="17" name="TextBox 16"/>
          <p:cNvSpPr txBox="1"/>
          <p:nvPr/>
        </p:nvSpPr>
        <p:spPr>
          <a:xfrm>
            <a:off x="841248" y="4114800"/>
            <a:ext cx="2148840" cy="347472"/>
          </a:xfrm>
          <a:prstGeom prst="rect">
            <a:avLst/>
          </a:prstGeom>
          <a:noFill/>
        </p:spPr>
        <p:txBody>
          <a:bodyPr wrap="square" lIns="0" rIns="0" tIns="0" bIns="0">
            <a:spAutoFit/>
          </a:bodyPr>
          <a:lstStyle/>
          <a:p>
            <a:pPr algn="l"/>
            <a:r>
              <a:rPr sz="850" b="0" i="0">
                <a:solidFill>
                  <a:srgbClr val="B0A0D0"/>
                </a:solidFill>
              </a:rPr>
              <a:t>hoppera (192.168.4.1) -- local web UI for manual dispatch.</a:t>
            </a:r>
          </a:p>
        </p:txBody>
      </p:sp>
      <p:sp>
        <p:nvSpPr>
          <p:cNvPr id="18" name="TextBox 17"/>
          <p:cNvSpPr txBox="1"/>
          <p:nvPr/>
        </p:nvSpPr>
        <p:spPr>
          <a:xfrm>
            <a:off x="804672" y="4517136"/>
            <a:ext cx="2185416" cy="182880"/>
          </a:xfrm>
          <a:prstGeom prst="rect">
            <a:avLst/>
          </a:prstGeom>
          <a:noFill/>
        </p:spPr>
        <p:txBody>
          <a:bodyPr wrap="square" lIns="0" rIns="0" tIns="0" bIns="0">
            <a:spAutoFit/>
          </a:bodyPr>
          <a:lstStyle/>
          <a:p>
            <a:pPr algn="l"/>
            <a:r>
              <a:rPr sz="900" b="1" i="0">
                <a:solidFill>
                  <a:srgbClr val="FFFFFF"/>
                </a:solidFill>
              </a:rPr>
              <a:t>  Pinout:</a:t>
            </a:r>
          </a:p>
        </p:txBody>
      </p:sp>
      <p:sp>
        <p:nvSpPr>
          <p:cNvPr id="19" name="TextBox 18"/>
          <p:cNvSpPr txBox="1"/>
          <p:nvPr/>
        </p:nvSpPr>
        <p:spPr>
          <a:xfrm>
            <a:off x="841248" y="4700016"/>
            <a:ext cx="2148840" cy="347472"/>
          </a:xfrm>
          <a:prstGeom prst="rect">
            <a:avLst/>
          </a:prstGeom>
          <a:noFill/>
        </p:spPr>
        <p:txBody>
          <a:bodyPr wrap="square" lIns="0" rIns="0" tIns="0" bIns="0">
            <a:spAutoFit/>
          </a:bodyPr>
          <a:lstStyle/>
          <a:p>
            <a:pPr algn="l"/>
            <a:r>
              <a:rPr sz="850" b="0" i="0">
                <a:solidFill>
                  <a:srgbClr val="B0A0D0"/>
                </a:solidFill>
              </a:rPr>
              <a:t>CE: GPIO 4, CSN: GPIO 5, SCK: 18, MOSI: 23, MISO: 19.</a:t>
            </a:r>
          </a:p>
        </p:txBody>
      </p:sp>
      <p:sp>
        <p:nvSpPr>
          <p:cNvPr id="20" name="Rectangle 19"/>
          <p:cNvSpPr/>
          <p:nvPr/>
        </p:nvSpPr>
        <p:spPr>
          <a:xfrm>
            <a:off x="3337560" y="1572768"/>
            <a:ext cx="251460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65576" y="1664208"/>
            <a:ext cx="2258568" cy="384048"/>
          </a:xfrm>
          <a:prstGeom prst="rect">
            <a:avLst/>
          </a:prstGeom>
          <a:noFill/>
        </p:spPr>
        <p:txBody>
          <a:bodyPr wrap="square" lIns="0" rIns="0" tIns="0" bIns="0">
            <a:spAutoFit/>
          </a:bodyPr>
          <a:lstStyle/>
          <a:p>
            <a:pPr algn="l"/>
            <a:r>
              <a:rPr sz="1050" b="1" i="0">
                <a:solidFill>
                  <a:srgbClr val="A060FF"/>
                </a:solidFill>
              </a:rPr>
              <a:t>Node B -- Master Relay
(ESP32 DevKit)</a:t>
            </a:r>
          </a:p>
        </p:txBody>
      </p:sp>
      <p:sp>
        <p:nvSpPr>
          <p:cNvPr id="22" name="Rectangle 21"/>
          <p:cNvSpPr/>
          <p:nvPr/>
        </p:nvSpPr>
        <p:spPr>
          <a:xfrm>
            <a:off x="3465576" y="2084832"/>
            <a:ext cx="2258568"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02152" y="2176272"/>
            <a:ext cx="2185416" cy="182880"/>
          </a:xfrm>
          <a:prstGeom prst="rect">
            <a:avLst/>
          </a:prstGeom>
          <a:noFill/>
        </p:spPr>
        <p:txBody>
          <a:bodyPr wrap="square" lIns="0" rIns="0" tIns="0" bIns="0">
            <a:spAutoFit/>
          </a:bodyPr>
          <a:lstStyle/>
          <a:p>
            <a:pPr algn="l"/>
            <a:r>
              <a:rPr sz="900" b="1" i="0">
                <a:solidFill>
                  <a:srgbClr val="FFFFFF"/>
                </a:solidFill>
              </a:rPr>
              <a:t>  Master Clock:</a:t>
            </a:r>
          </a:p>
        </p:txBody>
      </p:sp>
      <p:sp>
        <p:nvSpPr>
          <p:cNvPr id="24" name="TextBox 23"/>
          <p:cNvSpPr txBox="1"/>
          <p:nvPr/>
        </p:nvSpPr>
        <p:spPr>
          <a:xfrm>
            <a:off x="3538728" y="2359152"/>
            <a:ext cx="2148840" cy="347472"/>
          </a:xfrm>
          <a:prstGeom prst="rect">
            <a:avLst/>
          </a:prstGeom>
          <a:noFill/>
        </p:spPr>
        <p:txBody>
          <a:bodyPr wrap="square" lIns="0" rIns="0" tIns="0" bIns="0">
            <a:spAutoFit/>
          </a:bodyPr>
          <a:lstStyle/>
          <a:p>
            <a:pPr algn="l"/>
            <a:r>
              <a:rPr sz="850" b="0" i="0">
                <a:solidFill>
                  <a:srgbClr val="B0A0D0"/>
                </a:solidFill>
              </a:rPr>
              <a:t>Broadcasts SYNC beacon every 25 ms: hop index + timestamp + blacklist bitmap.</a:t>
            </a:r>
          </a:p>
        </p:txBody>
      </p:sp>
      <p:sp>
        <p:nvSpPr>
          <p:cNvPr id="25" name="TextBox 24"/>
          <p:cNvSpPr txBox="1"/>
          <p:nvPr/>
        </p:nvSpPr>
        <p:spPr>
          <a:xfrm>
            <a:off x="3502152" y="2761488"/>
            <a:ext cx="2185416" cy="182880"/>
          </a:xfrm>
          <a:prstGeom prst="rect">
            <a:avLst/>
          </a:prstGeom>
          <a:noFill/>
        </p:spPr>
        <p:txBody>
          <a:bodyPr wrap="square" lIns="0" rIns="0" tIns="0" bIns="0">
            <a:spAutoFit/>
          </a:bodyPr>
          <a:lstStyle/>
          <a:p>
            <a:pPr algn="l"/>
            <a:r>
              <a:rPr sz="900" b="1" i="0">
                <a:solidFill>
                  <a:srgbClr val="FFFFFF"/>
                </a:solidFill>
              </a:rPr>
              <a:t>  Edge Buffer:</a:t>
            </a:r>
          </a:p>
        </p:txBody>
      </p:sp>
      <p:sp>
        <p:nvSpPr>
          <p:cNvPr id="26" name="TextBox 25"/>
          <p:cNvSpPr txBox="1"/>
          <p:nvPr/>
        </p:nvSpPr>
        <p:spPr>
          <a:xfrm>
            <a:off x="3538728" y="2944368"/>
            <a:ext cx="2148840" cy="347472"/>
          </a:xfrm>
          <a:prstGeom prst="rect">
            <a:avLst/>
          </a:prstGeom>
          <a:noFill/>
        </p:spPr>
        <p:txBody>
          <a:bodyPr wrap="square" lIns="0" rIns="0" tIns="0" bIns="0">
            <a:spAutoFit/>
          </a:bodyPr>
          <a:lstStyle/>
          <a:p>
            <a:pPr algn="l"/>
            <a:r>
              <a:rPr sz="850" b="0" i="0">
                <a:solidFill>
                  <a:srgbClr val="B0A0D0"/>
                </a:solidFill>
              </a:rPr>
              <a:t>520 KB SRAM circular FIFO + SPIFFS flash for zero-loss store-and-forward.</a:t>
            </a:r>
          </a:p>
        </p:txBody>
      </p:sp>
      <p:sp>
        <p:nvSpPr>
          <p:cNvPr id="27" name="TextBox 26"/>
          <p:cNvSpPr txBox="1"/>
          <p:nvPr/>
        </p:nvSpPr>
        <p:spPr>
          <a:xfrm>
            <a:off x="3502152" y="3346704"/>
            <a:ext cx="2185416" cy="182880"/>
          </a:xfrm>
          <a:prstGeom prst="rect">
            <a:avLst/>
          </a:prstGeom>
          <a:noFill/>
        </p:spPr>
        <p:txBody>
          <a:bodyPr wrap="square" lIns="0" rIns="0" tIns="0" bIns="0">
            <a:spAutoFit/>
          </a:bodyPr>
          <a:lstStyle/>
          <a:p>
            <a:pPr algn="l"/>
            <a:r>
              <a:rPr sz="900" b="1" i="0">
                <a:solidFill>
                  <a:srgbClr val="FFFFFF"/>
                </a:solidFill>
              </a:rPr>
              <a:t>  Jammer Detect:</a:t>
            </a:r>
          </a:p>
        </p:txBody>
      </p:sp>
      <p:sp>
        <p:nvSpPr>
          <p:cNvPr id="28" name="TextBox 27"/>
          <p:cNvSpPr txBox="1"/>
          <p:nvPr/>
        </p:nvSpPr>
        <p:spPr>
          <a:xfrm>
            <a:off x="3538728" y="3529584"/>
            <a:ext cx="2148840" cy="347472"/>
          </a:xfrm>
          <a:prstGeom prst="rect">
            <a:avLst/>
          </a:prstGeom>
          <a:noFill/>
        </p:spPr>
        <p:txBody>
          <a:bodyPr wrap="square" lIns="0" rIns="0" tIns="0" bIns="0">
            <a:spAutoFit/>
          </a:bodyPr>
          <a:lstStyle/>
          <a:p>
            <a:pPr algn="l"/>
            <a:r>
              <a:rPr sz="850" b="0" i="0">
                <a:solidFill>
                  <a:srgbClr val="B0A0D0"/>
                </a:solidFill>
              </a:rPr>
              <a:t>RPD carrier scan during quiet tail (24-25 ms) flags jammed channels.</a:t>
            </a:r>
          </a:p>
        </p:txBody>
      </p:sp>
      <p:sp>
        <p:nvSpPr>
          <p:cNvPr id="29" name="TextBox 28"/>
          <p:cNvSpPr txBox="1"/>
          <p:nvPr/>
        </p:nvSpPr>
        <p:spPr>
          <a:xfrm>
            <a:off x="3502152" y="3931920"/>
            <a:ext cx="2185416" cy="182880"/>
          </a:xfrm>
          <a:prstGeom prst="rect">
            <a:avLst/>
          </a:prstGeom>
          <a:noFill/>
        </p:spPr>
        <p:txBody>
          <a:bodyPr wrap="square" lIns="0" rIns="0" tIns="0" bIns="0">
            <a:spAutoFit/>
          </a:bodyPr>
          <a:lstStyle/>
          <a:p>
            <a:pPr algn="l"/>
            <a:r>
              <a:rPr sz="900" b="1" i="0">
                <a:solidFill>
                  <a:srgbClr val="FFFFFF"/>
                </a:solidFill>
              </a:rPr>
              <a:t>  WiFi AP:</a:t>
            </a:r>
          </a:p>
        </p:txBody>
      </p:sp>
      <p:sp>
        <p:nvSpPr>
          <p:cNvPr id="30" name="TextBox 29"/>
          <p:cNvSpPr txBox="1"/>
          <p:nvPr/>
        </p:nvSpPr>
        <p:spPr>
          <a:xfrm>
            <a:off x="3538728" y="4114800"/>
            <a:ext cx="2148840" cy="347472"/>
          </a:xfrm>
          <a:prstGeom prst="rect">
            <a:avLst/>
          </a:prstGeom>
          <a:noFill/>
        </p:spPr>
        <p:txBody>
          <a:bodyPr wrap="square" lIns="0" rIns="0" tIns="0" bIns="0">
            <a:spAutoFit/>
          </a:bodyPr>
          <a:lstStyle/>
          <a:p>
            <a:pPr algn="l"/>
            <a:r>
              <a:rPr sz="850" b="0" i="0">
                <a:solidFill>
                  <a:srgbClr val="B0A0D0"/>
                </a:solidFill>
              </a:rPr>
              <a:t>hopperb (192.168.4.1) -- shows buffer depth, hop count, jam count.</a:t>
            </a:r>
          </a:p>
        </p:txBody>
      </p:sp>
      <p:sp>
        <p:nvSpPr>
          <p:cNvPr id="31" name="TextBox 30"/>
          <p:cNvSpPr txBox="1"/>
          <p:nvPr/>
        </p:nvSpPr>
        <p:spPr>
          <a:xfrm>
            <a:off x="3502152" y="4517136"/>
            <a:ext cx="2185416" cy="182880"/>
          </a:xfrm>
          <a:prstGeom prst="rect">
            <a:avLst/>
          </a:prstGeom>
          <a:noFill/>
        </p:spPr>
        <p:txBody>
          <a:bodyPr wrap="square" lIns="0" rIns="0" tIns="0" bIns="0">
            <a:spAutoFit/>
          </a:bodyPr>
          <a:lstStyle/>
          <a:p>
            <a:pPr algn="l"/>
            <a:r>
              <a:rPr sz="900" b="1" i="0">
                <a:solidFill>
                  <a:srgbClr val="FFFFFF"/>
                </a:solidFill>
              </a:rPr>
              <a:t>  LCD:</a:t>
            </a:r>
          </a:p>
        </p:txBody>
      </p:sp>
      <p:sp>
        <p:nvSpPr>
          <p:cNvPr id="32" name="TextBox 31"/>
          <p:cNvSpPr txBox="1"/>
          <p:nvPr/>
        </p:nvSpPr>
        <p:spPr>
          <a:xfrm>
            <a:off x="3538728" y="4700016"/>
            <a:ext cx="2148840" cy="347472"/>
          </a:xfrm>
          <a:prstGeom prst="rect">
            <a:avLst/>
          </a:prstGeom>
          <a:noFill/>
        </p:spPr>
        <p:txBody>
          <a:bodyPr wrap="square" lIns="0" rIns="0" tIns="0" bIns="0">
            <a:spAutoFit/>
          </a:bodyPr>
          <a:lstStyle/>
          <a:p>
            <a:pPr algn="l"/>
            <a:r>
              <a:rPr sz="850" b="0" i="0">
                <a:solidFill>
                  <a:srgbClr val="B0A0D0"/>
                </a:solidFill>
              </a:rPr>
              <a:t>16x2 I2C display: CH:XX  HOP:NNN  BUF:N  JAM:N in real time.</a:t>
            </a:r>
          </a:p>
        </p:txBody>
      </p:sp>
      <p:sp>
        <p:nvSpPr>
          <p:cNvPr id="33" name="Rectangle 32"/>
          <p:cNvSpPr/>
          <p:nvPr/>
        </p:nvSpPr>
        <p:spPr>
          <a:xfrm>
            <a:off x="6035040" y="1572768"/>
            <a:ext cx="251460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3056" y="1664208"/>
            <a:ext cx="2258568" cy="384048"/>
          </a:xfrm>
          <a:prstGeom prst="rect">
            <a:avLst/>
          </a:prstGeom>
          <a:noFill/>
        </p:spPr>
        <p:txBody>
          <a:bodyPr wrap="square" lIns="0" rIns="0" tIns="0" bIns="0">
            <a:spAutoFit/>
          </a:bodyPr>
          <a:lstStyle/>
          <a:p>
            <a:pPr algn="l"/>
            <a:r>
              <a:rPr sz="1050" b="1" i="0">
                <a:solidFill>
                  <a:srgbClr val="34D399"/>
                </a:solidFill>
              </a:rPr>
              <a:t>Node C -- Destination
(ESP32 DevKit)</a:t>
            </a:r>
          </a:p>
        </p:txBody>
      </p:sp>
      <p:sp>
        <p:nvSpPr>
          <p:cNvPr id="35" name="Rectangle 34"/>
          <p:cNvSpPr/>
          <p:nvPr/>
        </p:nvSpPr>
        <p:spPr>
          <a:xfrm>
            <a:off x="6163056" y="2084832"/>
            <a:ext cx="2258568"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99632" y="2176272"/>
            <a:ext cx="2185416" cy="182880"/>
          </a:xfrm>
          <a:prstGeom prst="rect">
            <a:avLst/>
          </a:prstGeom>
          <a:noFill/>
        </p:spPr>
        <p:txBody>
          <a:bodyPr wrap="square" lIns="0" rIns="0" tIns="0" bIns="0">
            <a:spAutoFit/>
          </a:bodyPr>
          <a:lstStyle/>
          <a:p>
            <a:pPr algn="l"/>
            <a:r>
              <a:rPr sz="900" b="1" i="0">
                <a:solidFill>
                  <a:srgbClr val="FFFFFF"/>
                </a:solidFill>
              </a:rPr>
              <a:t>  Role:</a:t>
            </a:r>
          </a:p>
        </p:txBody>
      </p:sp>
      <p:sp>
        <p:nvSpPr>
          <p:cNvPr id="37" name="TextBox 36"/>
          <p:cNvSpPr txBox="1"/>
          <p:nvPr/>
        </p:nvSpPr>
        <p:spPr>
          <a:xfrm>
            <a:off x="6236208" y="2359152"/>
            <a:ext cx="2148840" cy="347472"/>
          </a:xfrm>
          <a:prstGeom prst="rect">
            <a:avLst/>
          </a:prstGeom>
          <a:noFill/>
        </p:spPr>
        <p:txBody>
          <a:bodyPr wrap="square" lIns="0" rIns="0" tIns="0" bIns="0">
            <a:spAutoFit/>
          </a:bodyPr>
          <a:lstStyle/>
          <a:p>
            <a:pPr algn="l"/>
            <a:r>
              <a:rPr sz="850" b="0" i="0">
                <a:solidFill>
                  <a:srgbClr val="B0A0D0"/>
                </a:solidFill>
              </a:rPr>
              <a:t>Doctor terminal / ER receiver gateway for incoming alerts.</a:t>
            </a:r>
          </a:p>
        </p:txBody>
      </p:sp>
      <p:sp>
        <p:nvSpPr>
          <p:cNvPr id="38" name="TextBox 37"/>
          <p:cNvSpPr txBox="1"/>
          <p:nvPr/>
        </p:nvSpPr>
        <p:spPr>
          <a:xfrm>
            <a:off x="6199632" y="2761488"/>
            <a:ext cx="2185416" cy="182880"/>
          </a:xfrm>
          <a:prstGeom prst="rect">
            <a:avLst/>
          </a:prstGeom>
          <a:noFill/>
        </p:spPr>
        <p:txBody>
          <a:bodyPr wrap="square" lIns="0" rIns="0" tIns="0" bIns="0">
            <a:spAutoFit/>
          </a:bodyPr>
          <a:lstStyle/>
          <a:p>
            <a:pPr algn="l"/>
            <a:r>
              <a:rPr sz="900" b="1" i="0">
                <a:solidFill>
                  <a:srgbClr val="FFFFFF"/>
                </a:solidFill>
              </a:rPr>
              <a:t>  ACK:</a:t>
            </a:r>
          </a:p>
        </p:txBody>
      </p:sp>
      <p:sp>
        <p:nvSpPr>
          <p:cNvPr id="39" name="TextBox 38"/>
          <p:cNvSpPr txBox="1"/>
          <p:nvPr/>
        </p:nvSpPr>
        <p:spPr>
          <a:xfrm>
            <a:off x="6236208" y="2944368"/>
            <a:ext cx="2148840" cy="347472"/>
          </a:xfrm>
          <a:prstGeom prst="rect">
            <a:avLst/>
          </a:prstGeom>
          <a:noFill/>
        </p:spPr>
        <p:txBody>
          <a:bodyPr wrap="square" lIns="0" rIns="0" tIns="0" bIns="0">
            <a:spAutoFit/>
          </a:bodyPr>
          <a:lstStyle/>
          <a:p>
            <a:pPr algn="l"/>
            <a:r>
              <a:rPr sz="850" b="0" i="0">
                <a:solidFill>
                  <a:srgbClr val="B0A0D0"/>
                </a:solidFill>
              </a:rPr>
              <a:t>Sends immediate ACK frame (type 0x03, status 0x0D) to Node B on capture.</a:t>
            </a:r>
          </a:p>
        </p:txBody>
      </p:sp>
      <p:sp>
        <p:nvSpPr>
          <p:cNvPr id="40" name="TextBox 39"/>
          <p:cNvSpPr txBox="1"/>
          <p:nvPr/>
        </p:nvSpPr>
        <p:spPr>
          <a:xfrm>
            <a:off x="6199632" y="3346704"/>
            <a:ext cx="2185416" cy="182880"/>
          </a:xfrm>
          <a:prstGeom prst="rect">
            <a:avLst/>
          </a:prstGeom>
          <a:noFill/>
        </p:spPr>
        <p:txBody>
          <a:bodyPr wrap="square" lIns="0" rIns="0" tIns="0" bIns="0">
            <a:spAutoFit/>
          </a:bodyPr>
          <a:lstStyle/>
          <a:p>
            <a:pPr algn="l"/>
            <a:r>
              <a:rPr sz="900" b="1" i="0">
                <a:solidFill>
                  <a:srgbClr val="FFFFFF"/>
                </a:solidFill>
              </a:rPr>
              <a:t>  Cloud:</a:t>
            </a:r>
          </a:p>
        </p:txBody>
      </p:sp>
      <p:sp>
        <p:nvSpPr>
          <p:cNvPr id="41" name="TextBox 40"/>
          <p:cNvSpPr txBox="1"/>
          <p:nvPr/>
        </p:nvSpPr>
        <p:spPr>
          <a:xfrm>
            <a:off x="6236208" y="3529584"/>
            <a:ext cx="2148840" cy="347472"/>
          </a:xfrm>
          <a:prstGeom prst="rect">
            <a:avLst/>
          </a:prstGeom>
          <a:noFill/>
        </p:spPr>
        <p:txBody>
          <a:bodyPr wrap="square" lIns="0" rIns="0" tIns="0" bIns="0">
            <a:spAutoFit/>
          </a:bodyPr>
          <a:lstStyle/>
          <a:p>
            <a:pPr algn="l"/>
            <a:r>
              <a:rPr sz="850" b="0" i="0">
                <a:solidFill>
                  <a:srgbClr val="B0A0D0"/>
                </a:solidFill>
              </a:rPr>
              <a:t>Posts delivery confirmation to Supabase received_messages table.</a:t>
            </a:r>
          </a:p>
        </p:txBody>
      </p:sp>
      <p:sp>
        <p:nvSpPr>
          <p:cNvPr id="42" name="TextBox 41"/>
          <p:cNvSpPr txBox="1"/>
          <p:nvPr/>
        </p:nvSpPr>
        <p:spPr>
          <a:xfrm>
            <a:off x="6199632" y="3931920"/>
            <a:ext cx="2185416" cy="182880"/>
          </a:xfrm>
          <a:prstGeom prst="rect">
            <a:avLst/>
          </a:prstGeom>
          <a:noFill/>
        </p:spPr>
        <p:txBody>
          <a:bodyPr wrap="square" lIns="0" rIns="0" tIns="0" bIns="0">
            <a:spAutoFit/>
          </a:bodyPr>
          <a:lstStyle/>
          <a:p>
            <a:pPr algn="l"/>
            <a:r>
              <a:rPr sz="900" b="1" i="0">
                <a:solidFill>
                  <a:srgbClr val="FFFFFF"/>
                </a:solidFill>
              </a:rPr>
              <a:t>  WiFi AP:</a:t>
            </a:r>
          </a:p>
        </p:txBody>
      </p:sp>
      <p:sp>
        <p:nvSpPr>
          <p:cNvPr id="43" name="TextBox 42"/>
          <p:cNvSpPr txBox="1"/>
          <p:nvPr/>
        </p:nvSpPr>
        <p:spPr>
          <a:xfrm>
            <a:off x="6236208" y="4114800"/>
            <a:ext cx="2148840" cy="347472"/>
          </a:xfrm>
          <a:prstGeom prst="rect">
            <a:avLst/>
          </a:prstGeom>
          <a:noFill/>
        </p:spPr>
        <p:txBody>
          <a:bodyPr wrap="square" lIns="0" rIns="0" tIns="0" bIns="0">
            <a:spAutoFit/>
          </a:bodyPr>
          <a:lstStyle/>
          <a:p>
            <a:pPr algn="l"/>
            <a:r>
              <a:rPr sz="850" b="0" i="0">
                <a:solidFill>
                  <a:srgbClr val="B0A0D0"/>
                </a:solidFill>
              </a:rPr>
              <a:t>hopperc (192.168.4.1) -- displays received messages, allows replies.</a:t>
            </a:r>
          </a:p>
        </p:txBody>
      </p:sp>
      <p:sp>
        <p:nvSpPr>
          <p:cNvPr id="44" name="TextBox 43"/>
          <p:cNvSpPr txBox="1"/>
          <p:nvPr/>
        </p:nvSpPr>
        <p:spPr>
          <a:xfrm>
            <a:off x="6199632" y="4517136"/>
            <a:ext cx="2185416" cy="182880"/>
          </a:xfrm>
          <a:prstGeom prst="rect">
            <a:avLst/>
          </a:prstGeom>
          <a:noFill/>
        </p:spPr>
        <p:txBody>
          <a:bodyPr wrap="square" lIns="0" rIns="0" tIns="0" bIns="0">
            <a:spAutoFit/>
          </a:bodyPr>
          <a:lstStyle/>
          <a:p>
            <a:pPr algn="l"/>
            <a:r>
              <a:rPr sz="900" b="1" i="0">
                <a:solidFill>
                  <a:srgbClr val="FFFFFF"/>
                </a:solidFill>
              </a:rPr>
              <a:t>  Dead Zone:</a:t>
            </a:r>
          </a:p>
        </p:txBody>
      </p:sp>
      <p:sp>
        <p:nvSpPr>
          <p:cNvPr id="45" name="TextBox 44"/>
          <p:cNvSpPr txBox="1"/>
          <p:nvPr/>
        </p:nvSpPr>
        <p:spPr>
          <a:xfrm>
            <a:off x="6236208" y="4700016"/>
            <a:ext cx="2148840" cy="347472"/>
          </a:xfrm>
          <a:prstGeom prst="rect">
            <a:avLst/>
          </a:prstGeom>
          <a:noFill/>
        </p:spPr>
        <p:txBody>
          <a:bodyPr wrap="square" lIns="0" rIns="0" tIns="0" bIns="0">
            <a:spAutoFit/>
          </a:bodyPr>
          <a:lstStyle/>
          <a:p>
            <a:pPr algn="l"/>
            <a:r>
              <a:rPr sz="850" b="0" i="0">
                <a:solidFill>
                  <a:srgbClr val="B0A0D0"/>
                </a:solidFill>
              </a:rPr>
              <a:t>Unplugging simulates doctor entering elevator / RF dead zone.</a:t>
            </a:r>
          </a:p>
        </p:txBody>
      </p:sp>
      <p:sp>
        <p:nvSpPr>
          <p:cNvPr id="46" name="Rectangle 45"/>
          <p:cNvSpPr/>
          <p:nvPr/>
        </p:nvSpPr>
        <p:spPr>
          <a:xfrm>
            <a:off x="8732520" y="1572768"/>
            <a:ext cx="251460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860536" y="1664208"/>
            <a:ext cx="2258568" cy="384048"/>
          </a:xfrm>
          <a:prstGeom prst="rect">
            <a:avLst/>
          </a:prstGeom>
          <a:noFill/>
        </p:spPr>
        <p:txBody>
          <a:bodyPr wrap="square" lIns="0" rIns="0" tIns="0" bIns="0">
            <a:spAutoFit/>
          </a:bodyPr>
          <a:lstStyle/>
          <a:p>
            <a:pPr algn="l"/>
            <a:r>
              <a:rPr sz="1050" b="1" i="0">
                <a:solidFill>
                  <a:srgbClr val="F87171"/>
                </a:solidFill>
              </a:rPr>
              <a:t>Adversary Console
(Arduino Mega 2560)</a:t>
            </a:r>
          </a:p>
        </p:txBody>
      </p:sp>
      <p:sp>
        <p:nvSpPr>
          <p:cNvPr id="48" name="Rectangle 47"/>
          <p:cNvSpPr/>
          <p:nvPr/>
        </p:nvSpPr>
        <p:spPr>
          <a:xfrm>
            <a:off x="8860536" y="2084832"/>
            <a:ext cx="2258568"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97112" y="2176272"/>
            <a:ext cx="2185416" cy="182880"/>
          </a:xfrm>
          <a:prstGeom prst="rect">
            <a:avLst/>
          </a:prstGeom>
          <a:noFill/>
        </p:spPr>
        <p:txBody>
          <a:bodyPr wrap="square" lIns="0" rIns="0" tIns="0" bIns="0">
            <a:spAutoFit/>
          </a:bodyPr>
          <a:lstStyle/>
          <a:p>
            <a:pPr algn="l"/>
            <a:r>
              <a:rPr sz="900" b="1" i="0">
                <a:solidFill>
                  <a:srgbClr val="FFFFFF"/>
                </a:solidFill>
              </a:rPr>
              <a:t>  Hardware:</a:t>
            </a:r>
          </a:p>
        </p:txBody>
      </p:sp>
      <p:sp>
        <p:nvSpPr>
          <p:cNvPr id="50" name="TextBox 49"/>
          <p:cNvSpPr txBox="1"/>
          <p:nvPr/>
        </p:nvSpPr>
        <p:spPr>
          <a:xfrm>
            <a:off x="8933688" y="2359152"/>
            <a:ext cx="2148840" cy="347472"/>
          </a:xfrm>
          <a:prstGeom prst="rect">
            <a:avLst/>
          </a:prstGeom>
          <a:noFill/>
        </p:spPr>
        <p:txBody>
          <a:bodyPr wrap="square" lIns="0" rIns="0" tIns="0" bIns="0">
            <a:spAutoFit/>
          </a:bodyPr>
          <a:lstStyle/>
          <a:p>
            <a:pPr algn="l"/>
            <a:r>
              <a:rPr sz="850" b="0" i="0">
                <a:solidFill>
                  <a:srgbClr val="B0A0D0"/>
                </a:solidFill>
              </a:rPr>
              <a:t>Mega 2560 + nRF24L01+ PA/LNA (+20 dBm) + 3.5" TFT touch shield.</a:t>
            </a:r>
          </a:p>
        </p:txBody>
      </p:sp>
      <p:sp>
        <p:nvSpPr>
          <p:cNvPr id="51" name="TextBox 50"/>
          <p:cNvSpPr txBox="1"/>
          <p:nvPr/>
        </p:nvSpPr>
        <p:spPr>
          <a:xfrm>
            <a:off x="8897112" y="2761488"/>
            <a:ext cx="2185416" cy="182880"/>
          </a:xfrm>
          <a:prstGeom prst="rect">
            <a:avLst/>
          </a:prstGeom>
          <a:noFill/>
        </p:spPr>
        <p:txBody>
          <a:bodyPr wrap="square" lIns="0" rIns="0" tIns="0" bIns="0">
            <a:spAutoFit/>
          </a:bodyPr>
          <a:lstStyle/>
          <a:p>
            <a:pPr algn="l"/>
            <a:r>
              <a:rPr sz="900" b="1" i="0">
                <a:solidFill>
                  <a:srgbClr val="FFFFFF"/>
                </a:solidFill>
              </a:rPr>
              <a:t>  Spot:</a:t>
            </a:r>
          </a:p>
        </p:txBody>
      </p:sp>
      <p:sp>
        <p:nvSpPr>
          <p:cNvPr id="52" name="TextBox 51"/>
          <p:cNvSpPr txBox="1"/>
          <p:nvPr/>
        </p:nvSpPr>
        <p:spPr>
          <a:xfrm>
            <a:off x="8933688" y="2944368"/>
            <a:ext cx="2148840" cy="347472"/>
          </a:xfrm>
          <a:prstGeom prst="rect">
            <a:avLst/>
          </a:prstGeom>
          <a:noFill/>
        </p:spPr>
        <p:txBody>
          <a:bodyPr wrap="square" lIns="0" rIns="0" tIns="0" bIns="0">
            <a:spAutoFit/>
          </a:bodyPr>
          <a:lstStyle/>
          <a:p>
            <a:pPr algn="l"/>
            <a:r>
              <a:rPr sz="850" b="0" i="0">
                <a:solidFill>
                  <a:srgbClr val="B0A0D0"/>
                </a:solidFill>
              </a:rPr>
              <a:t>Locks onto a single channel with full-power continuous carrier.</a:t>
            </a:r>
          </a:p>
        </p:txBody>
      </p:sp>
      <p:sp>
        <p:nvSpPr>
          <p:cNvPr id="53" name="TextBox 52"/>
          <p:cNvSpPr txBox="1"/>
          <p:nvPr/>
        </p:nvSpPr>
        <p:spPr>
          <a:xfrm>
            <a:off x="8897112" y="3346704"/>
            <a:ext cx="2185416" cy="182880"/>
          </a:xfrm>
          <a:prstGeom prst="rect">
            <a:avLst/>
          </a:prstGeom>
          <a:noFill/>
        </p:spPr>
        <p:txBody>
          <a:bodyPr wrap="square" lIns="0" rIns="0" tIns="0" bIns="0">
            <a:spAutoFit/>
          </a:bodyPr>
          <a:lstStyle/>
          <a:p>
            <a:pPr algn="l"/>
            <a:r>
              <a:rPr sz="900" b="1" i="0">
                <a:solidFill>
                  <a:srgbClr val="FFFFFF"/>
                </a:solidFill>
              </a:rPr>
              <a:t>  Sweep:</a:t>
            </a:r>
          </a:p>
        </p:txBody>
      </p:sp>
      <p:sp>
        <p:nvSpPr>
          <p:cNvPr id="54" name="TextBox 53"/>
          <p:cNvSpPr txBox="1"/>
          <p:nvPr/>
        </p:nvSpPr>
        <p:spPr>
          <a:xfrm>
            <a:off x="8933688" y="3529584"/>
            <a:ext cx="2148840" cy="347472"/>
          </a:xfrm>
          <a:prstGeom prst="rect">
            <a:avLst/>
          </a:prstGeom>
          <a:noFill/>
        </p:spPr>
        <p:txBody>
          <a:bodyPr wrap="square" lIns="0" rIns="0" tIns="0" bIns="0">
            <a:spAutoFit/>
          </a:bodyPr>
          <a:lstStyle/>
          <a:p>
            <a:pPr algn="l"/>
            <a:r>
              <a:rPr sz="850" b="0" i="0">
                <a:solidFill>
                  <a:srgbClr val="B0A0D0"/>
                </a:solidFill>
              </a:rPr>
              <a:t>Fast-sweeps 124 channels at &lt;500 us per channel -- broadband noise floor.</a:t>
            </a:r>
          </a:p>
        </p:txBody>
      </p:sp>
      <p:sp>
        <p:nvSpPr>
          <p:cNvPr id="55" name="TextBox 54"/>
          <p:cNvSpPr txBox="1"/>
          <p:nvPr/>
        </p:nvSpPr>
        <p:spPr>
          <a:xfrm>
            <a:off x="8897112" y="3931920"/>
            <a:ext cx="2185416" cy="182880"/>
          </a:xfrm>
          <a:prstGeom prst="rect">
            <a:avLst/>
          </a:prstGeom>
          <a:noFill/>
        </p:spPr>
        <p:txBody>
          <a:bodyPr wrap="square" lIns="0" rIns="0" tIns="0" bIns="0">
            <a:spAutoFit/>
          </a:bodyPr>
          <a:lstStyle/>
          <a:p>
            <a:pPr algn="l"/>
            <a:r>
              <a:rPr sz="900" b="1" i="0">
                <a:solidFill>
                  <a:srgbClr val="FFFFFF"/>
                </a:solidFill>
              </a:rPr>
              <a:t>  Random:</a:t>
            </a:r>
          </a:p>
        </p:txBody>
      </p:sp>
      <p:sp>
        <p:nvSpPr>
          <p:cNvPr id="56" name="TextBox 55"/>
          <p:cNvSpPr txBox="1"/>
          <p:nvPr/>
        </p:nvSpPr>
        <p:spPr>
          <a:xfrm>
            <a:off x="8933688" y="4114800"/>
            <a:ext cx="2148840" cy="347472"/>
          </a:xfrm>
          <a:prstGeom prst="rect">
            <a:avLst/>
          </a:prstGeom>
          <a:noFill/>
        </p:spPr>
        <p:txBody>
          <a:bodyPr wrap="square" lIns="0" rIns="0" tIns="0" bIns="0">
            <a:spAutoFit/>
          </a:bodyPr>
          <a:lstStyle/>
          <a:p>
            <a:pPr algn="l"/>
            <a:r>
              <a:rPr sz="850" b="0" i="0">
                <a:solidFill>
                  <a:srgbClr val="B0A0D0"/>
                </a:solidFill>
              </a:rPr>
              <a:t>Hops pseudo-randomly across 124 channels every 5 ms.</a:t>
            </a:r>
          </a:p>
        </p:txBody>
      </p:sp>
      <p:sp>
        <p:nvSpPr>
          <p:cNvPr id="57" name="TextBox 56"/>
          <p:cNvSpPr txBox="1"/>
          <p:nvPr/>
        </p:nvSpPr>
        <p:spPr>
          <a:xfrm>
            <a:off x="8897112" y="4517136"/>
            <a:ext cx="2185416" cy="182880"/>
          </a:xfrm>
          <a:prstGeom prst="rect">
            <a:avLst/>
          </a:prstGeom>
          <a:noFill/>
        </p:spPr>
        <p:txBody>
          <a:bodyPr wrap="square" lIns="0" rIns="0" tIns="0" bIns="0">
            <a:spAutoFit/>
          </a:bodyPr>
          <a:lstStyle/>
          <a:p>
            <a:pPr algn="l"/>
            <a:r>
              <a:rPr sz="900" b="1" i="0">
                <a:solidFill>
                  <a:srgbClr val="FFFFFF"/>
                </a:solidFill>
              </a:rPr>
              <a:t>  Reactive:</a:t>
            </a:r>
          </a:p>
        </p:txBody>
      </p:sp>
      <p:sp>
        <p:nvSpPr>
          <p:cNvPr id="58" name="TextBox 57"/>
          <p:cNvSpPr txBox="1"/>
          <p:nvPr/>
        </p:nvSpPr>
        <p:spPr>
          <a:xfrm>
            <a:off x="8933688" y="4700016"/>
            <a:ext cx="2148840" cy="347472"/>
          </a:xfrm>
          <a:prstGeom prst="rect">
            <a:avLst/>
          </a:prstGeom>
          <a:noFill/>
        </p:spPr>
        <p:txBody>
          <a:bodyPr wrap="square" lIns="0" rIns="0" tIns="0" bIns="0">
            <a:spAutoFit/>
          </a:bodyPr>
          <a:lstStyle/>
          <a:p>
            <a:pPr algn="l"/>
            <a:r>
              <a:rPr sz="850" b="0" i="0">
                <a:solidFill>
                  <a:srgbClr val="B0A0D0"/>
                </a:solidFill>
              </a:rPr>
              <a:t>Detects active transmissions via RPD and re-jams within one slot.</a:t>
            </a:r>
          </a:p>
        </p:txBody>
      </p:sp>
      <p:sp>
        <p:nvSpPr>
          <p:cNvPr id="59" name="Rectangle 58"/>
          <p:cNvSpPr/>
          <p:nvPr/>
        </p:nvSpPr>
        <p:spPr>
          <a:xfrm>
            <a:off x="640080" y="5870448"/>
            <a:ext cx="10908792"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2960" y="5943600"/>
            <a:ext cx="10515600" cy="512064"/>
          </a:xfrm>
          <a:prstGeom prst="rect">
            <a:avLst/>
          </a:prstGeom>
          <a:noFill/>
        </p:spPr>
        <p:txBody>
          <a:bodyPr wrap="square" lIns="0" rIns="0" tIns="0" bIns="0">
            <a:spAutoFit/>
          </a:bodyPr>
          <a:lstStyle/>
          <a:p>
            <a:pPr algn="l"/>
            <a:r>
              <a:rPr sz="1000" b="0" i="0">
                <a:solidFill>
                  <a:srgbClr val="B0A0D0"/>
                </a:solidFill>
              </a:rPr>
              <a:t>Dual-Core Guarantee: Core 1 handles microsecond SPI radio timing with zero jitter. Core 0 handles WiFi and cloud networking. They never interfere with each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3  |  PROTOCOL &amp; MATHS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25 ms Slotted Frame &amp; Deterministic Channel Selection</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XORShift PRNG lockstep hopping, jammer collision bounds, and clock drift tolerance</a:t>
            </a:r>
          </a:p>
        </p:txBody>
      </p:sp>
      <p:sp>
        <p:nvSpPr>
          <p:cNvPr id="7" name="Rectangle 6"/>
          <p:cNvSpPr/>
          <p:nvPr/>
        </p:nvSpPr>
        <p:spPr>
          <a:xfrm>
            <a:off x="640080" y="1572768"/>
            <a:ext cx="530352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37744"/>
          </a:xfrm>
          <a:prstGeom prst="rect">
            <a:avLst/>
          </a:prstGeom>
          <a:noFill/>
        </p:spPr>
        <p:txBody>
          <a:bodyPr wrap="square" lIns="0" rIns="0" tIns="0" bIns="0">
            <a:spAutoFit/>
          </a:bodyPr>
          <a:lstStyle/>
          <a:p>
            <a:pPr algn="l"/>
            <a:r>
              <a:rPr sz="1100" b="1" i="0">
                <a:solidFill>
                  <a:srgbClr val="38BDF8"/>
                </a:solidFill>
              </a:rPr>
              <a:t>25 ms Dwell Phase Breakdown</a:t>
            </a:r>
          </a:p>
        </p:txBody>
      </p:sp>
      <p:sp>
        <p:nvSpPr>
          <p:cNvPr id="9" name="Rectangle 8"/>
          <p:cNvSpPr/>
          <p:nvPr/>
        </p:nvSpPr>
        <p:spPr>
          <a:xfrm>
            <a:off x="804672" y="193852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29968"/>
            <a:ext cx="4974336" cy="201168"/>
          </a:xfrm>
          <a:prstGeom prst="rect">
            <a:avLst/>
          </a:prstGeom>
          <a:noFill/>
        </p:spPr>
        <p:txBody>
          <a:bodyPr wrap="square" lIns="0" rIns="0" tIns="0" bIns="0">
            <a:spAutoFit/>
          </a:bodyPr>
          <a:lstStyle/>
          <a:p>
            <a:pPr algn="l"/>
            <a:r>
              <a:rPr sz="950" b="1" i="0">
                <a:solidFill>
                  <a:srgbClr val="FFFFFF"/>
                </a:solidFill>
              </a:rPr>
              <a:t>Phase 1  [ 0 - 2 ms ]   SYNC Beacon</a:t>
            </a:r>
          </a:p>
        </p:txBody>
      </p:sp>
      <p:sp>
        <p:nvSpPr>
          <p:cNvPr id="11" name="TextBox 10"/>
          <p:cNvSpPr txBox="1"/>
          <p:nvPr/>
        </p:nvSpPr>
        <p:spPr>
          <a:xfrm>
            <a:off x="877824" y="2249424"/>
            <a:ext cx="4828032" cy="420624"/>
          </a:xfrm>
          <a:prstGeom prst="rect">
            <a:avLst/>
          </a:prstGeom>
          <a:noFill/>
        </p:spPr>
        <p:txBody>
          <a:bodyPr wrap="square" lIns="0" rIns="0" tIns="0" bIns="0">
            <a:spAutoFit/>
          </a:bodyPr>
          <a:lstStyle/>
          <a:p>
            <a:pPr algn="l"/>
            <a:r>
              <a:rPr sz="880" b="0" i="0">
                <a:solidFill>
                  <a:srgbClr val="B0A0D0"/>
                </a:solidFill>
              </a:rPr>
              <a:t>Node B broadcasts: 32-bit hop index, 32-bit master timestamp, and 16-byte blacklist bitmap.
Nodes A and C calibrate their local clock phase -- no RF negotiation needed.</a:t>
            </a:r>
          </a:p>
        </p:txBody>
      </p:sp>
      <p:sp>
        <p:nvSpPr>
          <p:cNvPr id="12" name="TextBox 11"/>
          <p:cNvSpPr txBox="1"/>
          <p:nvPr/>
        </p:nvSpPr>
        <p:spPr>
          <a:xfrm>
            <a:off x="804672" y="2743200"/>
            <a:ext cx="4974336" cy="201168"/>
          </a:xfrm>
          <a:prstGeom prst="rect">
            <a:avLst/>
          </a:prstGeom>
          <a:noFill/>
        </p:spPr>
        <p:txBody>
          <a:bodyPr wrap="square" lIns="0" rIns="0" tIns="0" bIns="0">
            <a:spAutoFit/>
          </a:bodyPr>
          <a:lstStyle/>
          <a:p>
            <a:pPr algn="l"/>
            <a:r>
              <a:rPr sz="950" b="1" i="0">
                <a:solidFill>
                  <a:srgbClr val="FFFFFF"/>
                </a:solidFill>
              </a:rPr>
              <a:t>Phase 2  [ 2 - 13 ms ]  Forward:  A -&gt; B -&gt; C</a:t>
            </a:r>
          </a:p>
        </p:txBody>
      </p:sp>
      <p:sp>
        <p:nvSpPr>
          <p:cNvPr id="13" name="TextBox 12"/>
          <p:cNvSpPr txBox="1"/>
          <p:nvPr/>
        </p:nvSpPr>
        <p:spPr>
          <a:xfrm>
            <a:off x="877824" y="2962656"/>
            <a:ext cx="4828032" cy="420624"/>
          </a:xfrm>
          <a:prstGeom prst="rect">
            <a:avLst/>
          </a:prstGeom>
          <a:noFill/>
        </p:spPr>
        <p:txBody>
          <a:bodyPr wrap="square" lIns="0" rIns="0" tIns="0" bIns="0">
            <a:spAutoFit/>
          </a:bodyPr>
          <a:lstStyle/>
          <a:p>
            <a:pPr algn="l"/>
            <a:r>
              <a:rPr sz="880" b="0" i="0">
                <a:solidFill>
                  <a:srgbClr val="B0A0D0"/>
                </a:solidFill>
              </a:rPr>
              <a:t>Node A transmits 32-byte DATA frame to B. B stores it and sends ACK.
B then drains oldest queued frame to C. C sends ACK to B.</a:t>
            </a:r>
          </a:p>
        </p:txBody>
      </p:sp>
      <p:sp>
        <p:nvSpPr>
          <p:cNvPr id="14" name="TextBox 13"/>
          <p:cNvSpPr txBox="1"/>
          <p:nvPr/>
        </p:nvSpPr>
        <p:spPr>
          <a:xfrm>
            <a:off x="804672" y="3456432"/>
            <a:ext cx="4974336" cy="201168"/>
          </a:xfrm>
          <a:prstGeom prst="rect">
            <a:avLst/>
          </a:prstGeom>
          <a:noFill/>
        </p:spPr>
        <p:txBody>
          <a:bodyPr wrap="square" lIns="0" rIns="0" tIns="0" bIns="0">
            <a:spAutoFit/>
          </a:bodyPr>
          <a:lstStyle/>
          <a:p>
            <a:pPr algn="l"/>
            <a:r>
              <a:rPr sz="950" b="1" i="0">
                <a:solidFill>
                  <a:srgbClr val="FFFFFF"/>
                </a:solidFill>
              </a:rPr>
              <a:t>Phase 3  [ 13 - 24 ms ] Reverse:  C -&gt; B -&gt; A</a:t>
            </a:r>
          </a:p>
        </p:txBody>
      </p:sp>
      <p:sp>
        <p:nvSpPr>
          <p:cNvPr id="15" name="TextBox 14"/>
          <p:cNvSpPr txBox="1"/>
          <p:nvPr/>
        </p:nvSpPr>
        <p:spPr>
          <a:xfrm>
            <a:off x="877824" y="3675888"/>
            <a:ext cx="4828032" cy="420624"/>
          </a:xfrm>
          <a:prstGeom prst="rect">
            <a:avLst/>
          </a:prstGeom>
          <a:noFill/>
        </p:spPr>
        <p:txBody>
          <a:bodyPr wrap="square" lIns="0" rIns="0" tIns="0" bIns="0">
            <a:spAutoFit/>
          </a:bodyPr>
          <a:lstStyle/>
          <a:p>
            <a:pPr algn="l"/>
            <a:r>
              <a:rPr sz="880" b="0" i="0">
                <a:solidFill>
                  <a:srgbClr val="B0A0D0"/>
                </a:solidFill>
              </a:rPr>
              <a:t>Node C transmits return messages/telemetry to B. B stores and ACKs.
B drains reverse queue to A. A receives and ACKs.</a:t>
            </a:r>
          </a:p>
        </p:txBody>
      </p:sp>
      <p:sp>
        <p:nvSpPr>
          <p:cNvPr id="16" name="TextBox 15"/>
          <p:cNvSpPr txBox="1"/>
          <p:nvPr/>
        </p:nvSpPr>
        <p:spPr>
          <a:xfrm>
            <a:off x="804672" y="4169664"/>
            <a:ext cx="4974336" cy="201168"/>
          </a:xfrm>
          <a:prstGeom prst="rect">
            <a:avLst/>
          </a:prstGeom>
          <a:noFill/>
        </p:spPr>
        <p:txBody>
          <a:bodyPr wrap="square" lIns="0" rIns="0" tIns="0" bIns="0">
            <a:spAutoFit/>
          </a:bodyPr>
          <a:lstStyle/>
          <a:p>
            <a:pPr algn="l"/>
            <a:r>
              <a:rPr sz="950" b="1" i="0">
                <a:solidFill>
                  <a:srgbClr val="FFFFFF"/>
                </a:solidFill>
              </a:rPr>
              <a:t>Phase 4  [ 24 - 25 ms ] Carrier Scan</a:t>
            </a:r>
          </a:p>
        </p:txBody>
      </p:sp>
      <p:sp>
        <p:nvSpPr>
          <p:cNvPr id="17" name="TextBox 16"/>
          <p:cNvSpPr txBox="1"/>
          <p:nvPr/>
        </p:nvSpPr>
        <p:spPr>
          <a:xfrm>
            <a:off x="877824" y="4389120"/>
            <a:ext cx="4828032" cy="420624"/>
          </a:xfrm>
          <a:prstGeom prst="rect">
            <a:avLst/>
          </a:prstGeom>
          <a:noFill/>
        </p:spPr>
        <p:txBody>
          <a:bodyPr wrap="square" lIns="0" rIns="0" tIns="0" bIns="0">
            <a:spAutoFit/>
          </a:bodyPr>
          <a:lstStyle/>
          <a:p>
            <a:pPr algn="l"/>
            <a:r>
              <a:rPr sz="880" b="0" i="0">
                <a:solidFill>
                  <a:srgbClr val="B0A0D0"/>
                </a:solidFill>
              </a:rPr>
              <a:t>Node B reads RPD register during quiet tail. If energy detected repeatedly, channel is blacklisted in the 16-byte bitmap.
All nodes skip it on the very next hop.</a:t>
            </a:r>
          </a:p>
        </p:txBody>
      </p:sp>
      <p:sp>
        <p:nvSpPr>
          <p:cNvPr id="18" name="Rectangle 17"/>
          <p:cNvSpPr/>
          <p:nvPr/>
        </p:nvSpPr>
        <p:spPr>
          <a:xfrm>
            <a:off x="6199632" y="1572768"/>
            <a:ext cx="53492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664208"/>
            <a:ext cx="5020056" cy="237744"/>
          </a:xfrm>
          <a:prstGeom prst="rect">
            <a:avLst/>
          </a:prstGeom>
          <a:noFill/>
        </p:spPr>
        <p:txBody>
          <a:bodyPr wrap="square" lIns="0" rIns="0" tIns="0" bIns="0">
            <a:spAutoFit/>
          </a:bodyPr>
          <a:lstStyle/>
          <a:p>
            <a:pPr algn="l"/>
            <a:r>
              <a:rPr sz="1100" b="1" i="0">
                <a:solidFill>
                  <a:srgbClr val="FBBF24"/>
                </a:solidFill>
              </a:rPr>
              <a:t>Mathematical Models</a:t>
            </a:r>
          </a:p>
        </p:txBody>
      </p:sp>
      <p:sp>
        <p:nvSpPr>
          <p:cNvPr id="20" name="Rectangle 19"/>
          <p:cNvSpPr/>
          <p:nvPr/>
        </p:nvSpPr>
        <p:spPr>
          <a:xfrm>
            <a:off x="6364224" y="1938528"/>
            <a:ext cx="50200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2029968"/>
            <a:ext cx="5020056" cy="201168"/>
          </a:xfrm>
          <a:prstGeom prst="rect">
            <a:avLst/>
          </a:prstGeom>
          <a:noFill/>
        </p:spPr>
        <p:txBody>
          <a:bodyPr wrap="square" lIns="0" rIns="0" tIns="0" bIns="0">
            <a:spAutoFit/>
          </a:bodyPr>
          <a:lstStyle/>
          <a:p>
            <a:pPr algn="l"/>
            <a:r>
              <a:rPr sz="950" b="1" i="0">
                <a:solidFill>
                  <a:srgbClr val="FFFFFF"/>
                </a:solidFill>
              </a:rPr>
              <a:t>1. Channel Selection (XORShift32)</a:t>
            </a:r>
          </a:p>
        </p:txBody>
      </p:sp>
      <p:sp>
        <p:nvSpPr>
          <p:cNvPr id="22" name="TextBox 21"/>
          <p:cNvSpPr txBox="1"/>
          <p:nvPr/>
        </p:nvSpPr>
        <p:spPr>
          <a:xfrm>
            <a:off x="6437376" y="2249424"/>
            <a:ext cx="4846320" cy="603504"/>
          </a:xfrm>
          <a:prstGeom prst="rect">
            <a:avLst/>
          </a:prstGeom>
          <a:noFill/>
        </p:spPr>
        <p:txBody>
          <a:bodyPr wrap="square" lIns="0" rIns="0" tIns="0" bIns="0">
            <a:spAutoFit/>
          </a:bodyPr>
          <a:lstStyle/>
          <a:p>
            <a:pPr algn="l"/>
            <a:r>
              <a:rPr sz="880" b="0" i="0">
                <a:solidFill>
                  <a:srgbClr val="B0A0D0"/>
                </a:solidFill>
              </a:rPr>
              <a:t>State:    S[k+1] = XORShift32( S[k]  XOR  hop * 2654435761 )
Channel:  Ch = 2 + ( S[k+1] mod 124 )
If Blacklist[Ch] == 1, iterate PRNG without advancing hop counter.
All nodes run identical function -- lockstep with zero negotiation.</a:t>
            </a:r>
          </a:p>
        </p:txBody>
      </p:sp>
      <p:sp>
        <p:nvSpPr>
          <p:cNvPr id="23" name="TextBox 22"/>
          <p:cNvSpPr txBox="1"/>
          <p:nvPr/>
        </p:nvSpPr>
        <p:spPr>
          <a:xfrm>
            <a:off x="6364224" y="2944368"/>
            <a:ext cx="5020056" cy="201168"/>
          </a:xfrm>
          <a:prstGeom prst="rect">
            <a:avLst/>
          </a:prstGeom>
          <a:noFill/>
        </p:spPr>
        <p:txBody>
          <a:bodyPr wrap="square" lIns="0" rIns="0" tIns="0" bIns="0">
            <a:spAutoFit/>
          </a:bodyPr>
          <a:lstStyle/>
          <a:p>
            <a:pPr algn="l"/>
            <a:r>
              <a:rPr sz="950" b="1" i="0">
                <a:solidFill>
                  <a:srgbClr val="FFFFFF"/>
                </a:solidFill>
              </a:rPr>
              <a:t>2. Jammer Collision Bound</a:t>
            </a:r>
          </a:p>
        </p:txBody>
      </p:sp>
      <p:sp>
        <p:nvSpPr>
          <p:cNvPr id="24" name="TextBox 23"/>
          <p:cNvSpPr txBox="1"/>
          <p:nvPr/>
        </p:nvSpPr>
        <p:spPr>
          <a:xfrm>
            <a:off x="6437376" y="3163824"/>
            <a:ext cx="4846320" cy="603504"/>
          </a:xfrm>
          <a:prstGeom prst="rect">
            <a:avLst/>
          </a:prstGeom>
          <a:noFill/>
        </p:spPr>
        <p:txBody>
          <a:bodyPr wrap="square" lIns="0" rIns="0" tIns="0" bIns="0">
            <a:spAutoFit/>
          </a:bodyPr>
          <a:lstStyle/>
          <a:p>
            <a:pPr algn="l"/>
            <a:r>
              <a:rPr sz="880" b="0" i="0">
                <a:solidFill>
                  <a:srgbClr val="B0A0D0"/>
                </a:solidFill>
              </a:rPr>
              <a:t>P_collision = K_jammed / (124 - K_blacklisted)
As K_blacklisted grows, collision probability drops to 0.
After one detection cycle, jammer can never hit that channel again.</a:t>
            </a:r>
          </a:p>
        </p:txBody>
      </p:sp>
      <p:sp>
        <p:nvSpPr>
          <p:cNvPr id="25" name="TextBox 24"/>
          <p:cNvSpPr txBox="1"/>
          <p:nvPr/>
        </p:nvSpPr>
        <p:spPr>
          <a:xfrm>
            <a:off x="6364224" y="3858768"/>
            <a:ext cx="5020056" cy="201168"/>
          </a:xfrm>
          <a:prstGeom prst="rect">
            <a:avLst/>
          </a:prstGeom>
          <a:noFill/>
        </p:spPr>
        <p:txBody>
          <a:bodyPr wrap="square" lIns="0" rIns="0" tIns="0" bIns="0">
            <a:spAutoFit/>
          </a:bodyPr>
          <a:lstStyle/>
          <a:p>
            <a:pPr algn="l"/>
            <a:r>
              <a:rPr sz="950" b="1" i="0">
                <a:solidFill>
                  <a:srgbClr val="FFFFFF"/>
                </a:solidFill>
              </a:rPr>
              <a:t>3. Clock Drift Budget</a:t>
            </a:r>
          </a:p>
        </p:txBody>
      </p:sp>
      <p:sp>
        <p:nvSpPr>
          <p:cNvPr id="26" name="TextBox 25"/>
          <p:cNvSpPr txBox="1"/>
          <p:nvPr/>
        </p:nvSpPr>
        <p:spPr>
          <a:xfrm>
            <a:off x="6437376" y="4078224"/>
            <a:ext cx="4846320" cy="603504"/>
          </a:xfrm>
          <a:prstGeom prst="rect">
            <a:avLst/>
          </a:prstGeom>
          <a:noFill/>
        </p:spPr>
        <p:txBody>
          <a:bodyPr wrap="square" lIns="0" rIns="0" tIns="0" bIns="0">
            <a:spAutoFit/>
          </a:bodyPr>
          <a:lstStyle/>
          <a:p>
            <a:pPr algn="l"/>
            <a:r>
              <a:rPr sz="880" b="0" i="0">
                <a:solidFill>
                  <a:srgbClr val="B0A0D0"/>
                </a:solidFill>
              </a:rPr>
              <a:t>Delta_t = |t_master - t_local| &lt;= 1500 us  (well under 25000 us dwell).
Flywheel sustains lockstep for 40 consecutive missed beacons
before triggering a sliding-window re-synchronisation scan.</a:t>
            </a:r>
          </a:p>
        </p:txBody>
      </p:sp>
      <p:sp>
        <p:nvSpPr>
          <p:cNvPr id="27" name="Rectangle 26"/>
          <p:cNvSpPr/>
          <p:nvPr/>
        </p:nvSpPr>
        <p:spPr>
          <a:xfrm>
            <a:off x="640080" y="5870448"/>
            <a:ext cx="10908792"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943600"/>
            <a:ext cx="10515600" cy="512064"/>
          </a:xfrm>
          <a:prstGeom prst="rect">
            <a:avLst/>
          </a:prstGeom>
          <a:noFill/>
        </p:spPr>
        <p:txBody>
          <a:bodyPr wrap="square" lIns="0" rIns="0" tIns="0" bIns="0">
            <a:spAutoFit/>
          </a:bodyPr>
          <a:lstStyle/>
          <a:p>
            <a:pPr algn="l"/>
            <a:r>
              <a:rPr sz="1000" b="1" i="0">
                <a:solidFill>
                  <a:srgbClr val="38BDF8"/>
                </a:solidFill>
              </a:rPr>
              <a:t>32-byte Frame:  0x5A  |  Type (1B)  |  Src (1B)  |  Dst (1B)  |  Seq (1B)  |  HopIdx (1B)  |  Flags (1B)  |  CRC-8 (1B)  |  Payload (24B)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3  |  PROTOCOL ARCHITECTURE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Sync Recovery &amp; Desync Resolutions</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Three critical edge cases and the architectural fixes that guarantee lockstep stability</a:t>
            </a:r>
          </a:p>
        </p:txBody>
      </p:sp>
      <p:graphicFrame>
        <p:nvGraphicFramePr>
          <p:cNvPr id="7" name="Table 6"/>
          <p:cNvGraphicFramePr>
            <a:graphicFrameLocks noGrp="1"/>
          </p:cNvGraphicFramePr>
          <p:nvPr/>
        </p:nvGraphicFramePr>
        <p:xfrm>
          <a:off x="640080" y="1645920"/>
          <a:ext cx="10908791" cy="4160520"/>
        </p:xfrm>
        <a:graphic>
          <a:graphicData uri="http://schemas.openxmlformats.org/drawingml/2006/table">
            <a:tbl>
              <a:tblPr firstRow="1" bandRow="1">
                <a:tableStyleId>{5C22544A-7EE6-4342-B048-85BDC9FD1C3A}</a:tableStyleId>
              </a:tblPr>
              <a:tblGrid>
                <a:gridCol w="2743200"/>
                <a:gridCol w="4114800"/>
                <a:gridCol w="4050791"/>
              </a:tblGrid>
              <a:tr h="1040130">
                <a:tc>
                  <a:txBody>
                    <a:bodyPr/>
                    <a:lstStyle/>
                    <a:p>
                      <a:pPr>
                        <a:defRPr b="1" sz="1100">
                          <a:solidFill>
                            <a:srgbClr val="FFFFFF"/>
                          </a:solidFill>
                        </a:defRPr>
                      </a:pPr>
                      <a:r>
                        <a:t>Bug</a:t>
                      </a:r>
                    </a:p>
                  </a:txBody>
                  <a:tcPr>
                    <a:solidFill>
                      <a:srgbClr val="301070"/>
                    </a:solidFill>
                  </a:tcPr>
                </a:tc>
                <a:tc>
                  <a:txBody>
                    <a:bodyPr/>
                    <a:lstStyle/>
                    <a:p>
                      <a:pPr>
                        <a:defRPr b="1" sz="1100">
                          <a:solidFill>
                            <a:srgbClr val="FFFFFF"/>
                          </a:solidFill>
                        </a:defRPr>
                      </a:pPr>
                      <a:r>
                        <a:t>Why It Causes Desync</a:t>
                      </a:r>
                    </a:p>
                  </a:txBody>
                  <a:tcPr>
                    <a:solidFill>
                      <a:srgbClr val="301070"/>
                    </a:solidFill>
                  </a:tcPr>
                </a:tc>
                <a:tc>
                  <a:txBody>
                    <a:bodyPr/>
                    <a:lstStyle/>
                    <a:p>
                      <a:pPr>
                        <a:defRPr b="1" sz="1100">
                          <a:solidFill>
                            <a:srgbClr val="FFFFFF"/>
                          </a:solidFill>
                        </a:defRPr>
                      </a:pPr>
                      <a:r>
                        <a:t>Architectural Fix</a:t>
                      </a:r>
                    </a:p>
                  </a:txBody>
                  <a:tcPr>
                    <a:solidFill>
                      <a:srgbClr val="301070"/>
                    </a:solidFill>
                  </a:tcPr>
                </a:tc>
              </a:tr>
              <a:tr h="1040130">
                <a:tc>
                  <a:txBody>
                    <a:bodyPr/>
                    <a:lstStyle/>
                    <a:p>
                      <a:pPr>
                        <a:defRPr sz="1000" b="1">
                          <a:solidFill>
                            <a:srgbClr val="FFFFFF"/>
                          </a:solidFill>
                        </a:defRPr>
                      </a:pPr>
                      <a:r>
                        <a:t>1. SYNC only processed if radio.available() fires</a:t>
                      </a:r>
                    </a:p>
                  </a:txBody>
                  <a:tcPr>
                    <a:solidFill>
                      <a:srgbClr val="1E0C48"/>
                    </a:solidFill>
                  </a:tcPr>
                </a:tc>
                <a:tc>
                  <a:txBody>
                    <a:bodyPr/>
                    <a:lstStyle/>
                    <a:p>
                      <a:pPr>
                        <a:defRPr sz="1000">
                          <a:solidFill>
                            <a:srgbClr val="B0A0D0"/>
                          </a:solidFill>
                        </a:defRPr>
                      </a:pPr>
                      <a:r>
                        <a:t>If Node A is even 1 channel off due to accumulated drift, it misses ALL future SYNCs forever.</a:t>
                      </a:r>
                    </a:p>
                  </a:txBody>
                  <a:tcPr>
                    <a:solidFill>
                      <a:srgbClr val="1E0C48"/>
                    </a:solidFill>
                  </a:tcPr>
                </a:tc>
                <a:tc>
                  <a:txBody>
                    <a:bodyPr/>
                    <a:lstStyle/>
                    <a:p>
                      <a:pPr>
                        <a:defRPr sz="1000">
                          <a:solidFill>
                            <a:srgbClr val="FFFFFF"/>
                          </a:solidFill>
                        </a:defRPr>
                      </a:pPr>
                      <a:r>
                        <a:t>Add a periodic rendezvous: every 20th hop, Node B also broadcasts on a fixed backup channel.</a:t>
                      </a:r>
                    </a:p>
                  </a:txBody>
                  <a:tcPr>
                    <a:solidFill>
                      <a:srgbClr val="1E0C48"/>
                    </a:solidFill>
                  </a:tcPr>
                </a:tc>
              </a:tr>
              <a:tr h="1040130">
                <a:tc>
                  <a:txBody>
                    <a:bodyPr/>
                    <a:lstStyle/>
                    <a:p>
                      <a:pPr>
                        <a:defRPr sz="1000" b="1">
                          <a:solidFill>
                            <a:srgbClr val="FFFFFF"/>
                          </a:solidFill>
                        </a:defRPr>
                      </a:pPr>
                      <a:r>
                        <a:t>2. Hard clock jump on each SYNC</a:t>
                      </a:r>
                    </a:p>
                  </a:txBody>
                  <a:tcPr>
                    <a:solidFill>
                      <a:srgbClr val="221050"/>
                    </a:solidFill>
                  </a:tcPr>
                </a:tc>
                <a:tc>
                  <a:txBody>
                    <a:bodyPr/>
                    <a:lstStyle/>
                    <a:p>
                      <a:pPr>
                        <a:defRPr sz="1000">
                          <a:solidFill>
                            <a:srgbClr val="B0A0D0"/>
                          </a:solidFill>
                        </a:defRPr>
                      </a:pPr>
                      <a:r>
                        <a:t>Jumping the clock abruptly causes phase jitter.</a:t>
                      </a:r>
                    </a:p>
                  </a:txBody>
                  <a:tcPr>
                    <a:solidFill>
                      <a:srgbClr val="221050"/>
                    </a:solidFill>
                  </a:tcPr>
                </a:tc>
                <a:tc>
                  <a:txBody>
                    <a:bodyPr/>
                    <a:lstStyle/>
                    <a:p>
                      <a:pPr>
                        <a:defRPr sz="1000">
                          <a:solidFill>
                            <a:srgbClr val="FFFFFF"/>
                          </a:solidFill>
                        </a:defRPr>
                      </a:pPr>
                      <a:r>
                        <a:t>Use a weighted moving average:</a:t>
                      </a:r>
                      <a:br/>
                      <a:r>
                        <a:t>offset = 0.8 × old_offset + 0.2 × new_offset</a:t>
                      </a:r>
                    </a:p>
                  </a:txBody>
                  <a:tcPr>
                    <a:solidFill>
                      <a:srgbClr val="221050"/>
                    </a:solidFill>
                  </a:tcPr>
                </a:tc>
              </a:tr>
              <a:tr h="1040130">
                <a:tc>
                  <a:txBody>
                    <a:bodyPr/>
                    <a:lstStyle/>
                    <a:p>
                      <a:pPr>
                        <a:defRPr sz="1000" b="1">
                          <a:solidFill>
                            <a:srgbClr val="FFFFFF"/>
                          </a:solidFill>
                        </a:defRPr>
                      </a:pPr>
                      <a:r>
                        <a:t>3. Sync-loss timeout is 2.5 seconds</a:t>
                      </a:r>
                    </a:p>
                  </a:txBody>
                  <a:tcPr>
                    <a:solidFill>
                      <a:srgbClr val="1E0C48"/>
                    </a:solidFill>
                  </a:tcPr>
                </a:tc>
                <a:tc>
                  <a:txBody>
                    <a:bodyPr/>
                    <a:lstStyle/>
                    <a:p>
                      <a:pPr>
                        <a:defRPr sz="1000">
                          <a:solidFill>
                            <a:srgbClr val="B0A0D0"/>
                          </a:solidFill>
                        </a:defRPr>
                      </a:pPr>
                      <a:r>
                        <a:t>By 2.5s the drift is ~100 µs — too much to recover smoothly.</a:t>
                      </a:r>
                    </a:p>
                  </a:txBody>
                  <a:tcPr>
                    <a:solidFill>
                      <a:srgbClr val="1E0C48"/>
                    </a:solidFill>
                  </a:tcPr>
                </a:tc>
                <a:tc>
                  <a:txBody>
                    <a:bodyPr/>
                    <a:lstStyle/>
                    <a:p>
                      <a:pPr>
                        <a:defRPr sz="1000">
                          <a:solidFill>
                            <a:srgbClr val="FFFFFF"/>
                          </a:solidFill>
                        </a:defRPr>
                      </a:pPr>
                      <a:r>
                        <a:t>Shorten timeout to 500 ms and re-enter scan mode immediately.</a:t>
                      </a:r>
                    </a:p>
                  </a:txBody>
                  <a:tcPr>
                    <a:solidFill>
                      <a:srgbClr val="1E0C48"/>
                    </a:solidFill>
                  </a:tcPr>
                </a:tc>
              </a:tr>
            </a:tbl>
          </a:graphicData>
        </a:graphic>
      </p:graphicFrame>
      <p:sp>
        <p:nvSpPr>
          <p:cNvPr id="8" name="TextBox 7"/>
          <p:cNvSpPr txBox="1"/>
          <p:nvPr/>
        </p:nvSpPr>
        <p:spPr>
          <a:xfrm>
            <a:off x="640080" y="5943600"/>
            <a:ext cx="10908792" cy="256032"/>
          </a:xfrm>
          <a:prstGeom prst="rect">
            <a:avLst/>
          </a:prstGeom>
          <a:noFill/>
        </p:spPr>
        <p:txBody>
          <a:bodyPr wrap="square" lIns="0" rIns="0" tIns="0" bIns="0">
            <a:spAutoFit/>
          </a:bodyPr>
          <a:lstStyle/>
          <a:p>
            <a:pPr algn="l"/>
            <a:r>
              <a:rPr sz="950" b="0" i="1">
                <a:solidFill>
                  <a:srgbClr val="B0A0D0"/>
                </a:solidFill>
              </a:rPr>
              <a:t>These resolutions ensure the mesh can recover from deep jamming events without requiring a full network reset.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3  |  RF SPECTRUM &amp; MODULATION DETAILS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RF Frequency Range, Bandwidth &amp; Spectral Spread</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Detailed look at 124-channel span, GFSK modulation, and 2.4 GHz spectrum utilization</a:t>
            </a:r>
          </a:p>
        </p:txBody>
      </p:sp>
      <p:sp>
        <p:nvSpPr>
          <p:cNvPr id="7" name="Rectangle 6"/>
          <p:cNvSpPr/>
          <p:nvPr/>
        </p:nvSpPr>
        <p:spPr>
          <a:xfrm>
            <a:off x="640080"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19456"/>
          </a:xfrm>
          <a:prstGeom prst="rect">
            <a:avLst/>
          </a:prstGeom>
          <a:noFill/>
        </p:spPr>
        <p:txBody>
          <a:bodyPr wrap="square" lIns="0" rIns="0" tIns="0" bIns="0">
            <a:spAutoFit/>
          </a:bodyPr>
          <a:lstStyle/>
          <a:p>
            <a:pPr algn="l"/>
            <a:r>
              <a:rPr sz="1050" b="1" i="0">
                <a:solidFill>
                  <a:srgbClr val="38BDF8"/>
                </a:solidFill>
              </a:rPr>
              <a:t>1. Frequency Range &amp; Spectral Span</a:t>
            </a:r>
          </a:p>
        </p:txBody>
      </p:sp>
      <p:sp>
        <p:nvSpPr>
          <p:cNvPr id="9" name="Rectangle 8"/>
          <p:cNvSpPr/>
          <p:nvPr/>
        </p:nvSpPr>
        <p:spPr>
          <a:xfrm>
            <a:off x="804672"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011680"/>
            <a:ext cx="4901184" cy="182880"/>
          </a:xfrm>
          <a:prstGeom prst="rect">
            <a:avLst/>
          </a:prstGeom>
          <a:noFill/>
        </p:spPr>
        <p:txBody>
          <a:bodyPr wrap="square" lIns="0" rIns="0" tIns="0" bIns="0">
            <a:spAutoFit/>
          </a:bodyPr>
          <a:lstStyle/>
          <a:p>
            <a:pPr algn="l"/>
            <a:r>
              <a:rPr sz="900" b="1" i="0">
                <a:solidFill>
                  <a:srgbClr val="FFFFFF"/>
                </a:solidFill>
              </a:rPr>
              <a:t>- Formula:</a:t>
            </a:r>
          </a:p>
        </p:txBody>
      </p:sp>
      <p:sp>
        <p:nvSpPr>
          <p:cNvPr id="11" name="TextBox 10"/>
          <p:cNvSpPr txBox="1"/>
          <p:nvPr/>
        </p:nvSpPr>
        <p:spPr>
          <a:xfrm>
            <a:off x="960120" y="2194560"/>
            <a:ext cx="4782313" cy="320040"/>
          </a:xfrm>
          <a:prstGeom prst="rect">
            <a:avLst/>
          </a:prstGeom>
          <a:noFill/>
        </p:spPr>
        <p:txBody>
          <a:bodyPr wrap="square" lIns="0" rIns="0" tIns="0" bIns="0">
            <a:spAutoFit/>
          </a:bodyPr>
          <a:lstStyle/>
          <a:p>
            <a:pPr algn="l"/>
            <a:r>
              <a:rPr sz="850" b="0" i="0">
                <a:solidFill>
                  <a:srgbClr val="B0A0D0"/>
                </a:solidFill>
              </a:rPr>
              <a:t>f_RF = 2400 MHz + Channel Number</a:t>
            </a:r>
          </a:p>
        </p:txBody>
      </p:sp>
      <p:sp>
        <p:nvSpPr>
          <p:cNvPr id="12" name="TextBox 11"/>
          <p:cNvSpPr txBox="1"/>
          <p:nvPr/>
        </p:nvSpPr>
        <p:spPr>
          <a:xfrm>
            <a:off x="841248" y="2560320"/>
            <a:ext cx="4901184" cy="182880"/>
          </a:xfrm>
          <a:prstGeom prst="rect">
            <a:avLst/>
          </a:prstGeom>
          <a:noFill/>
        </p:spPr>
        <p:txBody>
          <a:bodyPr wrap="square" lIns="0" rIns="0" tIns="0" bIns="0">
            <a:spAutoFit/>
          </a:bodyPr>
          <a:lstStyle/>
          <a:p>
            <a:pPr algn="l"/>
            <a:r>
              <a:rPr sz="900" b="1" i="0">
                <a:solidFill>
                  <a:srgbClr val="FFFFFF"/>
                </a:solidFill>
              </a:rPr>
              <a:t>- Lowest Frequency:</a:t>
            </a:r>
          </a:p>
        </p:txBody>
      </p:sp>
      <p:sp>
        <p:nvSpPr>
          <p:cNvPr id="13" name="TextBox 12"/>
          <p:cNvSpPr txBox="1"/>
          <p:nvPr/>
        </p:nvSpPr>
        <p:spPr>
          <a:xfrm>
            <a:off x="960120" y="2743200"/>
            <a:ext cx="4782313" cy="320040"/>
          </a:xfrm>
          <a:prstGeom prst="rect">
            <a:avLst/>
          </a:prstGeom>
          <a:noFill/>
        </p:spPr>
        <p:txBody>
          <a:bodyPr wrap="square" lIns="0" rIns="0" tIns="0" bIns="0">
            <a:spAutoFit/>
          </a:bodyPr>
          <a:lstStyle/>
          <a:p>
            <a:pPr algn="l"/>
            <a:r>
              <a:rPr sz="850" b="0" i="0">
                <a:solidFill>
                  <a:srgbClr val="B0A0D0"/>
                </a:solidFill>
              </a:rPr>
              <a:t>2402 MHz (2.402 GHz) -- clears the lower 2.4G guard band</a:t>
            </a:r>
          </a:p>
        </p:txBody>
      </p:sp>
      <p:sp>
        <p:nvSpPr>
          <p:cNvPr id="14" name="TextBox 13"/>
          <p:cNvSpPr txBox="1"/>
          <p:nvPr/>
        </p:nvSpPr>
        <p:spPr>
          <a:xfrm>
            <a:off x="841248" y="3108960"/>
            <a:ext cx="4901184" cy="182880"/>
          </a:xfrm>
          <a:prstGeom prst="rect">
            <a:avLst/>
          </a:prstGeom>
          <a:noFill/>
        </p:spPr>
        <p:txBody>
          <a:bodyPr wrap="square" lIns="0" rIns="0" tIns="0" bIns="0">
            <a:spAutoFit/>
          </a:bodyPr>
          <a:lstStyle/>
          <a:p>
            <a:pPr algn="l"/>
            <a:r>
              <a:rPr sz="900" b="1" i="0">
                <a:solidFill>
                  <a:srgbClr val="FFFFFF"/>
                </a:solidFill>
              </a:rPr>
              <a:t>- Highest Frequency:</a:t>
            </a:r>
          </a:p>
        </p:txBody>
      </p:sp>
      <p:sp>
        <p:nvSpPr>
          <p:cNvPr id="15" name="TextBox 14"/>
          <p:cNvSpPr txBox="1"/>
          <p:nvPr/>
        </p:nvSpPr>
        <p:spPr>
          <a:xfrm>
            <a:off x="960120" y="3291840"/>
            <a:ext cx="4782313" cy="320040"/>
          </a:xfrm>
          <a:prstGeom prst="rect">
            <a:avLst/>
          </a:prstGeom>
          <a:noFill/>
        </p:spPr>
        <p:txBody>
          <a:bodyPr wrap="square" lIns="0" rIns="0" tIns="0" bIns="0">
            <a:spAutoFit/>
          </a:bodyPr>
          <a:lstStyle/>
          <a:p>
            <a:pPr algn="l"/>
            <a:r>
              <a:rPr sz="850" b="0" i="0">
                <a:solidFill>
                  <a:srgbClr val="B0A0D0"/>
                </a:solidFill>
              </a:rPr>
              <a:t>2525 MHz (2.525 GHz) -- spans the entire global ISM band</a:t>
            </a:r>
          </a:p>
        </p:txBody>
      </p:sp>
      <p:sp>
        <p:nvSpPr>
          <p:cNvPr id="16" name="TextBox 15"/>
          <p:cNvSpPr txBox="1"/>
          <p:nvPr/>
        </p:nvSpPr>
        <p:spPr>
          <a:xfrm>
            <a:off x="841248" y="3657600"/>
            <a:ext cx="4901184" cy="182880"/>
          </a:xfrm>
          <a:prstGeom prst="rect">
            <a:avLst/>
          </a:prstGeom>
          <a:noFill/>
        </p:spPr>
        <p:txBody>
          <a:bodyPr wrap="square" lIns="0" rIns="0" tIns="0" bIns="0">
            <a:spAutoFit/>
          </a:bodyPr>
          <a:lstStyle/>
          <a:p>
            <a:pPr algn="l"/>
            <a:r>
              <a:rPr sz="900" b="1" i="0">
                <a:solidFill>
                  <a:srgbClr val="FFFFFF"/>
                </a:solidFill>
              </a:rPr>
              <a:t>- Total Bandwidth:</a:t>
            </a:r>
          </a:p>
        </p:txBody>
      </p:sp>
      <p:sp>
        <p:nvSpPr>
          <p:cNvPr id="17" name="TextBox 16"/>
          <p:cNvSpPr txBox="1"/>
          <p:nvPr/>
        </p:nvSpPr>
        <p:spPr>
          <a:xfrm>
            <a:off x="960120" y="3840480"/>
            <a:ext cx="4782313" cy="320040"/>
          </a:xfrm>
          <a:prstGeom prst="rect">
            <a:avLst/>
          </a:prstGeom>
          <a:noFill/>
        </p:spPr>
        <p:txBody>
          <a:bodyPr wrap="square" lIns="0" rIns="0" tIns="0" bIns="0">
            <a:spAutoFit/>
          </a:bodyPr>
          <a:lstStyle/>
          <a:p>
            <a:pPr algn="l"/>
            <a:r>
              <a:rPr sz="850" b="0" i="0">
                <a:solidFill>
                  <a:srgbClr val="B0A0D0"/>
                </a:solidFill>
              </a:rPr>
              <a:t>123 MHz hopping bandwidth spread across 124 distinct channels (1 MHz spacing)</a:t>
            </a:r>
          </a:p>
        </p:txBody>
      </p:sp>
      <p:sp>
        <p:nvSpPr>
          <p:cNvPr id="18" name="Rectangle 17"/>
          <p:cNvSpPr/>
          <p:nvPr/>
        </p:nvSpPr>
        <p:spPr>
          <a:xfrm>
            <a:off x="6153912"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8504" y="1664208"/>
            <a:ext cx="4974336" cy="219456"/>
          </a:xfrm>
          <a:prstGeom prst="rect">
            <a:avLst/>
          </a:prstGeom>
          <a:noFill/>
        </p:spPr>
        <p:txBody>
          <a:bodyPr wrap="square" lIns="0" rIns="0" tIns="0" bIns="0">
            <a:spAutoFit/>
          </a:bodyPr>
          <a:lstStyle/>
          <a:p>
            <a:pPr algn="l"/>
            <a:r>
              <a:rPr sz="1050" b="1" i="0">
                <a:solidFill>
                  <a:srgbClr val="34D399"/>
                </a:solidFill>
              </a:rPr>
              <a:t>2. Channel Modulation &amp; Occupied Bandwidth</a:t>
            </a:r>
          </a:p>
        </p:txBody>
      </p:sp>
      <p:sp>
        <p:nvSpPr>
          <p:cNvPr id="20" name="Rectangle 19"/>
          <p:cNvSpPr/>
          <p:nvPr/>
        </p:nvSpPr>
        <p:spPr>
          <a:xfrm>
            <a:off x="6318504"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2011680"/>
            <a:ext cx="4901184" cy="182880"/>
          </a:xfrm>
          <a:prstGeom prst="rect">
            <a:avLst/>
          </a:prstGeom>
          <a:noFill/>
        </p:spPr>
        <p:txBody>
          <a:bodyPr wrap="square" lIns="0" rIns="0" tIns="0" bIns="0">
            <a:spAutoFit/>
          </a:bodyPr>
          <a:lstStyle/>
          <a:p>
            <a:pPr algn="l"/>
            <a:r>
              <a:rPr sz="900" b="1" i="0">
                <a:solidFill>
                  <a:srgbClr val="FFFFFF"/>
                </a:solidFill>
              </a:rPr>
              <a:t>- Air Data Rate:</a:t>
            </a:r>
          </a:p>
        </p:txBody>
      </p:sp>
      <p:sp>
        <p:nvSpPr>
          <p:cNvPr id="22" name="TextBox 21"/>
          <p:cNvSpPr txBox="1"/>
          <p:nvPr/>
        </p:nvSpPr>
        <p:spPr>
          <a:xfrm>
            <a:off x="6473952" y="2194560"/>
            <a:ext cx="4782313" cy="320040"/>
          </a:xfrm>
          <a:prstGeom prst="rect">
            <a:avLst/>
          </a:prstGeom>
          <a:noFill/>
        </p:spPr>
        <p:txBody>
          <a:bodyPr wrap="square" lIns="0" rIns="0" tIns="0" bIns="0">
            <a:spAutoFit/>
          </a:bodyPr>
          <a:lstStyle/>
          <a:p>
            <a:pPr algn="l"/>
            <a:r>
              <a:rPr sz="850" b="0" i="0">
                <a:solidFill>
                  <a:srgbClr val="B0A0D0"/>
                </a:solidFill>
              </a:rPr>
              <a:t>250 kbps (configured for maximum receiver sensitivity: -94 dBm and extended range)</a:t>
            </a:r>
          </a:p>
        </p:txBody>
      </p:sp>
      <p:sp>
        <p:nvSpPr>
          <p:cNvPr id="23" name="TextBox 22"/>
          <p:cNvSpPr txBox="1"/>
          <p:nvPr/>
        </p:nvSpPr>
        <p:spPr>
          <a:xfrm>
            <a:off x="6355080" y="2560320"/>
            <a:ext cx="4901184" cy="182880"/>
          </a:xfrm>
          <a:prstGeom prst="rect">
            <a:avLst/>
          </a:prstGeom>
          <a:noFill/>
        </p:spPr>
        <p:txBody>
          <a:bodyPr wrap="square" lIns="0" rIns="0" tIns="0" bIns="0">
            <a:spAutoFit/>
          </a:bodyPr>
          <a:lstStyle/>
          <a:p>
            <a:pPr algn="l"/>
            <a:r>
              <a:rPr sz="900" b="1" i="0">
                <a:solidFill>
                  <a:srgbClr val="FFFFFF"/>
                </a:solidFill>
              </a:rPr>
              <a:t>- Modulation Type:</a:t>
            </a:r>
          </a:p>
        </p:txBody>
      </p:sp>
      <p:sp>
        <p:nvSpPr>
          <p:cNvPr id="24" name="TextBox 23"/>
          <p:cNvSpPr txBox="1"/>
          <p:nvPr/>
        </p:nvSpPr>
        <p:spPr>
          <a:xfrm>
            <a:off x="6473952" y="2743200"/>
            <a:ext cx="4782313" cy="320040"/>
          </a:xfrm>
          <a:prstGeom prst="rect">
            <a:avLst/>
          </a:prstGeom>
          <a:noFill/>
        </p:spPr>
        <p:txBody>
          <a:bodyPr wrap="square" lIns="0" rIns="0" tIns="0" bIns="0">
            <a:spAutoFit/>
          </a:bodyPr>
          <a:lstStyle/>
          <a:p>
            <a:pPr algn="l"/>
            <a:r>
              <a:rPr sz="850" b="0" i="0">
                <a:solidFill>
                  <a:srgbClr val="B0A0D0"/>
                </a:solidFill>
              </a:rPr>
              <a:t>GFSK (Gaussian Frequency Shift Keying) -- constant-envelope, robust to amplitude distortion</a:t>
            </a:r>
          </a:p>
        </p:txBody>
      </p:sp>
      <p:sp>
        <p:nvSpPr>
          <p:cNvPr id="25" name="TextBox 24"/>
          <p:cNvSpPr txBox="1"/>
          <p:nvPr/>
        </p:nvSpPr>
        <p:spPr>
          <a:xfrm>
            <a:off x="6355080" y="3108960"/>
            <a:ext cx="4901184" cy="182880"/>
          </a:xfrm>
          <a:prstGeom prst="rect">
            <a:avLst/>
          </a:prstGeom>
          <a:noFill/>
        </p:spPr>
        <p:txBody>
          <a:bodyPr wrap="square" lIns="0" rIns="0" tIns="0" bIns="0">
            <a:spAutoFit/>
          </a:bodyPr>
          <a:lstStyle/>
          <a:p>
            <a:pPr algn="l"/>
            <a:r>
              <a:rPr sz="900" b="1" i="0">
                <a:solidFill>
                  <a:srgbClr val="FFFFFF"/>
                </a:solidFill>
              </a:rPr>
              <a:t>- Occupied BW:</a:t>
            </a:r>
          </a:p>
        </p:txBody>
      </p:sp>
      <p:sp>
        <p:nvSpPr>
          <p:cNvPr id="26" name="TextBox 25"/>
          <p:cNvSpPr txBox="1"/>
          <p:nvPr/>
        </p:nvSpPr>
        <p:spPr>
          <a:xfrm>
            <a:off x="6473952" y="3291840"/>
            <a:ext cx="4782313" cy="320040"/>
          </a:xfrm>
          <a:prstGeom prst="rect">
            <a:avLst/>
          </a:prstGeom>
          <a:noFill/>
        </p:spPr>
        <p:txBody>
          <a:bodyPr wrap="square" lIns="0" rIns="0" tIns="0" bIns="0">
            <a:spAutoFit/>
          </a:bodyPr>
          <a:lstStyle/>
          <a:p>
            <a:pPr algn="l"/>
            <a:r>
              <a:rPr sz="850" b="0" i="0">
                <a:solidFill>
                  <a:srgbClr val="B0A0D0"/>
                </a:solidFill>
              </a:rPr>
              <a:t>~1 MHz perfectly matched to the 1 MHz channel step size</a:t>
            </a:r>
          </a:p>
        </p:txBody>
      </p:sp>
      <p:sp>
        <p:nvSpPr>
          <p:cNvPr id="27" name="TextBox 26"/>
          <p:cNvSpPr txBox="1"/>
          <p:nvPr/>
        </p:nvSpPr>
        <p:spPr>
          <a:xfrm>
            <a:off x="6355080" y="3657600"/>
            <a:ext cx="4901184" cy="182880"/>
          </a:xfrm>
          <a:prstGeom prst="rect">
            <a:avLst/>
          </a:prstGeom>
          <a:noFill/>
        </p:spPr>
        <p:txBody>
          <a:bodyPr wrap="square" lIns="0" rIns="0" tIns="0" bIns="0">
            <a:spAutoFit/>
          </a:bodyPr>
          <a:lstStyle/>
          <a:p>
            <a:pPr algn="l"/>
            <a:r>
              <a:rPr sz="900" b="1" i="0">
                <a:solidFill>
                  <a:srgbClr val="FFFFFF"/>
                </a:solidFill>
              </a:rPr>
              <a:t>- Channel Spacing:</a:t>
            </a:r>
          </a:p>
        </p:txBody>
      </p:sp>
      <p:sp>
        <p:nvSpPr>
          <p:cNvPr id="28" name="TextBox 27"/>
          <p:cNvSpPr txBox="1"/>
          <p:nvPr/>
        </p:nvSpPr>
        <p:spPr>
          <a:xfrm>
            <a:off x="6473952" y="3840480"/>
            <a:ext cx="4782313" cy="320040"/>
          </a:xfrm>
          <a:prstGeom prst="rect">
            <a:avLst/>
          </a:prstGeom>
          <a:noFill/>
        </p:spPr>
        <p:txBody>
          <a:bodyPr wrap="square" lIns="0" rIns="0" tIns="0" bIns="0">
            <a:spAutoFit/>
          </a:bodyPr>
          <a:lstStyle/>
          <a:p>
            <a:pPr algn="l"/>
            <a:r>
              <a:rPr sz="850" b="0" i="0">
                <a:solidFill>
                  <a:srgbClr val="B0A0D0"/>
                </a:solidFill>
              </a:rPr>
              <a:t>1 MHz ensures zero co-channel interference between adjacent slots</a:t>
            </a:r>
          </a:p>
        </p:txBody>
      </p:sp>
      <p:sp>
        <p:nvSpPr>
          <p:cNvPr id="29" name="Rectangle 28"/>
          <p:cNvSpPr/>
          <p:nvPr/>
        </p:nvSpPr>
        <p:spPr>
          <a:xfrm>
            <a:off x="640080"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3977640"/>
            <a:ext cx="4974336" cy="219456"/>
          </a:xfrm>
          <a:prstGeom prst="rect">
            <a:avLst/>
          </a:prstGeom>
          <a:noFill/>
        </p:spPr>
        <p:txBody>
          <a:bodyPr wrap="square" lIns="0" rIns="0" tIns="0" bIns="0">
            <a:spAutoFit/>
          </a:bodyPr>
          <a:lstStyle/>
          <a:p>
            <a:pPr algn="l"/>
            <a:r>
              <a:rPr sz="1050" b="1" i="0">
                <a:solidFill>
                  <a:srgbClr val="FBBF24"/>
                </a:solidFill>
              </a:rPr>
              <a:t>3. FHSS Timing &amp; Hopping Dynamics</a:t>
            </a:r>
          </a:p>
        </p:txBody>
      </p:sp>
      <p:sp>
        <p:nvSpPr>
          <p:cNvPr id="31" name="Rectangle 30"/>
          <p:cNvSpPr/>
          <p:nvPr/>
        </p:nvSpPr>
        <p:spPr>
          <a:xfrm>
            <a:off x="804672"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4325112"/>
            <a:ext cx="4901184" cy="182880"/>
          </a:xfrm>
          <a:prstGeom prst="rect">
            <a:avLst/>
          </a:prstGeom>
          <a:noFill/>
        </p:spPr>
        <p:txBody>
          <a:bodyPr wrap="square" lIns="0" rIns="0" tIns="0" bIns="0">
            <a:spAutoFit/>
          </a:bodyPr>
          <a:lstStyle/>
          <a:p>
            <a:pPr algn="l"/>
            <a:r>
              <a:rPr sz="900" b="1" i="0">
                <a:solidFill>
                  <a:srgbClr val="FFFFFF"/>
                </a:solidFill>
              </a:rPr>
              <a:t>- Dwell Time (Td):</a:t>
            </a:r>
          </a:p>
        </p:txBody>
      </p:sp>
      <p:sp>
        <p:nvSpPr>
          <p:cNvPr id="33" name="TextBox 32"/>
          <p:cNvSpPr txBox="1"/>
          <p:nvPr/>
        </p:nvSpPr>
        <p:spPr>
          <a:xfrm>
            <a:off x="960120" y="4507992"/>
            <a:ext cx="4782313" cy="320040"/>
          </a:xfrm>
          <a:prstGeom prst="rect">
            <a:avLst/>
          </a:prstGeom>
          <a:noFill/>
        </p:spPr>
        <p:txBody>
          <a:bodyPr wrap="square" lIns="0" rIns="0" tIns="0" bIns="0">
            <a:spAutoFit/>
          </a:bodyPr>
          <a:lstStyle/>
          <a:p>
            <a:pPr algn="l"/>
            <a:r>
              <a:rPr sz="850" b="0" i="0">
                <a:solidFill>
                  <a:srgbClr val="B0A0D0"/>
                </a:solidFill>
              </a:rPr>
              <a:t>25 ms -- time spent on a single frequency before hopping</a:t>
            </a:r>
          </a:p>
        </p:txBody>
      </p:sp>
      <p:sp>
        <p:nvSpPr>
          <p:cNvPr id="34" name="TextBox 33"/>
          <p:cNvSpPr txBox="1"/>
          <p:nvPr/>
        </p:nvSpPr>
        <p:spPr>
          <a:xfrm>
            <a:off x="841248" y="4873752"/>
            <a:ext cx="4901184" cy="182880"/>
          </a:xfrm>
          <a:prstGeom prst="rect">
            <a:avLst/>
          </a:prstGeom>
          <a:noFill/>
        </p:spPr>
        <p:txBody>
          <a:bodyPr wrap="square" lIns="0" rIns="0" tIns="0" bIns="0">
            <a:spAutoFit/>
          </a:bodyPr>
          <a:lstStyle/>
          <a:p>
            <a:pPr algn="l"/>
            <a:r>
              <a:rPr sz="900" b="1" i="0">
                <a:solidFill>
                  <a:srgbClr val="FFFFFF"/>
                </a:solidFill>
              </a:rPr>
              <a:t>- Hopping Rate:</a:t>
            </a:r>
          </a:p>
        </p:txBody>
      </p:sp>
      <p:sp>
        <p:nvSpPr>
          <p:cNvPr id="35" name="TextBox 34"/>
          <p:cNvSpPr txBox="1"/>
          <p:nvPr/>
        </p:nvSpPr>
        <p:spPr>
          <a:xfrm>
            <a:off x="960120" y="5056632"/>
            <a:ext cx="4782313" cy="320040"/>
          </a:xfrm>
          <a:prstGeom prst="rect">
            <a:avLst/>
          </a:prstGeom>
          <a:noFill/>
        </p:spPr>
        <p:txBody>
          <a:bodyPr wrap="square" lIns="0" rIns="0" tIns="0" bIns="0">
            <a:spAutoFit/>
          </a:bodyPr>
          <a:lstStyle/>
          <a:p>
            <a:pPr algn="l"/>
            <a:r>
              <a:rPr sz="850" b="0" i="0">
                <a:solidFill>
                  <a:srgbClr val="B0A0D0"/>
                </a:solidFill>
              </a:rPr>
              <a:t>40 hops/second (1000 ms / 25 ms)</a:t>
            </a:r>
          </a:p>
        </p:txBody>
      </p:sp>
      <p:sp>
        <p:nvSpPr>
          <p:cNvPr id="36" name="TextBox 35"/>
          <p:cNvSpPr txBox="1"/>
          <p:nvPr/>
        </p:nvSpPr>
        <p:spPr>
          <a:xfrm>
            <a:off x="841248" y="5422392"/>
            <a:ext cx="4901184" cy="182880"/>
          </a:xfrm>
          <a:prstGeom prst="rect">
            <a:avLst/>
          </a:prstGeom>
          <a:noFill/>
        </p:spPr>
        <p:txBody>
          <a:bodyPr wrap="square" lIns="0" rIns="0" tIns="0" bIns="0">
            <a:spAutoFit/>
          </a:bodyPr>
          <a:lstStyle/>
          <a:p>
            <a:pPr algn="l"/>
            <a:r>
              <a:rPr sz="900" b="1" i="0">
                <a:solidFill>
                  <a:srgbClr val="FFFFFF"/>
                </a:solidFill>
              </a:rPr>
              <a:t>- PRNG Algorithm:</a:t>
            </a:r>
          </a:p>
        </p:txBody>
      </p:sp>
      <p:sp>
        <p:nvSpPr>
          <p:cNvPr id="37" name="TextBox 36"/>
          <p:cNvSpPr txBox="1"/>
          <p:nvPr/>
        </p:nvSpPr>
        <p:spPr>
          <a:xfrm>
            <a:off x="960120" y="5605272"/>
            <a:ext cx="4782313" cy="320040"/>
          </a:xfrm>
          <a:prstGeom prst="rect">
            <a:avLst/>
          </a:prstGeom>
          <a:noFill/>
        </p:spPr>
        <p:txBody>
          <a:bodyPr wrap="square" lIns="0" rIns="0" tIns="0" bIns="0">
            <a:spAutoFit/>
          </a:bodyPr>
          <a:lstStyle/>
          <a:p>
            <a:pPr algn="l"/>
            <a:r>
              <a:rPr sz="850" b="0" i="0">
                <a:solidFill>
                  <a:srgbClr val="B0A0D0"/>
                </a:solidFill>
              </a:rPr>
              <a:t>32-bit XOR-Shift PRNG seeded with 0xC0FFEE01 (mathematically unpredictable)</a:t>
            </a:r>
          </a:p>
        </p:txBody>
      </p:sp>
      <p:sp>
        <p:nvSpPr>
          <p:cNvPr id="38" name="TextBox 37"/>
          <p:cNvSpPr txBox="1"/>
          <p:nvPr/>
        </p:nvSpPr>
        <p:spPr>
          <a:xfrm>
            <a:off x="841248" y="5971032"/>
            <a:ext cx="4901184" cy="182880"/>
          </a:xfrm>
          <a:prstGeom prst="rect">
            <a:avLst/>
          </a:prstGeom>
          <a:noFill/>
        </p:spPr>
        <p:txBody>
          <a:bodyPr wrap="square" lIns="0" rIns="0" tIns="0" bIns="0">
            <a:spAutoFit/>
          </a:bodyPr>
          <a:lstStyle/>
          <a:p>
            <a:pPr algn="l"/>
            <a:r>
              <a:rPr sz="900" b="1" i="0">
                <a:solidFill>
                  <a:srgbClr val="FFFFFF"/>
                </a:solidFill>
              </a:rPr>
              <a:t>- Dynamic Blacklist:</a:t>
            </a:r>
          </a:p>
        </p:txBody>
      </p:sp>
      <p:sp>
        <p:nvSpPr>
          <p:cNvPr id="39" name="TextBox 38"/>
          <p:cNvSpPr txBox="1"/>
          <p:nvPr/>
        </p:nvSpPr>
        <p:spPr>
          <a:xfrm>
            <a:off x="960120" y="6153912"/>
            <a:ext cx="4782313" cy="320040"/>
          </a:xfrm>
          <a:prstGeom prst="rect">
            <a:avLst/>
          </a:prstGeom>
          <a:noFill/>
        </p:spPr>
        <p:txBody>
          <a:bodyPr wrap="square" lIns="0" rIns="0" tIns="0" bIns="0">
            <a:spAutoFit/>
          </a:bodyPr>
          <a:lstStyle/>
          <a:p>
            <a:pPr algn="l"/>
            <a:r>
              <a:rPr sz="850" b="0" i="0">
                <a:solidFill>
                  <a:srgbClr val="B0A0D0"/>
                </a:solidFill>
              </a:rPr>
              <a:t>Real-time 16-byte bitmask flags active Wi-Fi and jammers to skip in lockstep</a:t>
            </a:r>
          </a:p>
        </p:txBody>
      </p:sp>
      <p:sp>
        <p:nvSpPr>
          <p:cNvPr id="40" name="Rectangle 39"/>
          <p:cNvSpPr/>
          <p:nvPr/>
        </p:nvSpPr>
        <p:spPr>
          <a:xfrm>
            <a:off x="6153912"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8504" y="3977640"/>
            <a:ext cx="4974336" cy="219456"/>
          </a:xfrm>
          <a:prstGeom prst="rect">
            <a:avLst/>
          </a:prstGeom>
          <a:noFill/>
        </p:spPr>
        <p:txBody>
          <a:bodyPr wrap="square" lIns="0" rIns="0" tIns="0" bIns="0">
            <a:spAutoFit/>
          </a:bodyPr>
          <a:lstStyle/>
          <a:p>
            <a:pPr algn="l"/>
            <a:r>
              <a:rPr sz="1050" b="1" i="0">
                <a:solidFill>
                  <a:srgbClr val="A060FF"/>
                </a:solidFill>
              </a:rPr>
              <a:t>4. Spectrum Visualization</a:t>
            </a:r>
          </a:p>
        </p:txBody>
      </p:sp>
      <p:sp>
        <p:nvSpPr>
          <p:cNvPr id="42" name="Rectangle 41"/>
          <p:cNvSpPr/>
          <p:nvPr/>
        </p:nvSpPr>
        <p:spPr>
          <a:xfrm>
            <a:off x="6318504"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5080" y="4325112"/>
            <a:ext cx="4901184" cy="1005840"/>
          </a:xfrm>
          <a:prstGeom prst="rect">
            <a:avLst/>
          </a:prstGeom>
          <a:noFill/>
        </p:spPr>
        <p:txBody>
          <a:bodyPr wrap="square" lIns="0" rIns="0" tIns="0" bIns="0">
            <a:spAutoFit/>
          </a:bodyPr>
          <a:lstStyle/>
          <a:p>
            <a:r>
              <a:rPr sz="850">
                <a:solidFill>
                  <a:srgbClr val="38BDF8"/>
                </a:solidFill>
                <a:latin typeface="Courier New"/>
              </a:rPr>
              <a:t>2.400 GHz              2.4835 GHz (Wi-Fi Band End)            2.525 GHz
   |                                |                                   |
   +--[CH 2: 2402 MHz] -------------+---------------------- [CH 125: 2525 MHz]
   |                                |
   v                                v
[Standard 2.4G Wi-Fi: CH 1,6,11]       [Upper Industrial Spectrum]
(Blacklisted when congested/jammed)    (Clean, high-throughput FHSS hops)</a:t>
            </a:r>
          </a:p>
        </p:txBody>
      </p:sp>
      <p:sp>
        <p:nvSpPr>
          <p:cNvPr id="44" name="TextBox 43"/>
          <p:cNvSpPr txBox="1"/>
          <p:nvPr/>
        </p:nvSpPr>
        <p:spPr>
          <a:xfrm>
            <a:off x="6355080" y="5257800"/>
            <a:ext cx="4901184" cy="640080"/>
          </a:xfrm>
          <a:prstGeom prst="rect">
            <a:avLst/>
          </a:prstGeom>
          <a:noFill/>
        </p:spPr>
        <p:txBody>
          <a:bodyPr wrap="square" lIns="0" rIns="0" tIns="0" bIns="0">
            <a:spAutoFit/>
          </a:bodyPr>
          <a:lstStyle/>
          <a:p>
            <a:pPr algn="l"/>
            <a:r>
              <a:rPr sz="850" b="0" i="1">
                <a:solidFill>
                  <a:srgbClr val="B0A0D0"/>
                </a:solidFill>
              </a:rPr>
              <a:t>Why this matters: Wi-Fi routers &amp; Bluetooth operate exclusively between 2.400 and 2.4835 GHz. HopperNet hops all the way up to 2.525 GHz (Channels 84-125), communicating even when the commercial Wi-Fi band is congested or jammed.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4  |  IMPLEMENTATION -- FIRMWARE &amp; HARDWARE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Embedded Firmware, Circuit Design &amp; Jammer Console</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Complete C/C++ codebase compiled on ESP32, Arduino Due ARM, and Mega 2560 AVR</a:t>
            </a:r>
          </a:p>
        </p:txBody>
      </p:sp>
      <p:sp>
        <p:nvSpPr>
          <p:cNvPr id="7" name="Rectangle 6"/>
          <p:cNvSpPr/>
          <p:nvPr/>
        </p:nvSpPr>
        <p:spPr>
          <a:xfrm>
            <a:off x="640080"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2962656" cy="237744"/>
          </a:xfrm>
          <a:prstGeom prst="rect">
            <a:avLst/>
          </a:prstGeom>
          <a:noFill/>
        </p:spPr>
        <p:txBody>
          <a:bodyPr wrap="square" lIns="0" rIns="0" tIns="0" bIns="0">
            <a:spAutoFit/>
          </a:bodyPr>
          <a:lstStyle/>
          <a:p>
            <a:pPr algn="l"/>
            <a:r>
              <a:rPr sz="1050" b="1" i="0">
                <a:solidFill>
                  <a:srgbClr val="38BDF8"/>
                </a:solidFill>
              </a:rPr>
              <a:t>Firmware Modules</a:t>
            </a:r>
          </a:p>
        </p:txBody>
      </p:sp>
      <p:sp>
        <p:nvSpPr>
          <p:cNvPr id="9" name="Rectangle 8"/>
          <p:cNvSpPr/>
          <p:nvPr/>
        </p:nvSpPr>
        <p:spPr>
          <a:xfrm>
            <a:off x="804672"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48256"/>
            <a:ext cx="2962656" cy="182880"/>
          </a:xfrm>
          <a:prstGeom prst="rect">
            <a:avLst/>
          </a:prstGeom>
          <a:noFill/>
        </p:spPr>
        <p:txBody>
          <a:bodyPr wrap="square" lIns="0" rIns="0" tIns="0" bIns="0">
            <a:spAutoFit/>
          </a:bodyPr>
          <a:lstStyle/>
          <a:p>
            <a:pPr algn="l"/>
            <a:r>
              <a:rPr sz="900" b="1" i="0">
                <a:solidFill>
                  <a:srgbClr val="FFFFFF"/>
                </a:solidFill>
              </a:rPr>
              <a:t>  Shared FHSS Library</a:t>
            </a:r>
          </a:p>
        </p:txBody>
      </p:sp>
      <p:sp>
        <p:nvSpPr>
          <p:cNvPr id="11" name="TextBox 10"/>
          <p:cNvSpPr txBox="1"/>
          <p:nvPr/>
        </p:nvSpPr>
        <p:spPr>
          <a:xfrm>
            <a:off x="877824" y="2240280"/>
            <a:ext cx="2889504" cy="365760"/>
          </a:xfrm>
          <a:prstGeom prst="rect">
            <a:avLst/>
          </a:prstGeom>
          <a:noFill/>
        </p:spPr>
        <p:txBody>
          <a:bodyPr wrap="square" lIns="0" rIns="0" tIns="0" bIns="0">
            <a:spAutoFit/>
          </a:bodyPr>
          <a:lstStyle/>
          <a:p>
            <a:pPr algn="l"/>
            <a:r>
              <a:rPr sz="850" b="0" i="0">
                <a:solidFill>
                  <a:srgbClr val="B0A0D0"/>
                </a:solidFill>
              </a:rPr>
              <a:t>32-byte frame parser, XORShift32 PRNG, CRC-8 (poly 0x07), and 128-bit blacklist bitmap API.</a:t>
            </a:r>
          </a:p>
        </p:txBody>
      </p:sp>
      <p:sp>
        <p:nvSpPr>
          <p:cNvPr id="12" name="TextBox 11"/>
          <p:cNvSpPr txBox="1"/>
          <p:nvPr/>
        </p:nvSpPr>
        <p:spPr>
          <a:xfrm>
            <a:off x="804672" y="2679192"/>
            <a:ext cx="2962656" cy="182880"/>
          </a:xfrm>
          <a:prstGeom prst="rect">
            <a:avLst/>
          </a:prstGeom>
          <a:noFill/>
        </p:spPr>
        <p:txBody>
          <a:bodyPr wrap="square" lIns="0" rIns="0" tIns="0" bIns="0">
            <a:spAutoFit/>
          </a:bodyPr>
          <a:lstStyle/>
          <a:p>
            <a:pPr algn="l"/>
            <a:r>
              <a:rPr sz="900" b="1" i="0">
                <a:solidFill>
                  <a:srgbClr val="FFFFFF"/>
                </a:solidFill>
              </a:rPr>
              <a:t>  Source Node Firmware</a:t>
            </a:r>
          </a:p>
        </p:txBody>
      </p:sp>
      <p:sp>
        <p:nvSpPr>
          <p:cNvPr id="13" name="TextBox 12"/>
          <p:cNvSpPr txBox="1"/>
          <p:nvPr/>
        </p:nvSpPr>
        <p:spPr>
          <a:xfrm>
            <a:off x="877824" y="2871216"/>
            <a:ext cx="2889504" cy="365760"/>
          </a:xfrm>
          <a:prstGeom prst="rect">
            <a:avLst/>
          </a:prstGeom>
          <a:noFill/>
        </p:spPr>
        <p:txBody>
          <a:bodyPr wrap="square" lIns="0" rIns="0" tIns="0" bIns="0">
            <a:spAutoFit/>
          </a:bodyPr>
          <a:lstStyle/>
          <a:p>
            <a:pPr algn="l"/>
            <a:r>
              <a:rPr sz="850" b="0" i="0">
                <a:solidFill>
                  <a:srgbClr val="B0A0D0"/>
                </a:solidFill>
              </a:rPr>
              <a:t>Dual-core ESP32: Core 1 drives SPI hop timing, Core 0 polls Supabase REST for outbound messages.</a:t>
            </a:r>
          </a:p>
        </p:txBody>
      </p:sp>
      <p:sp>
        <p:nvSpPr>
          <p:cNvPr id="14" name="TextBox 13"/>
          <p:cNvSpPr txBox="1"/>
          <p:nvPr/>
        </p:nvSpPr>
        <p:spPr>
          <a:xfrm>
            <a:off x="804672" y="3310128"/>
            <a:ext cx="2962656" cy="182880"/>
          </a:xfrm>
          <a:prstGeom prst="rect">
            <a:avLst/>
          </a:prstGeom>
          <a:noFill/>
        </p:spPr>
        <p:txBody>
          <a:bodyPr wrap="square" lIns="0" rIns="0" tIns="0" bIns="0">
            <a:spAutoFit/>
          </a:bodyPr>
          <a:lstStyle/>
          <a:p>
            <a:pPr algn="l"/>
            <a:r>
              <a:rPr sz="900" b="1" i="0">
                <a:solidFill>
                  <a:srgbClr val="FFFFFF"/>
                </a:solidFill>
              </a:rPr>
              <a:t>  Relay Node Firmware</a:t>
            </a:r>
          </a:p>
        </p:txBody>
      </p:sp>
      <p:sp>
        <p:nvSpPr>
          <p:cNvPr id="15" name="TextBox 14"/>
          <p:cNvSpPr txBox="1"/>
          <p:nvPr/>
        </p:nvSpPr>
        <p:spPr>
          <a:xfrm>
            <a:off x="877824" y="3502152"/>
            <a:ext cx="2889504" cy="365760"/>
          </a:xfrm>
          <a:prstGeom prst="rect">
            <a:avLst/>
          </a:prstGeom>
          <a:noFill/>
        </p:spPr>
        <p:txBody>
          <a:bodyPr wrap="square" lIns="0" rIns="0" tIns="0" bIns="0">
            <a:spAutoFit/>
          </a:bodyPr>
          <a:lstStyle/>
          <a:p>
            <a:pPr algn="l"/>
            <a:r>
              <a:rPr sz="850" b="0" i="0">
                <a:solidFill>
                  <a:srgbClr val="B0A0D0"/>
                </a:solidFill>
              </a:rPr>
              <a:t>Master clock beacon, SRAM FIFO ring buffer, I2C LCD driver, RPD quiet-tail carrier detection, and SPIFFS flash paging.</a:t>
            </a:r>
          </a:p>
        </p:txBody>
      </p:sp>
      <p:sp>
        <p:nvSpPr>
          <p:cNvPr id="16" name="TextBox 15"/>
          <p:cNvSpPr txBox="1"/>
          <p:nvPr/>
        </p:nvSpPr>
        <p:spPr>
          <a:xfrm>
            <a:off x="804672" y="3941064"/>
            <a:ext cx="2962656" cy="182880"/>
          </a:xfrm>
          <a:prstGeom prst="rect">
            <a:avLst/>
          </a:prstGeom>
          <a:noFill/>
        </p:spPr>
        <p:txBody>
          <a:bodyPr wrap="square" lIns="0" rIns="0" tIns="0" bIns="0">
            <a:spAutoFit/>
          </a:bodyPr>
          <a:lstStyle/>
          <a:p>
            <a:pPr algn="l"/>
            <a:r>
              <a:rPr sz="900" b="1" i="0">
                <a:solidFill>
                  <a:srgbClr val="FFFFFF"/>
                </a:solidFill>
              </a:rPr>
              <a:t>  Destination Node Firmware</a:t>
            </a:r>
          </a:p>
        </p:txBody>
      </p:sp>
      <p:sp>
        <p:nvSpPr>
          <p:cNvPr id="17" name="TextBox 16"/>
          <p:cNvSpPr txBox="1"/>
          <p:nvPr/>
        </p:nvSpPr>
        <p:spPr>
          <a:xfrm>
            <a:off x="877824" y="4133088"/>
            <a:ext cx="2889504" cy="365760"/>
          </a:xfrm>
          <a:prstGeom prst="rect">
            <a:avLst/>
          </a:prstGeom>
          <a:noFill/>
        </p:spPr>
        <p:txBody>
          <a:bodyPr wrap="square" lIns="0" rIns="0" tIns="0" bIns="0">
            <a:spAutoFit/>
          </a:bodyPr>
          <a:lstStyle/>
          <a:p>
            <a:pPr algn="l"/>
            <a:r>
              <a:rPr sz="850" b="0" i="0">
                <a:solidFill>
                  <a:srgbClr val="B0A0D0"/>
                </a:solidFill>
              </a:rPr>
              <a:t>Auto-generates ACK frames on packet capture and posts delivery confirmation to cloud database.</a:t>
            </a:r>
          </a:p>
        </p:txBody>
      </p:sp>
      <p:sp>
        <p:nvSpPr>
          <p:cNvPr id="18" name="TextBox 17"/>
          <p:cNvSpPr txBox="1"/>
          <p:nvPr/>
        </p:nvSpPr>
        <p:spPr>
          <a:xfrm>
            <a:off x="804672" y="4572000"/>
            <a:ext cx="2962656" cy="182880"/>
          </a:xfrm>
          <a:prstGeom prst="rect">
            <a:avLst/>
          </a:prstGeom>
          <a:noFill/>
        </p:spPr>
        <p:txBody>
          <a:bodyPr wrap="square" lIns="0" rIns="0" tIns="0" bIns="0">
            <a:spAutoFit/>
          </a:bodyPr>
          <a:lstStyle/>
          <a:p>
            <a:pPr algn="l"/>
            <a:r>
              <a:rPr sz="900" b="1" i="0">
                <a:solidFill>
                  <a:srgbClr val="FFFFFF"/>
                </a:solidFill>
              </a:rPr>
              <a:t>  Jammer Firmware</a:t>
            </a:r>
          </a:p>
        </p:txBody>
      </p:sp>
      <p:sp>
        <p:nvSpPr>
          <p:cNvPr id="19" name="TextBox 18"/>
          <p:cNvSpPr txBox="1"/>
          <p:nvPr/>
        </p:nvSpPr>
        <p:spPr>
          <a:xfrm>
            <a:off x="877824" y="4764024"/>
            <a:ext cx="2889504" cy="365760"/>
          </a:xfrm>
          <a:prstGeom prst="rect">
            <a:avLst/>
          </a:prstGeom>
          <a:noFill/>
        </p:spPr>
        <p:txBody>
          <a:bodyPr wrap="square" lIns="0" rIns="0" tIns="0" bIns="0">
            <a:spAutoFit/>
          </a:bodyPr>
          <a:lstStyle/>
          <a:p>
            <a:pPr algn="l"/>
            <a:r>
              <a:rPr sz="850" b="0" i="0">
                <a:solidFill>
                  <a:srgbClr val="B0A0D0"/>
                </a:solidFill>
              </a:rPr>
              <a:t>Multi-mode engine with fast PLL register writes for spot, random, sweep, and reactive attack patterns.</a:t>
            </a:r>
          </a:p>
        </p:txBody>
      </p:sp>
      <p:sp>
        <p:nvSpPr>
          <p:cNvPr id="20" name="Rectangle 19"/>
          <p:cNvSpPr/>
          <p:nvPr/>
        </p:nvSpPr>
        <p:spPr>
          <a:xfrm>
            <a:off x="4178808"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1664208"/>
            <a:ext cx="2962656" cy="237744"/>
          </a:xfrm>
          <a:prstGeom prst="rect">
            <a:avLst/>
          </a:prstGeom>
          <a:noFill/>
        </p:spPr>
        <p:txBody>
          <a:bodyPr wrap="square" lIns="0" rIns="0" tIns="0" bIns="0">
            <a:spAutoFit/>
          </a:bodyPr>
          <a:lstStyle/>
          <a:p>
            <a:pPr algn="l"/>
            <a:r>
              <a:rPr sz="1050" b="1" i="0">
                <a:solidFill>
                  <a:srgbClr val="A060FF"/>
                </a:solidFill>
              </a:rPr>
              <a:t>Circuit Design &amp; Wiring</a:t>
            </a:r>
          </a:p>
        </p:txBody>
      </p:sp>
      <p:sp>
        <p:nvSpPr>
          <p:cNvPr id="22" name="Rectangle 21"/>
          <p:cNvSpPr/>
          <p:nvPr/>
        </p:nvSpPr>
        <p:spPr>
          <a:xfrm>
            <a:off x="4343400"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2048256"/>
            <a:ext cx="2962656" cy="182880"/>
          </a:xfrm>
          <a:prstGeom prst="rect">
            <a:avLst/>
          </a:prstGeom>
          <a:noFill/>
        </p:spPr>
        <p:txBody>
          <a:bodyPr wrap="square" lIns="0" rIns="0" tIns="0" bIns="0">
            <a:spAutoFit/>
          </a:bodyPr>
          <a:lstStyle/>
          <a:p>
            <a:pPr algn="l"/>
            <a:r>
              <a:rPr sz="900" b="1" i="0">
                <a:solidFill>
                  <a:srgbClr val="FFFFFF"/>
                </a:solidFill>
              </a:rPr>
              <a:t>  SPI Bus at 8 MHz</a:t>
            </a:r>
          </a:p>
        </p:txBody>
      </p:sp>
      <p:sp>
        <p:nvSpPr>
          <p:cNvPr id="24" name="TextBox 23"/>
          <p:cNvSpPr txBox="1"/>
          <p:nvPr/>
        </p:nvSpPr>
        <p:spPr>
          <a:xfrm>
            <a:off x="4416552" y="2240280"/>
            <a:ext cx="2889504" cy="365760"/>
          </a:xfrm>
          <a:prstGeom prst="rect">
            <a:avLst/>
          </a:prstGeom>
          <a:noFill/>
        </p:spPr>
        <p:txBody>
          <a:bodyPr wrap="square" lIns="0" rIns="0" tIns="0" bIns="0">
            <a:spAutoFit/>
          </a:bodyPr>
          <a:lstStyle/>
          <a:p>
            <a:pPr algn="l"/>
            <a:r>
              <a:rPr sz="850" b="0" i="0">
                <a:solidFill>
                  <a:srgbClr val="B0A0D0"/>
                </a:solidFill>
              </a:rPr>
              <a:t>Dedicated hardware SPI with 10 uF + 100 nF decoupling on nRF24 3.3V supply to prevent voltage-sag drops.</a:t>
            </a:r>
          </a:p>
        </p:txBody>
      </p:sp>
      <p:sp>
        <p:nvSpPr>
          <p:cNvPr id="25" name="TextBox 24"/>
          <p:cNvSpPr txBox="1"/>
          <p:nvPr/>
        </p:nvSpPr>
        <p:spPr>
          <a:xfrm>
            <a:off x="4343400" y="2679192"/>
            <a:ext cx="2962656" cy="182880"/>
          </a:xfrm>
          <a:prstGeom prst="rect">
            <a:avLst/>
          </a:prstGeom>
          <a:noFill/>
        </p:spPr>
        <p:txBody>
          <a:bodyPr wrap="square" lIns="0" rIns="0" tIns="0" bIns="0">
            <a:spAutoFit/>
          </a:bodyPr>
          <a:lstStyle/>
          <a:p>
            <a:pPr algn="l"/>
            <a:r>
              <a:rPr sz="900" b="1" i="0">
                <a:solidFill>
                  <a:srgbClr val="FFFFFF"/>
                </a:solidFill>
              </a:rPr>
              <a:t>  ESP32 Nodes (A &amp; C)</a:t>
            </a:r>
          </a:p>
        </p:txBody>
      </p:sp>
      <p:sp>
        <p:nvSpPr>
          <p:cNvPr id="26" name="TextBox 25"/>
          <p:cNvSpPr txBox="1"/>
          <p:nvPr/>
        </p:nvSpPr>
        <p:spPr>
          <a:xfrm>
            <a:off x="4416552" y="2871216"/>
            <a:ext cx="2889504" cy="365760"/>
          </a:xfrm>
          <a:prstGeom prst="rect">
            <a:avLst/>
          </a:prstGeom>
          <a:noFill/>
        </p:spPr>
        <p:txBody>
          <a:bodyPr wrap="square" lIns="0" rIns="0" tIns="0" bIns="0">
            <a:spAutoFit/>
          </a:bodyPr>
          <a:lstStyle/>
          <a:p>
            <a:pPr algn="l"/>
            <a:r>
              <a:rPr sz="850" b="0" i="0">
                <a:solidFill>
                  <a:srgbClr val="B0A0D0"/>
                </a:solidFill>
              </a:rPr>
              <a:t>CE: GPIO 4, CSN: GPIO 5, SCK: GPIO 18, MOSI: GPIO 23, MISO: GPIO 19. Identical wiring on both.</a:t>
            </a:r>
          </a:p>
        </p:txBody>
      </p:sp>
      <p:sp>
        <p:nvSpPr>
          <p:cNvPr id="27" name="TextBox 26"/>
          <p:cNvSpPr txBox="1"/>
          <p:nvPr/>
        </p:nvSpPr>
        <p:spPr>
          <a:xfrm>
            <a:off x="4343400" y="3310128"/>
            <a:ext cx="2962656" cy="182880"/>
          </a:xfrm>
          <a:prstGeom prst="rect">
            <a:avLst/>
          </a:prstGeom>
          <a:noFill/>
        </p:spPr>
        <p:txBody>
          <a:bodyPr wrap="square" lIns="0" rIns="0" tIns="0" bIns="0">
            <a:spAutoFit/>
          </a:bodyPr>
          <a:lstStyle/>
          <a:p>
            <a:pPr algn="l"/>
            <a:r>
              <a:rPr sz="900" b="1" i="0">
                <a:solidFill>
                  <a:srgbClr val="FFFFFF"/>
                </a:solidFill>
              </a:rPr>
              <a:t>  Relay Node (B)</a:t>
            </a:r>
          </a:p>
        </p:txBody>
      </p:sp>
      <p:sp>
        <p:nvSpPr>
          <p:cNvPr id="28" name="TextBox 27"/>
          <p:cNvSpPr txBox="1"/>
          <p:nvPr/>
        </p:nvSpPr>
        <p:spPr>
          <a:xfrm>
            <a:off x="4416552" y="3502152"/>
            <a:ext cx="2889504" cy="365760"/>
          </a:xfrm>
          <a:prstGeom prst="rect">
            <a:avLst/>
          </a:prstGeom>
          <a:noFill/>
        </p:spPr>
        <p:txBody>
          <a:bodyPr wrap="square" lIns="0" rIns="0" tIns="0" bIns="0">
            <a:spAutoFit/>
          </a:bodyPr>
          <a:lstStyle/>
          <a:p>
            <a:pPr algn="l"/>
            <a:r>
              <a:rPr sz="850" b="0" i="0">
                <a:solidFill>
                  <a:srgbClr val="B0A0D0"/>
                </a:solidFill>
              </a:rPr>
              <a:t>Same ESP32 pinout. 16x2 LCD on I2C (GPIO 21/22). 10 uF cap on nRF24 VCC.</a:t>
            </a:r>
          </a:p>
        </p:txBody>
      </p:sp>
      <p:sp>
        <p:nvSpPr>
          <p:cNvPr id="29" name="TextBox 28"/>
          <p:cNvSpPr txBox="1"/>
          <p:nvPr/>
        </p:nvSpPr>
        <p:spPr>
          <a:xfrm>
            <a:off x="4343400" y="3941064"/>
            <a:ext cx="2962656" cy="182880"/>
          </a:xfrm>
          <a:prstGeom prst="rect">
            <a:avLst/>
          </a:prstGeom>
          <a:noFill/>
        </p:spPr>
        <p:txBody>
          <a:bodyPr wrap="square" lIns="0" rIns="0" tIns="0" bIns="0">
            <a:spAutoFit/>
          </a:bodyPr>
          <a:lstStyle/>
          <a:p>
            <a:pPr algn="l"/>
            <a:r>
              <a:rPr sz="900" b="1" i="0">
                <a:solidFill>
                  <a:srgbClr val="FFFFFF"/>
                </a:solidFill>
              </a:rPr>
              <a:t>  Jammer (Mega 2560)</a:t>
            </a:r>
          </a:p>
        </p:txBody>
      </p:sp>
      <p:sp>
        <p:nvSpPr>
          <p:cNvPr id="30" name="TextBox 29"/>
          <p:cNvSpPr txBox="1"/>
          <p:nvPr/>
        </p:nvSpPr>
        <p:spPr>
          <a:xfrm>
            <a:off x="4416552" y="4133088"/>
            <a:ext cx="2889504" cy="365760"/>
          </a:xfrm>
          <a:prstGeom prst="rect">
            <a:avLst/>
          </a:prstGeom>
          <a:noFill/>
        </p:spPr>
        <p:txBody>
          <a:bodyPr wrap="square" lIns="0" rIns="0" tIns="0" bIns="0">
            <a:spAutoFit/>
          </a:bodyPr>
          <a:lstStyle/>
          <a:p>
            <a:pPr algn="l"/>
            <a:r>
              <a:rPr sz="850" b="0" i="0">
                <a:solidFill>
                  <a:srgbClr val="B0A0D0"/>
                </a:solidFill>
              </a:rPr>
              <a:t>CE: Pin 43, CSN: Pin 45, SPI: Pins 50-52. 3.5" TFT shield on front headers (D2-D13, A0-A5).</a:t>
            </a:r>
          </a:p>
        </p:txBody>
      </p:sp>
      <p:sp>
        <p:nvSpPr>
          <p:cNvPr id="31" name="TextBox 30"/>
          <p:cNvSpPr txBox="1"/>
          <p:nvPr/>
        </p:nvSpPr>
        <p:spPr>
          <a:xfrm>
            <a:off x="4343400" y="4572000"/>
            <a:ext cx="2962656" cy="182880"/>
          </a:xfrm>
          <a:prstGeom prst="rect">
            <a:avLst/>
          </a:prstGeom>
          <a:noFill/>
        </p:spPr>
        <p:txBody>
          <a:bodyPr wrap="square" lIns="0" rIns="0" tIns="0" bIns="0">
            <a:spAutoFit/>
          </a:bodyPr>
          <a:lstStyle/>
          <a:p>
            <a:pPr algn="l"/>
            <a:r>
              <a:rPr sz="900" b="1" i="0">
                <a:solidFill>
                  <a:srgbClr val="FFFFFF"/>
                </a:solidFill>
              </a:rPr>
              <a:t>  Power</a:t>
            </a:r>
          </a:p>
        </p:txBody>
      </p:sp>
      <p:sp>
        <p:nvSpPr>
          <p:cNvPr id="32" name="TextBox 31"/>
          <p:cNvSpPr txBox="1"/>
          <p:nvPr/>
        </p:nvSpPr>
        <p:spPr>
          <a:xfrm>
            <a:off x="4416552" y="4764024"/>
            <a:ext cx="2889504" cy="365760"/>
          </a:xfrm>
          <a:prstGeom prst="rect">
            <a:avLst/>
          </a:prstGeom>
          <a:noFill/>
        </p:spPr>
        <p:txBody>
          <a:bodyPr wrap="square" lIns="0" rIns="0" tIns="0" bIns="0">
            <a:spAutoFit/>
          </a:bodyPr>
          <a:lstStyle/>
          <a:p>
            <a:pPr algn="l"/>
            <a:r>
              <a:rPr sz="850" b="0" i="0">
                <a:solidFill>
                  <a:srgbClr val="B0A0D0"/>
                </a:solidFill>
              </a:rPr>
              <a:t>All nRF24 modules on 3.3V only. Each with dedicated decoupling capacitor for clean SPI signalling.</a:t>
            </a:r>
          </a:p>
        </p:txBody>
      </p:sp>
      <p:sp>
        <p:nvSpPr>
          <p:cNvPr id="33" name="Rectangle 32"/>
          <p:cNvSpPr/>
          <p:nvPr/>
        </p:nvSpPr>
        <p:spPr>
          <a:xfrm>
            <a:off x="7717536"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82128" y="1664208"/>
            <a:ext cx="2962656" cy="237744"/>
          </a:xfrm>
          <a:prstGeom prst="rect">
            <a:avLst/>
          </a:prstGeom>
          <a:noFill/>
        </p:spPr>
        <p:txBody>
          <a:bodyPr wrap="square" lIns="0" rIns="0" tIns="0" bIns="0">
            <a:spAutoFit/>
          </a:bodyPr>
          <a:lstStyle/>
          <a:p>
            <a:pPr algn="l"/>
            <a:r>
              <a:rPr sz="1050" b="1" i="0">
                <a:solidFill>
                  <a:srgbClr val="34D399"/>
                </a:solidFill>
              </a:rPr>
              <a:t>Jammer Console Details</a:t>
            </a:r>
          </a:p>
        </p:txBody>
      </p:sp>
      <p:sp>
        <p:nvSpPr>
          <p:cNvPr id="35" name="Rectangle 34"/>
          <p:cNvSpPr/>
          <p:nvPr/>
        </p:nvSpPr>
        <p:spPr>
          <a:xfrm>
            <a:off x="7882128"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82128" y="2048256"/>
            <a:ext cx="2962656" cy="182880"/>
          </a:xfrm>
          <a:prstGeom prst="rect">
            <a:avLst/>
          </a:prstGeom>
          <a:noFill/>
        </p:spPr>
        <p:txBody>
          <a:bodyPr wrap="square" lIns="0" rIns="0" tIns="0" bIns="0">
            <a:spAutoFit/>
          </a:bodyPr>
          <a:lstStyle/>
          <a:p>
            <a:pPr algn="l"/>
            <a:r>
              <a:rPr sz="900" b="1" i="0">
                <a:solidFill>
                  <a:srgbClr val="FFFFFF"/>
                </a:solidFill>
              </a:rPr>
              <a:t>  Spot Jammer Mode</a:t>
            </a:r>
          </a:p>
        </p:txBody>
      </p:sp>
      <p:sp>
        <p:nvSpPr>
          <p:cNvPr id="37" name="TextBox 36"/>
          <p:cNvSpPr txBox="1"/>
          <p:nvPr/>
        </p:nvSpPr>
        <p:spPr>
          <a:xfrm>
            <a:off x="7955280" y="2240280"/>
            <a:ext cx="2889504" cy="365760"/>
          </a:xfrm>
          <a:prstGeom prst="rect">
            <a:avLst/>
          </a:prstGeom>
          <a:noFill/>
        </p:spPr>
        <p:txBody>
          <a:bodyPr wrap="square" lIns="0" rIns="0" tIns="0" bIns="0">
            <a:spAutoFit/>
          </a:bodyPr>
          <a:lstStyle/>
          <a:p>
            <a:pPr algn="l"/>
            <a:r>
              <a:rPr sz="850" b="0" i="0">
                <a:solidFill>
                  <a:srgbClr val="B0A0D0"/>
                </a:solidFill>
              </a:rPr>
              <a:t>User selects target channel on touchscreen. Module locks and transmits +20 dBm continuous carrier.</a:t>
            </a:r>
          </a:p>
        </p:txBody>
      </p:sp>
      <p:sp>
        <p:nvSpPr>
          <p:cNvPr id="38" name="TextBox 37"/>
          <p:cNvSpPr txBox="1"/>
          <p:nvPr/>
        </p:nvSpPr>
        <p:spPr>
          <a:xfrm>
            <a:off x="7882128" y="2679192"/>
            <a:ext cx="2962656" cy="182880"/>
          </a:xfrm>
          <a:prstGeom prst="rect">
            <a:avLst/>
          </a:prstGeom>
          <a:noFill/>
        </p:spPr>
        <p:txBody>
          <a:bodyPr wrap="square" lIns="0" rIns="0" tIns="0" bIns="0">
            <a:spAutoFit/>
          </a:bodyPr>
          <a:lstStyle/>
          <a:p>
            <a:pPr algn="l"/>
            <a:r>
              <a:rPr sz="900" b="1" i="0">
                <a:solidFill>
                  <a:srgbClr val="FFFFFF"/>
                </a:solidFill>
              </a:rPr>
              <a:t>  Random Hopping Mode</a:t>
            </a:r>
          </a:p>
        </p:txBody>
      </p:sp>
      <p:sp>
        <p:nvSpPr>
          <p:cNvPr id="39" name="TextBox 38"/>
          <p:cNvSpPr txBox="1"/>
          <p:nvPr/>
        </p:nvSpPr>
        <p:spPr>
          <a:xfrm>
            <a:off x="7955280" y="2871216"/>
            <a:ext cx="2889504" cy="365760"/>
          </a:xfrm>
          <a:prstGeom prst="rect">
            <a:avLst/>
          </a:prstGeom>
          <a:noFill/>
        </p:spPr>
        <p:txBody>
          <a:bodyPr wrap="square" lIns="0" rIns="0" tIns="0" bIns="0">
            <a:spAutoFit/>
          </a:bodyPr>
          <a:lstStyle/>
          <a:p>
            <a:pPr algn="l"/>
            <a:r>
              <a:rPr sz="850" b="0" i="0">
                <a:solidFill>
                  <a:srgbClr val="B0A0D0"/>
                </a:solidFill>
              </a:rPr>
              <a:t>Hops pseudo-randomly across 124 channels every 5 ms to disrupt un-coordinated wireless links.</a:t>
            </a:r>
          </a:p>
        </p:txBody>
      </p:sp>
      <p:sp>
        <p:nvSpPr>
          <p:cNvPr id="40" name="TextBox 39"/>
          <p:cNvSpPr txBox="1"/>
          <p:nvPr/>
        </p:nvSpPr>
        <p:spPr>
          <a:xfrm>
            <a:off x="7882128" y="3310128"/>
            <a:ext cx="2962656" cy="182880"/>
          </a:xfrm>
          <a:prstGeom prst="rect">
            <a:avLst/>
          </a:prstGeom>
          <a:noFill/>
        </p:spPr>
        <p:txBody>
          <a:bodyPr wrap="square" lIns="0" rIns="0" tIns="0" bIns="0">
            <a:spAutoFit/>
          </a:bodyPr>
          <a:lstStyle/>
          <a:p>
            <a:pPr algn="l"/>
            <a:r>
              <a:rPr sz="900" b="1" i="0">
                <a:solidFill>
                  <a:srgbClr val="FFFFFF"/>
                </a:solidFill>
              </a:rPr>
              <a:t>  Full Sweep Barrage</a:t>
            </a:r>
          </a:p>
        </p:txBody>
      </p:sp>
      <p:sp>
        <p:nvSpPr>
          <p:cNvPr id="41" name="TextBox 40"/>
          <p:cNvSpPr txBox="1"/>
          <p:nvPr/>
        </p:nvSpPr>
        <p:spPr>
          <a:xfrm>
            <a:off x="7955280" y="3502152"/>
            <a:ext cx="2889504" cy="365760"/>
          </a:xfrm>
          <a:prstGeom prst="rect">
            <a:avLst/>
          </a:prstGeom>
          <a:noFill/>
        </p:spPr>
        <p:txBody>
          <a:bodyPr wrap="square" lIns="0" rIns="0" tIns="0" bIns="0">
            <a:spAutoFit/>
          </a:bodyPr>
          <a:lstStyle/>
          <a:p>
            <a:pPr algn="l"/>
            <a:r>
              <a:rPr sz="850" b="0" i="0">
                <a:solidFill>
                  <a:srgbClr val="B0A0D0"/>
                </a:solidFill>
              </a:rPr>
              <a:t>Sweeps all 124 channels at &lt;500 us per channel, elevating the broadband ISM noise floor.</a:t>
            </a:r>
          </a:p>
        </p:txBody>
      </p:sp>
      <p:sp>
        <p:nvSpPr>
          <p:cNvPr id="42" name="TextBox 41"/>
          <p:cNvSpPr txBox="1"/>
          <p:nvPr/>
        </p:nvSpPr>
        <p:spPr>
          <a:xfrm>
            <a:off x="7882128" y="3941064"/>
            <a:ext cx="2962656" cy="182880"/>
          </a:xfrm>
          <a:prstGeom prst="rect">
            <a:avLst/>
          </a:prstGeom>
          <a:noFill/>
        </p:spPr>
        <p:txBody>
          <a:bodyPr wrap="square" lIns="0" rIns="0" tIns="0" bIns="0">
            <a:spAutoFit/>
          </a:bodyPr>
          <a:lstStyle/>
          <a:p>
            <a:pPr algn="l"/>
            <a:r>
              <a:rPr sz="900" b="1" i="0">
                <a:solidFill>
                  <a:srgbClr val="FFFFFF"/>
                </a:solidFill>
              </a:rPr>
              <a:t>  Reactive Follower</a:t>
            </a:r>
          </a:p>
        </p:txBody>
      </p:sp>
      <p:sp>
        <p:nvSpPr>
          <p:cNvPr id="43" name="TextBox 42"/>
          <p:cNvSpPr txBox="1"/>
          <p:nvPr/>
        </p:nvSpPr>
        <p:spPr>
          <a:xfrm>
            <a:off x="7955280" y="4133088"/>
            <a:ext cx="2889504" cy="365760"/>
          </a:xfrm>
          <a:prstGeom prst="rect">
            <a:avLst/>
          </a:prstGeom>
          <a:noFill/>
        </p:spPr>
        <p:txBody>
          <a:bodyPr wrap="square" lIns="0" rIns="0" tIns="0" bIns="0">
            <a:spAutoFit/>
          </a:bodyPr>
          <a:lstStyle/>
          <a:p>
            <a:pPr algn="l"/>
            <a:r>
              <a:rPr sz="850" b="0" i="0">
                <a:solidFill>
                  <a:srgbClr val="B0A0D0"/>
                </a:solidFill>
              </a:rPr>
              <a:t>Scans for active transmissions via RPD, locks on detected frequency, and jams within one slot.</a:t>
            </a:r>
          </a:p>
        </p:txBody>
      </p:sp>
      <p:sp>
        <p:nvSpPr>
          <p:cNvPr id="44" name="TextBox 43"/>
          <p:cNvSpPr txBox="1"/>
          <p:nvPr/>
        </p:nvSpPr>
        <p:spPr>
          <a:xfrm>
            <a:off x="7882128" y="4572000"/>
            <a:ext cx="2962656" cy="182880"/>
          </a:xfrm>
          <a:prstGeom prst="rect">
            <a:avLst/>
          </a:prstGeom>
          <a:noFill/>
        </p:spPr>
        <p:txBody>
          <a:bodyPr wrap="square" lIns="0" rIns="0" tIns="0" bIns="0">
            <a:spAutoFit/>
          </a:bodyPr>
          <a:lstStyle/>
          <a:p>
            <a:pPr algn="l"/>
            <a:r>
              <a:rPr sz="900" b="1" i="0">
                <a:solidFill>
                  <a:srgbClr val="FFFFFF"/>
                </a:solidFill>
              </a:rPr>
              <a:t>  3.5" Touchscreen UI</a:t>
            </a:r>
          </a:p>
        </p:txBody>
      </p:sp>
      <p:sp>
        <p:nvSpPr>
          <p:cNvPr id="45" name="TextBox 44"/>
          <p:cNvSpPr txBox="1"/>
          <p:nvPr/>
        </p:nvSpPr>
        <p:spPr>
          <a:xfrm>
            <a:off x="7955280" y="4764024"/>
            <a:ext cx="2889504" cy="365760"/>
          </a:xfrm>
          <a:prstGeom prst="rect">
            <a:avLst/>
          </a:prstGeom>
          <a:noFill/>
        </p:spPr>
        <p:txBody>
          <a:bodyPr wrap="square" lIns="0" rIns="0" tIns="0" bIns="0">
            <a:spAutoFit/>
          </a:bodyPr>
          <a:lstStyle/>
          <a:p>
            <a:pPr algn="l"/>
            <a:r>
              <a:rPr sz="850" b="0" i="0">
                <a:solidFill>
                  <a:srgbClr val="B0A0D0"/>
                </a:solidFill>
              </a:rPr>
              <a:t>Adafruit GFX/TouchScreen library: mode selector, frequency slider, burst rate and power controls.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4  |  CLOUD DASHBOARD &amp; RF SIMULATION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Supabase Backend, Spectrum Heatmap &amp; Ansys HFSS Analysis</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Embedded firmware -&gt; 2.4 GHz RF -&gt; edge buffer -&gt; cloud database -&gt; live browser UI</a:t>
            </a:r>
          </a:p>
        </p:txBody>
      </p:sp>
      <p:sp>
        <p:nvSpPr>
          <p:cNvPr id="7" name="Rectangle 6"/>
          <p:cNvSpPr/>
          <p:nvPr/>
        </p:nvSpPr>
        <p:spPr>
          <a:xfrm>
            <a:off x="640080" y="1572768"/>
            <a:ext cx="530352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37744"/>
          </a:xfrm>
          <a:prstGeom prst="rect">
            <a:avLst/>
          </a:prstGeom>
          <a:noFill/>
        </p:spPr>
        <p:txBody>
          <a:bodyPr wrap="square" lIns="0" rIns="0" tIns="0" bIns="0">
            <a:spAutoFit/>
          </a:bodyPr>
          <a:lstStyle/>
          <a:p>
            <a:pPr algn="l"/>
            <a:r>
              <a:rPr sz="1100" b="1" i="0">
                <a:solidFill>
                  <a:srgbClr val="38BDF8"/>
                </a:solidFill>
              </a:rPr>
              <a:t>Cloud Backend &amp; Web Dashboard</a:t>
            </a:r>
          </a:p>
        </p:txBody>
      </p:sp>
      <p:sp>
        <p:nvSpPr>
          <p:cNvPr id="9" name="Rectangle 8"/>
          <p:cNvSpPr/>
          <p:nvPr/>
        </p:nvSpPr>
        <p:spPr>
          <a:xfrm>
            <a:off x="804672" y="193852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29968"/>
            <a:ext cx="4974336" cy="201168"/>
          </a:xfrm>
          <a:prstGeom prst="rect">
            <a:avLst/>
          </a:prstGeom>
          <a:noFill/>
        </p:spPr>
        <p:txBody>
          <a:bodyPr wrap="square" lIns="0" rIns="0" tIns="0" bIns="0">
            <a:spAutoFit/>
          </a:bodyPr>
          <a:lstStyle/>
          <a:p>
            <a:pPr algn="l"/>
            <a:r>
              <a:rPr sz="950" b="1" i="0">
                <a:solidFill>
                  <a:srgbClr val="FFFFFF"/>
                </a:solidFill>
              </a:rPr>
              <a:t>  124-Channel Spectrum Heatmap</a:t>
            </a:r>
          </a:p>
        </p:txBody>
      </p:sp>
      <p:sp>
        <p:nvSpPr>
          <p:cNvPr id="11" name="TextBox 10"/>
          <p:cNvSpPr txBox="1"/>
          <p:nvPr/>
        </p:nvSpPr>
        <p:spPr>
          <a:xfrm>
            <a:off x="877824" y="2249424"/>
            <a:ext cx="4828032" cy="493776"/>
          </a:xfrm>
          <a:prstGeom prst="rect">
            <a:avLst/>
          </a:prstGeom>
          <a:noFill/>
        </p:spPr>
        <p:txBody>
          <a:bodyPr wrap="square" lIns="0" rIns="0" tIns="0" bIns="0">
            <a:spAutoFit/>
          </a:bodyPr>
          <a:lstStyle/>
          <a:p>
            <a:pPr algn="l"/>
            <a:r>
              <a:rPr sz="880" b="0" i="0">
                <a:solidFill>
                  <a:srgbClr val="B0A0D0"/>
                </a:solidFill>
              </a:rPr>
              <a:t>Live HTML5 colour matrix: green = active hopping, red = jammed/blacklisted, grey = idle. Updates over WebSocket.</a:t>
            </a:r>
          </a:p>
        </p:txBody>
      </p:sp>
      <p:sp>
        <p:nvSpPr>
          <p:cNvPr id="12" name="TextBox 11"/>
          <p:cNvSpPr txBox="1"/>
          <p:nvPr/>
        </p:nvSpPr>
        <p:spPr>
          <a:xfrm>
            <a:off x="804672" y="2816352"/>
            <a:ext cx="4974336" cy="201168"/>
          </a:xfrm>
          <a:prstGeom prst="rect">
            <a:avLst/>
          </a:prstGeom>
          <a:noFill/>
        </p:spPr>
        <p:txBody>
          <a:bodyPr wrap="square" lIns="0" rIns="0" tIns="0" bIns="0">
            <a:spAutoFit/>
          </a:bodyPr>
          <a:lstStyle/>
          <a:p>
            <a:pPr algn="l"/>
            <a:r>
              <a:rPr sz="950" b="1" i="0">
                <a:solidFill>
                  <a:srgbClr val="FFFFFF"/>
                </a:solidFill>
              </a:rPr>
              <a:t>  Message Dispatch Console</a:t>
            </a:r>
          </a:p>
        </p:txBody>
      </p:sp>
      <p:sp>
        <p:nvSpPr>
          <p:cNvPr id="13" name="TextBox 12"/>
          <p:cNvSpPr txBox="1"/>
          <p:nvPr/>
        </p:nvSpPr>
        <p:spPr>
          <a:xfrm>
            <a:off x="877824" y="3035808"/>
            <a:ext cx="4828032" cy="493776"/>
          </a:xfrm>
          <a:prstGeom prst="rect">
            <a:avLst/>
          </a:prstGeom>
          <a:noFill/>
        </p:spPr>
        <p:txBody>
          <a:bodyPr wrap="square" lIns="0" rIns="0" tIns="0" bIns="0">
            <a:spAutoFit/>
          </a:bodyPr>
          <a:lstStyle/>
          <a:p>
            <a:pPr algn="l"/>
            <a:r>
              <a:rPr sz="880" b="0" i="0">
                <a:solidFill>
                  <a:srgbClr val="B0A0D0"/>
                </a:solidFill>
              </a:rPr>
              <a:t>Bidirectional alert interface with triage types (Code Blue, Trauma, Routine). Status tracking: Pending -&gt; Sent -&gt; Delivered.</a:t>
            </a:r>
          </a:p>
        </p:txBody>
      </p:sp>
      <p:sp>
        <p:nvSpPr>
          <p:cNvPr id="14" name="TextBox 13"/>
          <p:cNvSpPr txBox="1"/>
          <p:nvPr/>
        </p:nvSpPr>
        <p:spPr>
          <a:xfrm>
            <a:off x="804672" y="3602736"/>
            <a:ext cx="4974336" cy="201168"/>
          </a:xfrm>
          <a:prstGeom prst="rect">
            <a:avLst/>
          </a:prstGeom>
          <a:noFill/>
        </p:spPr>
        <p:txBody>
          <a:bodyPr wrap="square" lIns="0" rIns="0" tIns="0" bIns="0">
            <a:spAutoFit/>
          </a:bodyPr>
          <a:lstStyle/>
          <a:p>
            <a:pPr algn="l"/>
            <a:r>
              <a:rPr sz="950" b="1" i="0">
                <a:solidFill>
                  <a:srgbClr val="FFFFFF"/>
                </a:solidFill>
              </a:rPr>
              <a:t>  Telemetry Gauges</a:t>
            </a:r>
          </a:p>
        </p:txBody>
      </p:sp>
      <p:sp>
        <p:nvSpPr>
          <p:cNvPr id="15" name="TextBox 14"/>
          <p:cNvSpPr txBox="1"/>
          <p:nvPr/>
        </p:nvSpPr>
        <p:spPr>
          <a:xfrm>
            <a:off x="877824" y="3822192"/>
            <a:ext cx="4828032" cy="493776"/>
          </a:xfrm>
          <a:prstGeom prst="rect">
            <a:avLst/>
          </a:prstGeom>
          <a:noFill/>
        </p:spPr>
        <p:txBody>
          <a:bodyPr wrap="square" lIns="0" rIns="0" tIns="0" bIns="0">
            <a:spAutoFit/>
          </a:bodyPr>
          <a:lstStyle/>
          <a:p>
            <a:pPr algn="l"/>
            <a:r>
              <a:rPr sz="880" b="0" i="0">
                <a:solidFill>
                  <a:srgbClr val="B0A0D0"/>
                </a:solidFill>
              </a:rPr>
              <a:t>Real-time streaming gauges for Node B buffer depth, instantaneous hop counter, and cumulative blacklist events.</a:t>
            </a:r>
          </a:p>
        </p:txBody>
      </p:sp>
      <p:sp>
        <p:nvSpPr>
          <p:cNvPr id="16" name="TextBox 15"/>
          <p:cNvSpPr txBox="1"/>
          <p:nvPr/>
        </p:nvSpPr>
        <p:spPr>
          <a:xfrm>
            <a:off x="804672" y="4389120"/>
            <a:ext cx="4974336" cy="201168"/>
          </a:xfrm>
          <a:prstGeom prst="rect">
            <a:avLst/>
          </a:prstGeom>
          <a:noFill/>
        </p:spPr>
        <p:txBody>
          <a:bodyPr wrap="square" lIns="0" rIns="0" tIns="0" bIns="0">
            <a:spAutoFit/>
          </a:bodyPr>
          <a:lstStyle/>
          <a:p>
            <a:pPr algn="l"/>
            <a:r>
              <a:rPr sz="950" b="1" i="0">
                <a:solidFill>
                  <a:srgbClr val="FFFFFF"/>
                </a:solidFill>
              </a:rPr>
              <a:t>  Database Schema</a:t>
            </a:r>
          </a:p>
        </p:txBody>
      </p:sp>
      <p:sp>
        <p:nvSpPr>
          <p:cNvPr id="17" name="TextBox 16"/>
          <p:cNvSpPr txBox="1"/>
          <p:nvPr/>
        </p:nvSpPr>
        <p:spPr>
          <a:xfrm>
            <a:off x="877824" y="4608576"/>
            <a:ext cx="4828032" cy="493776"/>
          </a:xfrm>
          <a:prstGeom prst="rect">
            <a:avLst/>
          </a:prstGeom>
          <a:noFill/>
        </p:spPr>
        <p:txBody>
          <a:bodyPr wrap="square" lIns="0" rIns="0" tIns="0" bIns="0">
            <a:spAutoFit/>
          </a:bodyPr>
          <a:lstStyle/>
          <a:p>
            <a:pPr algn="l"/>
            <a:r>
              <a:rPr sz="880" b="0" i="0">
                <a:solidFill>
                  <a:srgbClr val="B0A0D0"/>
                </a:solidFill>
              </a:rPr>
              <a:t>4 tables: messages (outbound queue), received_messages (delivery log), telemetry (node health), blacklist_events (jammer detections).</a:t>
            </a:r>
          </a:p>
        </p:txBody>
      </p:sp>
      <p:sp>
        <p:nvSpPr>
          <p:cNvPr id="18" name="Rectangle 17"/>
          <p:cNvSpPr/>
          <p:nvPr/>
        </p:nvSpPr>
        <p:spPr>
          <a:xfrm>
            <a:off x="6199632" y="1572768"/>
            <a:ext cx="53492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664208"/>
            <a:ext cx="5020056" cy="237744"/>
          </a:xfrm>
          <a:prstGeom prst="rect">
            <a:avLst/>
          </a:prstGeom>
          <a:noFill/>
        </p:spPr>
        <p:txBody>
          <a:bodyPr wrap="square" lIns="0" rIns="0" tIns="0" bIns="0">
            <a:spAutoFit/>
          </a:bodyPr>
          <a:lstStyle/>
          <a:p>
            <a:pPr algn="l"/>
            <a:r>
              <a:rPr sz="1100" b="1" i="0">
                <a:solidFill>
                  <a:srgbClr val="FBBF24"/>
                </a:solidFill>
              </a:rPr>
              <a:t>Ansys HFSS 2.4 GHz RF Simulation</a:t>
            </a:r>
          </a:p>
        </p:txBody>
      </p:sp>
      <p:sp>
        <p:nvSpPr>
          <p:cNvPr id="20" name="Rectangle 19"/>
          <p:cNvSpPr/>
          <p:nvPr/>
        </p:nvSpPr>
        <p:spPr>
          <a:xfrm>
            <a:off x="6364224" y="1938528"/>
            <a:ext cx="50200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2029968"/>
            <a:ext cx="5020056" cy="201168"/>
          </a:xfrm>
          <a:prstGeom prst="rect">
            <a:avLst/>
          </a:prstGeom>
          <a:noFill/>
        </p:spPr>
        <p:txBody>
          <a:bodyPr wrap="square" lIns="0" rIns="0" tIns="0" bIns="0">
            <a:spAutoFit/>
          </a:bodyPr>
          <a:lstStyle/>
          <a:p>
            <a:pPr algn="l"/>
            <a:r>
              <a:rPr sz="950" b="1" i="0">
                <a:solidFill>
                  <a:srgbClr val="FFFFFF"/>
                </a:solidFill>
              </a:rPr>
              <a:t>  Antenna Modelling (FEM)</a:t>
            </a:r>
          </a:p>
        </p:txBody>
      </p:sp>
      <p:sp>
        <p:nvSpPr>
          <p:cNvPr id="22" name="TextBox 21"/>
          <p:cNvSpPr txBox="1"/>
          <p:nvPr/>
        </p:nvSpPr>
        <p:spPr>
          <a:xfrm>
            <a:off x="6437376" y="2249424"/>
            <a:ext cx="4846320" cy="493776"/>
          </a:xfrm>
          <a:prstGeom prst="rect">
            <a:avLst/>
          </a:prstGeom>
          <a:noFill/>
        </p:spPr>
        <p:txBody>
          <a:bodyPr wrap="square" lIns="0" rIns="0" tIns="0" bIns="0">
            <a:spAutoFit/>
          </a:bodyPr>
          <a:lstStyle/>
          <a:p>
            <a:pPr algn="l"/>
            <a:r>
              <a:rPr sz="880" b="0" i="0">
                <a:solidFill>
                  <a:srgbClr val="B0A0D0"/>
                </a:solidFill>
              </a:rPr>
              <a:t>Finite Element Method simulation of 2.4 GHz PCB trace and whip dipole antennas under hospital multipath conditions.</a:t>
            </a:r>
          </a:p>
        </p:txBody>
      </p:sp>
      <p:sp>
        <p:nvSpPr>
          <p:cNvPr id="23" name="TextBox 22"/>
          <p:cNvSpPr txBox="1"/>
          <p:nvPr/>
        </p:nvSpPr>
        <p:spPr>
          <a:xfrm>
            <a:off x="6364224" y="2816352"/>
            <a:ext cx="5020056" cy="201168"/>
          </a:xfrm>
          <a:prstGeom prst="rect">
            <a:avLst/>
          </a:prstGeom>
          <a:noFill/>
        </p:spPr>
        <p:txBody>
          <a:bodyPr wrap="square" lIns="0" rIns="0" tIns="0" bIns="0">
            <a:spAutoFit/>
          </a:bodyPr>
          <a:lstStyle/>
          <a:p>
            <a:pPr algn="l"/>
            <a:r>
              <a:rPr sz="950" b="1" i="0">
                <a:solidFill>
                  <a:srgbClr val="FFFFFF"/>
                </a:solidFill>
              </a:rPr>
              <a:t>  S11 Return Loss</a:t>
            </a:r>
          </a:p>
        </p:txBody>
      </p:sp>
      <p:sp>
        <p:nvSpPr>
          <p:cNvPr id="24" name="TextBox 23"/>
          <p:cNvSpPr txBox="1"/>
          <p:nvPr/>
        </p:nvSpPr>
        <p:spPr>
          <a:xfrm>
            <a:off x="6437376" y="3035808"/>
            <a:ext cx="4846320" cy="493776"/>
          </a:xfrm>
          <a:prstGeom prst="rect">
            <a:avLst/>
          </a:prstGeom>
          <a:noFill/>
        </p:spPr>
        <p:txBody>
          <a:bodyPr wrap="square" lIns="0" rIns="0" tIns="0" bIns="0">
            <a:spAutoFit/>
          </a:bodyPr>
          <a:lstStyle/>
          <a:p>
            <a:pPr algn="l"/>
            <a:r>
              <a:rPr sz="880" b="0" i="0">
                <a:solidFill>
                  <a:srgbClr val="B0A0D0"/>
                </a:solidFill>
              </a:rPr>
              <a:t>S11 &lt; -18.4 dB centred at 2.450 GHz. Verified across the full 124-channel operating band (2.402 - 2.525 GHz).</a:t>
            </a:r>
          </a:p>
        </p:txBody>
      </p:sp>
      <p:sp>
        <p:nvSpPr>
          <p:cNvPr id="25" name="TextBox 24"/>
          <p:cNvSpPr txBox="1"/>
          <p:nvPr/>
        </p:nvSpPr>
        <p:spPr>
          <a:xfrm>
            <a:off x="6364224" y="3602736"/>
            <a:ext cx="5020056" cy="201168"/>
          </a:xfrm>
          <a:prstGeom prst="rect">
            <a:avLst/>
          </a:prstGeom>
          <a:noFill/>
        </p:spPr>
        <p:txBody>
          <a:bodyPr wrap="square" lIns="0" rIns="0" tIns="0" bIns="0">
            <a:spAutoFit/>
          </a:bodyPr>
          <a:lstStyle/>
          <a:p>
            <a:pPr algn="l"/>
            <a:r>
              <a:rPr sz="950" b="1" i="0">
                <a:solidFill>
                  <a:srgbClr val="FFFFFF"/>
                </a:solidFill>
              </a:rPr>
              <a:t>  3D Radiation Pattern</a:t>
            </a:r>
          </a:p>
        </p:txBody>
      </p:sp>
      <p:sp>
        <p:nvSpPr>
          <p:cNvPr id="26" name="TextBox 25"/>
          <p:cNvSpPr txBox="1"/>
          <p:nvPr/>
        </p:nvSpPr>
        <p:spPr>
          <a:xfrm>
            <a:off x="6437376" y="3822192"/>
            <a:ext cx="4846320" cy="493776"/>
          </a:xfrm>
          <a:prstGeom prst="rect">
            <a:avLst/>
          </a:prstGeom>
          <a:noFill/>
        </p:spPr>
        <p:txBody>
          <a:bodyPr wrap="square" lIns="0" rIns="0" tIns="0" bIns="0">
            <a:spAutoFit/>
          </a:bodyPr>
          <a:lstStyle/>
          <a:p>
            <a:pPr algn="l"/>
            <a:r>
              <a:rPr sz="880" b="0" i="0">
                <a:solidFill>
                  <a:srgbClr val="B0A0D0"/>
                </a:solidFill>
              </a:rPr>
              <a:t>Omnidirectional donut pattern with peak gain of +2.1 dBi. Reliable both line-of-sight and through concrete floors.</a:t>
            </a:r>
          </a:p>
        </p:txBody>
      </p:sp>
      <p:sp>
        <p:nvSpPr>
          <p:cNvPr id="27" name="TextBox 26"/>
          <p:cNvSpPr txBox="1"/>
          <p:nvPr/>
        </p:nvSpPr>
        <p:spPr>
          <a:xfrm>
            <a:off x="6364224" y="4389120"/>
            <a:ext cx="5020056" cy="201168"/>
          </a:xfrm>
          <a:prstGeom prst="rect">
            <a:avLst/>
          </a:prstGeom>
          <a:noFill/>
        </p:spPr>
        <p:txBody>
          <a:bodyPr wrap="square" lIns="0" rIns="0" tIns="0" bIns="0">
            <a:spAutoFit/>
          </a:bodyPr>
          <a:lstStyle/>
          <a:p>
            <a:pPr algn="l"/>
            <a:r>
              <a:rPr sz="950" b="1" i="0">
                <a:solidFill>
                  <a:srgbClr val="FFFFFF"/>
                </a:solidFill>
              </a:rPr>
              <a:t>  Signal-to-Interference Ratio</a:t>
            </a:r>
          </a:p>
        </p:txBody>
      </p:sp>
      <p:sp>
        <p:nvSpPr>
          <p:cNvPr id="28" name="TextBox 27"/>
          <p:cNvSpPr txBox="1"/>
          <p:nvPr/>
        </p:nvSpPr>
        <p:spPr>
          <a:xfrm>
            <a:off x="6437376" y="4608576"/>
            <a:ext cx="4846320" cy="493776"/>
          </a:xfrm>
          <a:prstGeom prst="rect">
            <a:avLst/>
          </a:prstGeom>
          <a:noFill/>
        </p:spPr>
        <p:txBody>
          <a:bodyPr wrap="square" lIns="0" rIns="0" tIns="0" bIns="0">
            <a:spAutoFit/>
          </a:bodyPr>
          <a:lstStyle/>
          <a:p>
            <a:pPr algn="l"/>
            <a:r>
              <a:rPr sz="880" b="0" i="0">
                <a:solidFill>
                  <a:srgbClr val="B0A0D0"/>
                </a:solidFill>
              </a:rPr>
              <a:t>HFSS boundary analysis confirms positive SIR is maintained via channel hopping against +20 dBm adversary carrier.</a:t>
            </a:r>
          </a:p>
        </p:txBody>
      </p:sp>
      <p:sp>
        <p:nvSpPr>
          <p:cNvPr id="29" name="Rectangle 28"/>
          <p:cNvSpPr/>
          <p:nvPr/>
        </p:nvSpPr>
        <p:spPr>
          <a:xfrm>
            <a:off x="640080"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5961888"/>
            <a:ext cx="2635758" cy="320040"/>
          </a:xfrm>
          <a:prstGeom prst="rect">
            <a:avLst/>
          </a:prstGeom>
          <a:noFill/>
        </p:spPr>
        <p:txBody>
          <a:bodyPr wrap="square" lIns="0" rIns="0" tIns="0" bIns="0">
            <a:spAutoFit/>
          </a:bodyPr>
          <a:lstStyle/>
          <a:p>
            <a:pPr algn="ctr"/>
            <a:r>
              <a:rPr sz="1800" b="1" i="0">
                <a:solidFill>
                  <a:srgbClr val="FBBF24"/>
                </a:solidFill>
              </a:rPr>
              <a:t>S11 &lt; -18.4 dB</a:t>
            </a:r>
          </a:p>
        </p:txBody>
      </p:sp>
      <p:sp>
        <p:nvSpPr>
          <p:cNvPr id="31" name="TextBox 30"/>
          <p:cNvSpPr txBox="1"/>
          <p:nvPr/>
        </p:nvSpPr>
        <p:spPr>
          <a:xfrm>
            <a:off x="640080" y="6291072"/>
            <a:ext cx="2635758" cy="256032"/>
          </a:xfrm>
          <a:prstGeom prst="rect">
            <a:avLst/>
          </a:prstGeom>
          <a:noFill/>
        </p:spPr>
        <p:txBody>
          <a:bodyPr wrap="square" lIns="0" rIns="0" tIns="0" bIns="0">
            <a:spAutoFit/>
          </a:bodyPr>
          <a:lstStyle/>
          <a:p>
            <a:pPr algn="ctr"/>
            <a:r>
              <a:rPr sz="900" b="0" i="0">
                <a:solidFill>
                  <a:srgbClr val="B0A0D0"/>
                </a:solidFill>
              </a:rPr>
              <a:t>Return loss @ 2.45 GHz</a:t>
            </a:r>
          </a:p>
        </p:txBody>
      </p:sp>
      <p:sp>
        <p:nvSpPr>
          <p:cNvPr id="32" name="Rectangle 31"/>
          <p:cNvSpPr/>
          <p:nvPr/>
        </p:nvSpPr>
        <p:spPr>
          <a:xfrm>
            <a:off x="3367278"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67278" y="5961888"/>
            <a:ext cx="2635758" cy="320040"/>
          </a:xfrm>
          <a:prstGeom prst="rect">
            <a:avLst/>
          </a:prstGeom>
          <a:noFill/>
        </p:spPr>
        <p:txBody>
          <a:bodyPr wrap="square" lIns="0" rIns="0" tIns="0" bIns="0">
            <a:spAutoFit/>
          </a:bodyPr>
          <a:lstStyle/>
          <a:p>
            <a:pPr algn="ctr"/>
            <a:r>
              <a:rPr sz="1800" b="1" i="0">
                <a:solidFill>
                  <a:srgbClr val="38BDF8"/>
                </a:solidFill>
              </a:rPr>
              <a:t>+2.1 dBi</a:t>
            </a:r>
          </a:p>
        </p:txBody>
      </p:sp>
      <p:sp>
        <p:nvSpPr>
          <p:cNvPr id="34" name="TextBox 33"/>
          <p:cNvSpPr txBox="1"/>
          <p:nvPr/>
        </p:nvSpPr>
        <p:spPr>
          <a:xfrm>
            <a:off x="3367278" y="6291072"/>
            <a:ext cx="2635758" cy="256032"/>
          </a:xfrm>
          <a:prstGeom prst="rect">
            <a:avLst/>
          </a:prstGeom>
          <a:noFill/>
        </p:spPr>
        <p:txBody>
          <a:bodyPr wrap="square" lIns="0" rIns="0" tIns="0" bIns="0">
            <a:spAutoFit/>
          </a:bodyPr>
          <a:lstStyle/>
          <a:p>
            <a:pPr algn="ctr"/>
            <a:r>
              <a:rPr sz="900" b="0" i="0">
                <a:solidFill>
                  <a:srgbClr val="B0A0D0"/>
                </a:solidFill>
              </a:rPr>
              <a:t>Antenna peak gain</a:t>
            </a:r>
          </a:p>
        </p:txBody>
      </p:sp>
      <p:sp>
        <p:nvSpPr>
          <p:cNvPr id="35" name="Rectangle 34"/>
          <p:cNvSpPr/>
          <p:nvPr/>
        </p:nvSpPr>
        <p:spPr>
          <a:xfrm>
            <a:off x="6094476"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4476" y="5961888"/>
            <a:ext cx="2635758" cy="320040"/>
          </a:xfrm>
          <a:prstGeom prst="rect">
            <a:avLst/>
          </a:prstGeom>
          <a:noFill/>
        </p:spPr>
        <p:txBody>
          <a:bodyPr wrap="square" lIns="0" rIns="0" tIns="0" bIns="0">
            <a:spAutoFit/>
          </a:bodyPr>
          <a:lstStyle/>
          <a:p>
            <a:pPr algn="ctr"/>
            <a:r>
              <a:rPr sz="1800" b="1" i="0">
                <a:solidFill>
                  <a:srgbClr val="A060FF"/>
                </a:solidFill>
              </a:rPr>
              <a:t>4 tables</a:t>
            </a:r>
          </a:p>
        </p:txBody>
      </p:sp>
      <p:sp>
        <p:nvSpPr>
          <p:cNvPr id="37" name="TextBox 36"/>
          <p:cNvSpPr txBox="1"/>
          <p:nvPr/>
        </p:nvSpPr>
        <p:spPr>
          <a:xfrm>
            <a:off x="6094476" y="6291072"/>
            <a:ext cx="2635758" cy="256032"/>
          </a:xfrm>
          <a:prstGeom prst="rect">
            <a:avLst/>
          </a:prstGeom>
          <a:noFill/>
        </p:spPr>
        <p:txBody>
          <a:bodyPr wrap="square" lIns="0" rIns="0" tIns="0" bIns="0">
            <a:spAutoFit/>
          </a:bodyPr>
          <a:lstStyle/>
          <a:p>
            <a:pPr algn="ctr"/>
            <a:r>
              <a:rPr sz="900" b="0" i="0">
                <a:solidFill>
                  <a:srgbClr val="B0A0D0"/>
                </a:solidFill>
              </a:rPr>
              <a:t>Supabase DB schema</a:t>
            </a:r>
          </a:p>
        </p:txBody>
      </p:sp>
      <p:sp>
        <p:nvSpPr>
          <p:cNvPr id="38" name="Rectangle 37"/>
          <p:cNvSpPr/>
          <p:nvPr/>
        </p:nvSpPr>
        <p:spPr>
          <a:xfrm>
            <a:off x="8821674"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21674" y="5961888"/>
            <a:ext cx="2635758" cy="320040"/>
          </a:xfrm>
          <a:prstGeom prst="rect">
            <a:avLst/>
          </a:prstGeom>
          <a:noFill/>
        </p:spPr>
        <p:txBody>
          <a:bodyPr wrap="square" lIns="0" rIns="0" tIns="0" bIns="0">
            <a:spAutoFit/>
          </a:bodyPr>
          <a:lstStyle/>
          <a:p>
            <a:pPr algn="ctr"/>
            <a:r>
              <a:rPr sz="1800" b="1" i="0">
                <a:solidFill>
                  <a:srgbClr val="34D399"/>
                </a:solidFill>
              </a:rPr>
              <a:t>WebSocket</a:t>
            </a:r>
          </a:p>
        </p:txBody>
      </p:sp>
      <p:sp>
        <p:nvSpPr>
          <p:cNvPr id="40" name="TextBox 39"/>
          <p:cNvSpPr txBox="1"/>
          <p:nvPr/>
        </p:nvSpPr>
        <p:spPr>
          <a:xfrm>
            <a:off x="8821674" y="6291072"/>
            <a:ext cx="2635758" cy="256032"/>
          </a:xfrm>
          <a:prstGeom prst="rect">
            <a:avLst/>
          </a:prstGeom>
          <a:noFill/>
        </p:spPr>
        <p:txBody>
          <a:bodyPr wrap="square" lIns="0" rIns="0" tIns="0" bIns="0">
            <a:spAutoFit/>
          </a:bodyPr>
          <a:lstStyle/>
          <a:p>
            <a:pPr algn="ctr"/>
            <a:r>
              <a:rPr sz="900" b="0" i="0">
                <a:solidFill>
                  <a:srgbClr val="B0A0D0"/>
                </a:solidFill>
              </a:rPr>
              <a:t>Real-time telemetry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4  |  ADVANCED DASHBOARD &amp; DIAGNOSTICS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Real-Time Health Monitoring &amp; Self-Healing</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New features: RSSI gauges, PDR tracking, channel scoring, and PLL clock filters</a:t>
            </a:r>
          </a:p>
        </p:txBody>
      </p:sp>
      <p:sp>
        <p:nvSpPr>
          <p:cNvPr id="7" name="Rectangle 6"/>
          <p:cNvSpPr/>
          <p:nvPr/>
        </p:nvSpPr>
        <p:spPr>
          <a:xfrm>
            <a:off x="640080"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19456"/>
          </a:xfrm>
          <a:prstGeom prst="rect">
            <a:avLst/>
          </a:prstGeom>
          <a:noFill/>
        </p:spPr>
        <p:txBody>
          <a:bodyPr wrap="square" lIns="0" rIns="0" tIns="0" bIns="0">
            <a:spAutoFit/>
          </a:bodyPr>
          <a:lstStyle/>
          <a:p>
            <a:pPr algn="l"/>
            <a:r>
              <a:rPr sz="1050" b="1" i="0">
                <a:solidFill>
                  <a:srgbClr val="38BDF8"/>
                </a:solidFill>
              </a:rPr>
              <a:t>1. Real-Time RSSI Monitoring</a:t>
            </a:r>
          </a:p>
        </p:txBody>
      </p:sp>
      <p:sp>
        <p:nvSpPr>
          <p:cNvPr id="9" name="Rectangle 8"/>
          <p:cNvSpPr/>
          <p:nvPr/>
        </p:nvSpPr>
        <p:spPr>
          <a:xfrm>
            <a:off x="804672"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011680"/>
            <a:ext cx="4901184" cy="365760"/>
          </a:xfrm>
          <a:prstGeom prst="rect">
            <a:avLst/>
          </a:prstGeom>
          <a:noFill/>
        </p:spPr>
        <p:txBody>
          <a:bodyPr wrap="square" lIns="0" rIns="0" tIns="0" bIns="0">
            <a:spAutoFit/>
          </a:bodyPr>
          <a:lstStyle/>
          <a:p>
            <a:pPr algn="l"/>
            <a:r>
              <a:rPr sz="900" b="0" i="0">
                <a:solidFill>
                  <a:srgbClr val="B0A0D0"/>
                </a:solidFill>
              </a:rPr>
              <a:t>• Real-time signal strength calculation in dBm (ranging from -95 dBm to -30 dBm).</a:t>
            </a:r>
          </a:p>
        </p:txBody>
      </p:sp>
      <p:sp>
        <p:nvSpPr>
          <p:cNvPr id="11" name="TextBox 10"/>
          <p:cNvSpPr txBox="1"/>
          <p:nvPr/>
        </p:nvSpPr>
        <p:spPr>
          <a:xfrm>
            <a:off x="841248" y="2423160"/>
            <a:ext cx="4901184" cy="365760"/>
          </a:xfrm>
          <a:prstGeom prst="rect">
            <a:avLst/>
          </a:prstGeom>
          <a:noFill/>
        </p:spPr>
        <p:txBody>
          <a:bodyPr wrap="square" lIns="0" rIns="0" tIns="0" bIns="0">
            <a:spAutoFit/>
          </a:bodyPr>
          <a:lstStyle/>
          <a:p>
            <a:pPr algn="l"/>
            <a:r>
              <a:rPr sz="900" b="0" i="0">
                <a:solidFill>
                  <a:srgbClr val="B0A0D0"/>
                </a:solidFill>
              </a:rPr>
              <a:t>• Live visual RSSI gauge bar broadcast to all local web portals.</a:t>
            </a:r>
          </a:p>
        </p:txBody>
      </p:sp>
      <p:sp>
        <p:nvSpPr>
          <p:cNvPr id="12" name="TextBox 11"/>
          <p:cNvSpPr txBox="1"/>
          <p:nvPr/>
        </p:nvSpPr>
        <p:spPr>
          <a:xfrm>
            <a:off x="841248" y="2834640"/>
            <a:ext cx="4901184" cy="365760"/>
          </a:xfrm>
          <a:prstGeom prst="rect">
            <a:avLst/>
          </a:prstGeom>
          <a:noFill/>
        </p:spPr>
        <p:txBody>
          <a:bodyPr wrap="square" lIns="0" rIns="0" tIns="0" bIns="0">
            <a:spAutoFit/>
          </a:bodyPr>
          <a:lstStyle/>
          <a:p>
            <a:pPr algn="l"/>
            <a:r>
              <a:rPr sz="900" b="0" i="0">
                <a:solidFill>
                  <a:srgbClr val="B0A0D0"/>
                </a:solidFill>
              </a:rPr>
              <a:t>• Allows doctors and technicians to physically locate RF dead-zones by watching the dashboard.</a:t>
            </a:r>
          </a:p>
        </p:txBody>
      </p:sp>
      <p:sp>
        <p:nvSpPr>
          <p:cNvPr id="13" name="Rectangle 12"/>
          <p:cNvSpPr/>
          <p:nvPr/>
        </p:nvSpPr>
        <p:spPr>
          <a:xfrm>
            <a:off x="6153912"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8504" y="1664208"/>
            <a:ext cx="4974336" cy="219456"/>
          </a:xfrm>
          <a:prstGeom prst="rect">
            <a:avLst/>
          </a:prstGeom>
          <a:noFill/>
        </p:spPr>
        <p:txBody>
          <a:bodyPr wrap="square" lIns="0" rIns="0" tIns="0" bIns="0">
            <a:spAutoFit/>
          </a:bodyPr>
          <a:lstStyle/>
          <a:p>
            <a:pPr algn="l"/>
            <a:r>
              <a:rPr sz="1050" b="1" i="0">
                <a:solidFill>
                  <a:srgbClr val="34D399"/>
                </a:solidFill>
              </a:rPr>
              <a:t>2. Packet Delivery Ratio (PDR) &amp; Loss Tracking</a:t>
            </a:r>
          </a:p>
        </p:txBody>
      </p:sp>
      <p:sp>
        <p:nvSpPr>
          <p:cNvPr id="15" name="Rectangle 14"/>
          <p:cNvSpPr/>
          <p:nvPr/>
        </p:nvSpPr>
        <p:spPr>
          <a:xfrm>
            <a:off x="6318504"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2011680"/>
            <a:ext cx="4901184" cy="365760"/>
          </a:xfrm>
          <a:prstGeom prst="rect">
            <a:avLst/>
          </a:prstGeom>
          <a:noFill/>
        </p:spPr>
        <p:txBody>
          <a:bodyPr wrap="square" lIns="0" rIns="0" tIns="0" bIns="0">
            <a:spAutoFit/>
          </a:bodyPr>
          <a:lstStyle/>
          <a:p>
            <a:pPr algn="l"/>
            <a:r>
              <a:rPr sz="900" b="0" i="0">
                <a:solidFill>
                  <a:srgbClr val="B0A0D0"/>
                </a:solidFill>
              </a:rPr>
              <a:t>• Real-time PDR computation: PDR = (Acked / Sent) × 100%.</a:t>
            </a:r>
          </a:p>
        </p:txBody>
      </p:sp>
      <p:sp>
        <p:nvSpPr>
          <p:cNvPr id="17" name="TextBox 16"/>
          <p:cNvSpPr txBox="1"/>
          <p:nvPr/>
        </p:nvSpPr>
        <p:spPr>
          <a:xfrm>
            <a:off x="6355080" y="2423160"/>
            <a:ext cx="4901184" cy="365760"/>
          </a:xfrm>
          <a:prstGeom prst="rect">
            <a:avLst/>
          </a:prstGeom>
          <a:noFill/>
        </p:spPr>
        <p:txBody>
          <a:bodyPr wrap="square" lIns="0" rIns="0" tIns="0" bIns="0">
            <a:spAutoFit/>
          </a:bodyPr>
          <a:lstStyle/>
          <a:p>
            <a:pPr algn="l"/>
            <a:r>
              <a:rPr sz="900" b="0" i="0">
                <a:solidFill>
                  <a:srgbClr val="B0A0D0"/>
                </a:solidFill>
              </a:rPr>
              <a:t>• Live Sent / Acked / Lost counters visible on both endpoint terminals.</a:t>
            </a:r>
          </a:p>
        </p:txBody>
      </p:sp>
      <p:sp>
        <p:nvSpPr>
          <p:cNvPr id="18" name="TextBox 17"/>
          <p:cNvSpPr txBox="1"/>
          <p:nvPr/>
        </p:nvSpPr>
        <p:spPr>
          <a:xfrm>
            <a:off x="6355080" y="2834640"/>
            <a:ext cx="4901184" cy="365760"/>
          </a:xfrm>
          <a:prstGeom prst="rect">
            <a:avLst/>
          </a:prstGeom>
          <a:noFill/>
        </p:spPr>
        <p:txBody>
          <a:bodyPr wrap="square" lIns="0" rIns="0" tIns="0" bIns="0">
            <a:spAutoFit/>
          </a:bodyPr>
          <a:lstStyle/>
          <a:p>
            <a:pPr algn="l"/>
            <a:r>
              <a:rPr sz="900" b="0" i="0">
                <a:solidFill>
                  <a:srgbClr val="B0A0D0"/>
                </a:solidFill>
              </a:rPr>
              <a:t>• Implements a 3-hop ARQ retransmission window before declaring a packet timeout or loss.</a:t>
            </a:r>
          </a:p>
        </p:txBody>
      </p:sp>
      <p:sp>
        <p:nvSpPr>
          <p:cNvPr id="19" name="Rectangle 18"/>
          <p:cNvSpPr/>
          <p:nvPr/>
        </p:nvSpPr>
        <p:spPr>
          <a:xfrm>
            <a:off x="640080"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977640"/>
            <a:ext cx="4974336" cy="219456"/>
          </a:xfrm>
          <a:prstGeom prst="rect">
            <a:avLst/>
          </a:prstGeom>
          <a:noFill/>
        </p:spPr>
        <p:txBody>
          <a:bodyPr wrap="square" lIns="0" rIns="0" tIns="0" bIns="0">
            <a:spAutoFit/>
          </a:bodyPr>
          <a:lstStyle/>
          <a:p>
            <a:pPr algn="l"/>
            <a:r>
              <a:rPr sz="1050" b="1" i="0">
                <a:solidFill>
                  <a:srgbClr val="FBBF24"/>
                </a:solidFill>
              </a:rPr>
              <a:t>3. Per-Channel Quality Scoring &amp; Self-Healing</a:t>
            </a:r>
          </a:p>
        </p:txBody>
      </p:sp>
      <p:sp>
        <p:nvSpPr>
          <p:cNvPr id="21" name="Rectangle 20"/>
          <p:cNvSpPr/>
          <p:nvPr/>
        </p:nvSpPr>
        <p:spPr>
          <a:xfrm>
            <a:off x="804672"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325112"/>
            <a:ext cx="4901184" cy="365760"/>
          </a:xfrm>
          <a:prstGeom prst="rect">
            <a:avLst/>
          </a:prstGeom>
          <a:noFill/>
        </p:spPr>
        <p:txBody>
          <a:bodyPr wrap="square" lIns="0" rIns="0" tIns="0" bIns="0">
            <a:spAutoFit/>
          </a:bodyPr>
          <a:lstStyle/>
          <a:p>
            <a:pPr algn="l"/>
            <a:r>
              <a:rPr sz="900" b="0" i="0">
                <a:solidFill>
                  <a:srgbClr val="B0A0D0"/>
                </a:solidFill>
              </a:rPr>
              <a:t>• Maintains a 124-channel health score array (0% to 100% per channel).</a:t>
            </a:r>
          </a:p>
        </p:txBody>
      </p:sp>
      <p:sp>
        <p:nvSpPr>
          <p:cNvPr id="23" name="TextBox 22"/>
          <p:cNvSpPr txBox="1"/>
          <p:nvPr/>
        </p:nvSpPr>
        <p:spPr>
          <a:xfrm>
            <a:off x="841248" y="4690872"/>
            <a:ext cx="4901184" cy="365760"/>
          </a:xfrm>
          <a:prstGeom prst="rect">
            <a:avLst/>
          </a:prstGeom>
          <a:noFill/>
        </p:spPr>
        <p:txBody>
          <a:bodyPr wrap="square" lIns="0" rIns="0" tIns="0" bIns="0">
            <a:spAutoFit/>
          </a:bodyPr>
          <a:lstStyle/>
          <a:p>
            <a:pPr algn="l"/>
            <a:r>
              <a:rPr sz="900" b="0" i="0">
                <a:solidFill>
                  <a:srgbClr val="B0A0D0"/>
                </a:solidFill>
              </a:rPr>
              <a:t>• Corrupted channels instantly lose 15-20 points upon packet collision.</a:t>
            </a:r>
          </a:p>
        </p:txBody>
      </p:sp>
      <p:sp>
        <p:nvSpPr>
          <p:cNvPr id="24" name="TextBox 23"/>
          <p:cNvSpPr txBox="1"/>
          <p:nvPr/>
        </p:nvSpPr>
        <p:spPr>
          <a:xfrm>
            <a:off x="841248" y="5056632"/>
            <a:ext cx="4901184" cy="365760"/>
          </a:xfrm>
          <a:prstGeom prst="rect">
            <a:avLst/>
          </a:prstGeom>
          <a:noFill/>
        </p:spPr>
        <p:txBody>
          <a:bodyPr wrap="square" lIns="0" rIns="0" tIns="0" bIns="0">
            <a:spAutoFit/>
          </a:bodyPr>
          <a:lstStyle/>
          <a:p>
            <a:pPr algn="l"/>
            <a:r>
              <a:rPr sz="900" b="0" i="0">
                <a:solidFill>
                  <a:srgbClr val="B0A0D0"/>
                </a:solidFill>
              </a:rPr>
              <a:t>• Clean channels slowly heal (+1 point per successful hop).</a:t>
            </a:r>
          </a:p>
        </p:txBody>
      </p:sp>
      <p:sp>
        <p:nvSpPr>
          <p:cNvPr id="25" name="TextBox 24"/>
          <p:cNvSpPr txBox="1"/>
          <p:nvPr/>
        </p:nvSpPr>
        <p:spPr>
          <a:xfrm>
            <a:off x="841248" y="5422392"/>
            <a:ext cx="4901184" cy="365760"/>
          </a:xfrm>
          <a:prstGeom prst="rect">
            <a:avLst/>
          </a:prstGeom>
          <a:noFill/>
        </p:spPr>
        <p:txBody>
          <a:bodyPr wrap="square" lIns="0" rIns="0" tIns="0" bIns="0">
            <a:spAutoFit/>
          </a:bodyPr>
          <a:lstStyle/>
          <a:p>
            <a:pPr algn="l"/>
            <a:r>
              <a:rPr sz="900" b="0" i="0">
                <a:solidFill>
                  <a:srgbClr val="B0A0D0"/>
                </a:solidFill>
              </a:rPr>
              <a:t>• Visual Channel Quality bar rendered directly on the web portals.</a:t>
            </a:r>
          </a:p>
        </p:txBody>
      </p:sp>
      <p:sp>
        <p:nvSpPr>
          <p:cNvPr id="26" name="Rectangle 25"/>
          <p:cNvSpPr/>
          <p:nvPr/>
        </p:nvSpPr>
        <p:spPr>
          <a:xfrm>
            <a:off x="6153912"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18504" y="3977640"/>
            <a:ext cx="4974336" cy="219456"/>
          </a:xfrm>
          <a:prstGeom prst="rect">
            <a:avLst/>
          </a:prstGeom>
          <a:noFill/>
        </p:spPr>
        <p:txBody>
          <a:bodyPr wrap="square" lIns="0" rIns="0" tIns="0" bIns="0">
            <a:spAutoFit/>
          </a:bodyPr>
          <a:lstStyle/>
          <a:p>
            <a:pPr algn="l"/>
            <a:r>
              <a:rPr sz="1050" b="1" i="0">
                <a:solidFill>
                  <a:srgbClr val="A060FF"/>
                </a:solidFill>
              </a:rPr>
              <a:t>4. Software PLL Clock Filter (Zero Drift)</a:t>
            </a:r>
          </a:p>
        </p:txBody>
      </p:sp>
      <p:sp>
        <p:nvSpPr>
          <p:cNvPr id="28" name="Rectangle 27"/>
          <p:cNvSpPr/>
          <p:nvPr/>
        </p:nvSpPr>
        <p:spPr>
          <a:xfrm>
            <a:off x="6318504"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4325112"/>
            <a:ext cx="4901184" cy="365760"/>
          </a:xfrm>
          <a:prstGeom prst="rect">
            <a:avLst/>
          </a:prstGeom>
          <a:noFill/>
        </p:spPr>
        <p:txBody>
          <a:bodyPr wrap="square" lIns="0" rIns="0" tIns="0" bIns="0">
            <a:spAutoFit/>
          </a:bodyPr>
          <a:lstStyle/>
          <a:p>
            <a:pPr algn="l"/>
            <a:r>
              <a:rPr sz="900" b="0" i="0">
                <a:solidFill>
                  <a:srgbClr val="B0A0D0"/>
                </a:solidFill>
              </a:rPr>
              <a:t>• Exponential Moving Average (EMA) PLL filter applied on every 25 ms SYNC beacon.</a:t>
            </a:r>
          </a:p>
        </p:txBody>
      </p:sp>
      <p:sp>
        <p:nvSpPr>
          <p:cNvPr id="30" name="TextBox 29"/>
          <p:cNvSpPr txBox="1"/>
          <p:nvPr/>
        </p:nvSpPr>
        <p:spPr>
          <a:xfrm>
            <a:off x="6355080" y="4736592"/>
            <a:ext cx="4901184" cy="365760"/>
          </a:xfrm>
          <a:prstGeom prst="rect">
            <a:avLst/>
          </a:prstGeom>
          <a:noFill/>
        </p:spPr>
        <p:txBody>
          <a:bodyPr wrap="square" lIns="0" rIns="0" tIns="0" bIns="0">
            <a:spAutoFit/>
          </a:bodyPr>
          <a:lstStyle/>
          <a:p>
            <a:pPr algn="l"/>
            <a:r>
              <a:rPr sz="900" b="0" i="0">
                <a:solidFill>
                  <a:srgbClr val="B0A0D0"/>
                </a:solidFill>
              </a:rPr>
              <a:t>• Mathematically eliminates crystal oscillator ppm drift indefinitely over long deployments.</a:t>
            </a:r>
          </a:p>
        </p:txBody>
      </p:sp>
      <p:sp>
        <p:nvSpPr>
          <p:cNvPr id="31" name="TextBox 30"/>
          <p:cNvSpPr txBox="1"/>
          <p:nvPr/>
        </p:nvSpPr>
        <p:spPr>
          <a:xfrm>
            <a:off x="6355080" y="5148072"/>
            <a:ext cx="4901184" cy="365760"/>
          </a:xfrm>
          <a:prstGeom prst="rect">
            <a:avLst/>
          </a:prstGeom>
          <a:noFill/>
        </p:spPr>
        <p:txBody>
          <a:bodyPr wrap="square" lIns="0" rIns="0" tIns="0" bIns="0">
            <a:spAutoFit/>
          </a:bodyPr>
          <a:lstStyle/>
          <a:p>
            <a:pPr algn="l"/>
            <a:r>
              <a:rPr sz="900" b="0" i="0">
                <a:solidFill>
                  <a:srgbClr val="B0A0D0"/>
                </a:solidFill>
              </a:rPr>
              <a:t>• 600 ms fast-watchdog recovery automatically triggers if the radio signal is physically blocked.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5  |  EMPIRICAL VALIDATION &amp; DEMO  |  2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Live Demo Runbook &amp; Measured Results</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4 test scenarios proving zero loss, dynamic blacklisting, and sub-500 ms sync</a:t>
            </a:r>
          </a:p>
        </p:txBody>
      </p:sp>
      <p:sp>
        <p:nvSpPr>
          <p:cNvPr id="7" name="Rectangle 6"/>
          <p:cNvSpPr/>
          <p:nvPr/>
        </p:nvSpPr>
        <p:spPr>
          <a:xfrm>
            <a:off x="640080" y="1572768"/>
            <a:ext cx="5303520" cy="21031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19456"/>
          </a:xfrm>
          <a:prstGeom prst="rect">
            <a:avLst/>
          </a:prstGeom>
          <a:noFill/>
        </p:spPr>
        <p:txBody>
          <a:bodyPr wrap="square" lIns="0" rIns="0" tIns="0" bIns="0">
            <a:spAutoFit/>
          </a:bodyPr>
          <a:lstStyle/>
          <a:p>
            <a:pPr algn="l"/>
            <a:r>
              <a:rPr sz="1050" b="1" i="0">
                <a:solidFill>
                  <a:srgbClr val="38BDF8"/>
                </a:solidFill>
              </a:rPr>
              <a:t>Test 1 -- Mesh Power-Up &amp; Sync Lock</a:t>
            </a:r>
          </a:p>
        </p:txBody>
      </p:sp>
      <p:sp>
        <p:nvSpPr>
          <p:cNvPr id="9" name="Rectangle 8"/>
          <p:cNvSpPr/>
          <p:nvPr/>
        </p:nvSpPr>
        <p:spPr>
          <a:xfrm>
            <a:off x="804672"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011680"/>
            <a:ext cx="4901184" cy="384048"/>
          </a:xfrm>
          <a:prstGeom prst="rect">
            <a:avLst/>
          </a:prstGeom>
          <a:noFill/>
        </p:spPr>
        <p:txBody>
          <a:bodyPr wrap="square" lIns="0" rIns="0" tIns="0" bIns="0">
            <a:spAutoFit/>
          </a:bodyPr>
          <a:lstStyle/>
          <a:p>
            <a:pPr algn="l"/>
            <a:r>
              <a:rPr sz="900" b="0" i="0">
                <a:solidFill>
                  <a:srgbClr val="B0A0D0"/>
                </a:solidFill>
              </a:rPr>
              <a:t>1.  Power up Node B. LCD shows:  CH:---  HOP:0  BUF:0  JAM:0</a:t>
            </a:r>
          </a:p>
        </p:txBody>
      </p:sp>
      <p:sp>
        <p:nvSpPr>
          <p:cNvPr id="11" name="TextBox 10"/>
          <p:cNvSpPr txBox="1"/>
          <p:nvPr/>
        </p:nvSpPr>
        <p:spPr>
          <a:xfrm>
            <a:off x="841248" y="2450592"/>
            <a:ext cx="4901184" cy="384048"/>
          </a:xfrm>
          <a:prstGeom prst="rect">
            <a:avLst/>
          </a:prstGeom>
          <a:noFill/>
        </p:spPr>
        <p:txBody>
          <a:bodyPr wrap="square" lIns="0" rIns="0" tIns="0" bIns="0">
            <a:spAutoFit/>
          </a:bodyPr>
          <a:lstStyle/>
          <a:p>
            <a:pPr algn="l"/>
            <a:r>
              <a:rPr sz="900" b="0" i="0">
                <a:solidFill>
                  <a:srgbClr val="B0A0D0"/>
                </a:solidFill>
              </a:rPr>
              <a:t>2.  Power Nodes A &amp; C. Both lock onto SYNC beacon within 380 ms.</a:t>
            </a:r>
          </a:p>
        </p:txBody>
      </p:sp>
      <p:sp>
        <p:nvSpPr>
          <p:cNvPr id="12" name="TextBox 11"/>
          <p:cNvSpPr txBox="1"/>
          <p:nvPr/>
        </p:nvSpPr>
        <p:spPr>
          <a:xfrm>
            <a:off x="841248" y="2889504"/>
            <a:ext cx="4901184" cy="384048"/>
          </a:xfrm>
          <a:prstGeom prst="rect">
            <a:avLst/>
          </a:prstGeom>
          <a:noFill/>
        </p:spPr>
        <p:txBody>
          <a:bodyPr wrap="square" lIns="0" rIns="0" tIns="0" bIns="0">
            <a:spAutoFit/>
          </a:bodyPr>
          <a:lstStyle/>
          <a:p>
            <a:pPr algn="l"/>
            <a:r>
              <a:rPr sz="900" b="0" i="0">
                <a:solidFill>
                  <a:srgbClr val="B0A0D0"/>
                </a:solidFill>
              </a:rPr>
              <a:t>3.  All three nodes begin hopping across 124 channels in lockstep.</a:t>
            </a:r>
          </a:p>
        </p:txBody>
      </p:sp>
      <p:sp>
        <p:nvSpPr>
          <p:cNvPr id="13" name="Rectangle 12"/>
          <p:cNvSpPr/>
          <p:nvPr/>
        </p:nvSpPr>
        <p:spPr>
          <a:xfrm>
            <a:off x="6153912" y="1572768"/>
            <a:ext cx="5303520" cy="21031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8504" y="1664208"/>
            <a:ext cx="4974336" cy="219456"/>
          </a:xfrm>
          <a:prstGeom prst="rect">
            <a:avLst/>
          </a:prstGeom>
          <a:noFill/>
        </p:spPr>
        <p:txBody>
          <a:bodyPr wrap="square" lIns="0" rIns="0" tIns="0" bIns="0">
            <a:spAutoFit/>
          </a:bodyPr>
          <a:lstStyle/>
          <a:p>
            <a:pPr algn="l"/>
            <a:r>
              <a:rPr sz="1050" b="1" i="0">
                <a:solidFill>
                  <a:srgbClr val="34D399"/>
                </a:solidFill>
              </a:rPr>
              <a:t>Test 2 -- End-to-End Message Delivery</a:t>
            </a:r>
          </a:p>
        </p:txBody>
      </p:sp>
      <p:sp>
        <p:nvSpPr>
          <p:cNvPr id="15" name="Rectangle 14"/>
          <p:cNvSpPr/>
          <p:nvPr/>
        </p:nvSpPr>
        <p:spPr>
          <a:xfrm>
            <a:off x="6318504"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2011680"/>
            <a:ext cx="4901184" cy="384048"/>
          </a:xfrm>
          <a:prstGeom prst="rect">
            <a:avLst/>
          </a:prstGeom>
          <a:noFill/>
        </p:spPr>
        <p:txBody>
          <a:bodyPr wrap="square" lIns="0" rIns="0" tIns="0" bIns="0">
            <a:spAutoFit/>
          </a:bodyPr>
          <a:lstStyle/>
          <a:p>
            <a:pPr algn="l"/>
            <a:r>
              <a:rPr sz="900" b="0" i="0">
                <a:solidFill>
                  <a:srgbClr val="B0A0D0"/>
                </a:solidFill>
              </a:rPr>
              <a:t>1.  Send 'Code Blue Room 304' from Node A web UI or Supabase dashboard.</a:t>
            </a:r>
          </a:p>
        </p:txBody>
      </p:sp>
      <p:sp>
        <p:nvSpPr>
          <p:cNvPr id="17" name="TextBox 16"/>
          <p:cNvSpPr txBox="1"/>
          <p:nvPr/>
        </p:nvSpPr>
        <p:spPr>
          <a:xfrm>
            <a:off x="6355080" y="2450592"/>
            <a:ext cx="4901184" cy="384048"/>
          </a:xfrm>
          <a:prstGeom prst="rect">
            <a:avLst/>
          </a:prstGeom>
          <a:noFill/>
        </p:spPr>
        <p:txBody>
          <a:bodyPr wrap="square" lIns="0" rIns="0" tIns="0" bIns="0">
            <a:spAutoFit/>
          </a:bodyPr>
          <a:lstStyle/>
          <a:p>
            <a:pPr algn="l"/>
            <a:r>
              <a:rPr sz="900" b="0" i="0">
                <a:solidFill>
                  <a:srgbClr val="B0A0D0"/>
                </a:solidFill>
              </a:rPr>
              <a:t>2.  Node A encapsulates in 32B frame, transmits to B. B forwards to C.</a:t>
            </a:r>
          </a:p>
        </p:txBody>
      </p:sp>
      <p:sp>
        <p:nvSpPr>
          <p:cNvPr id="18" name="TextBox 17"/>
          <p:cNvSpPr txBox="1"/>
          <p:nvPr/>
        </p:nvSpPr>
        <p:spPr>
          <a:xfrm>
            <a:off x="6355080" y="2889504"/>
            <a:ext cx="4901184" cy="384048"/>
          </a:xfrm>
          <a:prstGeom prst="rect">
            <a:avLst/>
          </a:prstGeom>
          <a:noFill/>
        </p:spPr>
        <p:txBody>
          <a:bodyPr wrap="square" lIns="0" rIns="0" tIns="0" bIns="0">
            <a:spAutoFit/>
          </a:bodyPr>
          <a:lstStyle/>
          <a:p>
            <a:pPr algn="l"/>
            <a:r>
              <a:rPr sz="900" b="0" i="0">
                <a:solidFill>
                  <a:srgbClr val="B0A0D0"/>
                </a:solidFill>
              </a:rPr>
              <a:t>3.  Node C receives and confirms delivery. Round-trip &lt; 65 ms.</a:t>
            </a:r>
          </a:p>
        </p:txBody>
      </p:sp>
      <p:sp>
        <p:nvSpPr>
          <p:cNvPr id="19" name="Rectangle 18"/>
          <p:cNvSpPr/>
          <p:nvPr/>
        </p:nvSpPr>
        <p:spPr>
          <a:xfrm>
            <a:off x="640080" y="3831336"/>
            <a:ext cx="5303520" cy="21031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922776"/>
            <a:ext cx="4974336" cy="219456"/>
          </a:xfrm>
          <a:prstGeom prst="rect">
            <a:avLst/>
          </a:prstGeom>
          <a:noFill/>
        </p:spPr>
        <p:txBody>
          <a:bodyPr wrap="square" lIns="0" rIns="0" tIns="0" bIns="0">
            <a:spAutoFit/>
          </a:bodyPr>
          <a:lstStyle/>
          <a:p>
            <a:pPr algn="l"/>
            <a:r>
              <a:rPr sz="1050" b="1" i="0">
                <a:solidFill>
                  <a:srgbClr val="FBBF24"/>
                </a:solidFill>
              </a:rPr>
              <a:t>Test 3 -- Dead-Zone Buffering (Zero-Loss Proof)</a:t>
            </a:r>
          </a:p>
        </p:txBody>
      </p:sp>
      <p:sp>
        <p:nvSpPr>
          <p:cNvPr id="21" name="Rectangle 20"/>
          <p:cNvSpPr/>
          <p:nvPr/>
        </p:nvSpPr>
        <p:spPr>
          <a:xfrm>
            <a:off x="804672" y="417880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270248"/>
            <a:ext cx="4901184" cy="384048"/>
          </a:xfrm>
          <a:prstGeom prst="rect">
            <a:avLst/>
          </a:prstGeom>
          <a:noFill/>
        </p:spPr>
        <p:txBody>
          <a:bodyPr wrap="square" lIns="0" rIns="0" tIns="0" bIns="0">
            <a:spAutoFit/>
          </a:bodyPr>
          <a:lstStyle/>
          <a:p>
            <a:pPr algn="l"/>
            <a:r>
              <a:rPr sz="900" b="0" i="0">
                <a:solidFill>
                  <a:srgbClr val="B0A0D0"/>
                </a:solidFill>
              </a:rPr>
              <a:t>1.  Unplug Node C to simulate doctor entering an elevator.</a:t>
            </a:r>
          </a:p>
        </p:txBody>
      </p:sp>
      <p:sp>
        <p:nvSpPr>
          <p:cNvPr id="23" name="TextBox 22"/>
          <p:cNvSpPr txBox="1"/>
          <p:nvPr/>
        </p:nvSpPr>
        <p:spPr>
          <a:xfrm>
            <a:off x="841248" y="4709160"/>
            <a:ext cx="4901184" cy="384048"/>
          </a:xfrm>
          <a:prstGeom prst="rect">
            <a:avLst/>
          </a:prstGeom>
          <a:noFill/>
        </p:spPr>
        <p:txBody>
          <a:bodyPr wrap="square" lIns="0" rIns="0" tIns="0" bIns="0">
            <a:spAutoFit/>
          </a:bodyPr>
          <a:lstStyle/>
          <a:p>
            <a:pPr algn="l"/>
            <a:r>
              <a:rPr sz="900" b="0" i="0">
                <a:solidFill>
                  <a:srgbClr val="B0A0D0"/>
                </a:solidFill>
              </a:rPr>
              <a:t>2.  Dispatch 5 messages. Node B LCD updates:  BUF: 5 pk.</a:t>
            </a:r>
          </a:p>
        </p:txBody>
      </p:sp>
      <p:sp>
        <p:nvSpPr>
          <p:cNvPr id="24" name="TextBox 23"/>
          <p:cNvSpPr txBox="1"/>
          <p:nvPr/>
        </p:nvSpPr>
        <p:spPr>
          <a:xfrm>
            <a:off x="841248" y="5148072"/>
            <a:ext cx="4901184" cy="384048"/>
          </a:xfrm>
          <a:prstGeom prst="rect">
            <a:avLst/>
          </a:prstGeom>
          <a:noFill/>
        </p:spPr>
        <p:txBody>
          <a:bodyPr wrap="square" lIns="0" rIns="0" tIns="0" bIns="0">
            <a:spAutoFit/>
          </a:bodyPr>
          <a:lstStyle/>
          <a:p>
            <a:pPr algn="l"/>
            <a:r>
              <a:rPr sz="900" b="0" i="0">
                <a:solidFill>
                  <a:srgbClr val="B0A0D0"/>
                </a:solidFill>
              </a:rPr>
              <a:t>3.  Plug C back in. All 5 packets drain within 240 ms. 0.0% loss.</a:t>
            </a:r>
          </a:p>
        </p:txBody>
      </p:sp>
      <p:sp>
        <p:nvSpPr>
          <p:cNvPr id="25" name="Rectangle 24"/>
          <p:cNvSpPr/>
          <p:nvPr/>
        </p:nvSpPr>
        <p:spPr>
          <a:xfrm>
            <a:off x="6153912" y="3831336"/>
            <a:ext cx="5303520" cy="21031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18504" y="3922776"/>
            <a:ext cx="4974336" cy="219456"/>
          </a:xfrm>
          <a:prstGeom prst="rect">
            <a:avLst/>
          </a:prstGeom>
          <a:noFill/>
        </p:spPr>
        <p:txBody>
          <a:bodyPr wrap="square" lIns="0" rIns="0" tIns="0" bIns="0">
            <a:spAutoFit/>
          </a:bodyPr>
          <a:lstStyle/>
          <a:p>
            <a:pPr algn="l"/>
            <a:r>
              <a:rPr sz="1050" b="1" i="0">
                <a:solidFill>
                  <a:srgbClr val="F87171"/>
                </a:solidFill>
              </a:rPr>
              <a:t>Test 4 -- RF Jammer Stress &amp; Blacklisting</a:t>
            </a:r>
          </a:p>
        </p:txBody>
      </p:sp>
      <p:sp>
        <p:nvSpPr>
          <p:cNvPr id="27" name="Rectangle 26"/>
          <p:cNvSpPr/>
          <p:nvPr/>
        </p:nvSpPr>
        <p:spPr>
          <a:xfrm>
            <a:off x="6318504" y="417880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4270248"/>
            <a:ext cx="4901184" cy="384048"/>
          </a:xfrm>
          <a:prstGeom prst="rect">
            <a:avLst/>
          </a:prstGeom>
          <a:noFill/>
        </p:spPr>
        <p:txBody>
          <a:bodyPr wrap="square" lIns="0" rIns="0" tIns="0" bIns="0">
            <a:spAutoFit/>
          </a:bodyPr>
          <a:lstStyle/>
          <a:p>
            <a:pPr algn="l"/>
            <a:r>
              <a:rPr sz="900" b="0" i="0">
                <a:solidFill>
                  <a:srgbClr val="B0A0D0"/>
                </a:solidFill>
              </a:rPr>
              <a:t>1.  Mega jammer fires +20 dBm spot jammer on CH 45 (2.445 GHz).</a:t>
            </a:r>
          </a:p>
        </p:txBody>
      </p:sp>
      <p:sp>
        <p:nvSpPr>
          <p:cNvPr id="29" name="TextBox 28"/>
          <p:cNvSpPr txBox="1"/>
          <p:nvPr/>
        </p:nvSpPr>
        <p:spPr>
          <a:xfrm>
            <a:off x="6355080" y="4709160"/>
            <a:ext cx="4901184" cy="384048"/>
          </a:xfrm>
          <a:prstGeom prst="rect">
            <a:avLst/>
          </a:prstGeom>
          <a:noFill/>
        </p:spPr>
        <p:txBody>
          <a:bodyPr wrap="square" lIns="0" rIns="0" tIns="0" bIns="0">
            <a:spAutoFit/>
          </a:bodyPr>
          <a:lstStyle/>
          <a:p>
            <a:pPr algn="l"/>
            <a:r>
              <a:rPr sz="900" b="0" i="0">
                <a:solidFill>
                  <a:srgbClr val="B0A0D0"/>
                </a:solidFill>
              </a:rPr>
              <a:t>2.  Node B detects carrier in quiet tail scan. Blacklists CH 45. LCD: JAM: 1.</a:t>
            </a:r>
          </a:p>
        </p:txBody>
      </p:sp>
      <p:sp>
        <p:nvSpPr>
          <p:cNvPr id="30" name="TextBox 29"/>
          <p:cNvSpPr txBox="1"/>
          <p:nvPr/>
        </p:nvSpPr>
        <p:spPr>
          <a:xfrm>
            <a:off x="6355080" y="5148072"/>
            <a:ext cx="4901184" cy="384048"/>
          </a:xfrm>
          <a:prstGeom prst="rect">
            <a:avLst/>
          </a:prstGeom>
          <a:noFill/>
        </p:spPr>
        <p:txBody>
          <a:bodyPr wrap="square" lIns="0" rIns="0" tIns="0" bIns="0">
            <a:spAutoFit/>
          </a:bodyPr>
          <a:lstStyle/>
          <a:p>
            <a:pPr algn="l"/>
            <a:r>
              <a:rPr sz="900" b="0" i="0">
                <a:solidFill>
                  <a:srgbClr val="B0A0D0"/>
                </a:solidFill>
              </a:rPr>
              <a:t>3.  All 3 nodes skip CH 45 on the very next hop. Zero packet drop.</a:t>
            </a:r>
          </a:p>
        </p:txBody>
      </p:sp>
      <p:sp>
        <p:nvSpPr>
          <p:cNvPr id="31" name="Rectangle 30"/>
          <p:cNvSpPr/>
          <p:nvPr/>
        </p:nvSpPr>
        <p:spPr>
          <a:xfrm>
            <a:off x="640080"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961888"/>
            <a:ext cx="2635758" cy="320040"/>
          </a:xfrm>
          <a:prstGeom prst="rect">
            <a:avLst/>
          </a:prstGeom>
          <a:noFill/>
        </p:spPr>
        <p:txBody>
          <a:bodyPr wrap="square" lIns="0" rIns="0" tIns="0" bIns="0">
            <a:spAutoFit/>
          </a:bodyPr>
          <a:lstStyle/>
          <a:p>
            <a:pPr algn="ctr"/>
            <a:r>
              <a:rPr sz="1800" b="1" i="0">
                <a:solidFill>
                  <a:srgbClr val="38BDF8"/>
                </a:solidFill>
              </a:rPr>
              <a:t>380 ms</a:t>
            </a:r>
          </a:p>
        </p:txBody>
      </p:sp>
      <p:sp>
        <p:nvSpPr>
          <p:cNvPr id="33" name="TextBox 32"/>
          <p:cNvSpPr txBox="1"/>
          <p:nvPr/>
        </p:nvSpPr>
        <p:spPr>
          <a:xfrm>
            <a:off x="640080" y="6291072"/>
            <a:ext cx="2635758" cy="256032"/>
          </a:xfrm>
          <a:prstGeom prst="rect">
            <a:avLst/>
          </a:prstGeom>
          <a:noFill/>
        </p:spPr>
        <p:txBody>
          <a:bodyPr wrap="square" lIns="0" rIns="0" tIns="0" bIns="0">
            <a:spAutoFit/>
          </a:bodyPr>
          <a:lstStyle/>
          <a:p>
            <a:pPr algn="ctr"/>
            <a:r>
              <a:rPr sz="900" b="0" i="0">
                <a:solidFill>
                  <a:srgbClr val="B0A0D0"/>
                </a:solidFill>
              </a:rPr>
              <a:t>Sync acquisition</a:t>
            </a:r>
          </a:p>
        </p:txBody>
      </p:sp>
      <p:sp>
        <p:nvSpPr>
          <p:cNvPr id="34" name="Rectangle 33"/>
          <p:cNvSpPr/>
          <p:nvPr/>
        </p:nvSpPr>
        <p:spPr>
          <a:xfrm>
            <a:off x="3367278"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7278" y="5961888"/>
            <a:ext cx="2635758" cy="320040"/>
          </a:xfrm>
          <a:prstGeom prst="rect">
            <a:avLst/>
          </a:prstGeom>
          <a:noFill/>
        </p:spPr>
        <p:txBody>
          <a:bodyPr wrap="square" lIns="0" rIns="0" tIns="0" bIns="0">
            <a:spAutoFit/>
          </a:bodyPr>
          <a:lstStyle/>
          <a:p>
            <a:pPr algn="ctr"/>
            <a:r>
              <a:rPr sz="1800" b="1" i="0">
                <a:solidFill>
                  <a:srgbClr val="34D399"/>
                </a:solidFill>
              </a:rPr>
              <a:t>&lt; 65 ms</a:t>
            </a:r>
          </a:p>
        </p:txBody>
      </p:sp>
      <p:sp>
        <p:nvSpPr>
          <p:cNvPr id="36" name="TextBox 35"/>
          <p:cNvSpPr txBox="1"/>
          <p:nvPr/>
        </p:nvSpPr>
        <p:spPr>
          <a:xfrm>
            <a:off x="3367278" y="6291072"/>
            <a:ext cx="2635758" cy="256032"/>
          </a:xfrm>
          <a:prstGeom prst="rect">
            <a:avLst/>
          </a:prstGeom>
          <a:noFill/>
        </p:spPr>
        <p:txBody>
          <a:bodyPr wrap="square" lIns="0" rIns="0" tIns="0" bIns="0">
            <a:spAutoFit/>
          </a:bodyPr>
          <a:lstStyle/>
          <a:p>
            <a:pPr algn="ctr"/>
            <a:r>
              <a:rPr sz="900" b="0" i="0">
                <a:solidFill>
                  <a:srgbClr val="B0A0D0"/>
                </a:solidFill>
              </a:rPr>
              <a:t>Cloud delivery latency</a:t>
            </a:r>
          </a:p>
        </p:txBody>
      </p:sp>
      <p:sp>
        <p:nvSpPr>
          <p:cNvPr id="37" name="Rectangle 36"/>
          <p:cNvSpPr/>
          <p:nvPr/>
        </p:nvSpPr>
        <p:spPr>
          <a:xfrm>
            <a:off x="6094476"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94476" y="5961888"/>
            <a:ext cx="2635758" cy="320040"/>
          </a:xfrm>
          <a:prstGeom prst="rect">
            <a:avLst/>
          </a:prstGeom>
          <a:noFill/>
        </p:spPr>
        <p:txBody>
          <a:bodyPr wrap="square" lIns="0" rIns="0" tIns="0" bIns="0">
            <a:spAutoFit/>
          </a:bodyPr>
          <a:lstStyle/>
          <a:p>
            <a:pPr algn="ctr"/>
            <a:r>
              <a:rPr sz="1800" b="1" i="0">
                <a:solidFill>
                  <a:srgbClr val="FBBF24"/>
                </a:solidFill>
              </a:rPr>
              <a:t>0.00 %</a:t>
            </a:r>
          </a:p>
        </p:txBody>
      </p:sp>
      <p:sp>
        <p:nvSpPr>
          <p:cNvPr id="39" name="TextBox 38"/>
          <p:cNvSpPr txBox="1"/>
          <p:nvPr/>
        </p:nvSpPr>
        <p:spPr>
          <a:xfrm>
            <a:off x="6094476" y="6291072"/>
            <a:ext cx="2635758" cy="256032"/>
          </a:xfrm>
          <a:prstGeom prst="rect">
            <a:avLst/>
          </a:prstGeom>
          <a:noFill/>
        </p:spPr>
        <p:txBody>
          <a:bodyPr wrap="square" lIns="0" rIns="0" tIns="0" bIns="0">
            <a:spAutoFit/>
          </a:bodyPr>
          <a:lstStyle/>
          <a:p>
            <a:pPr algn="ctr"/>
            <a:r>
              <a:rPr sz="900" b="0" i="0">
                <a:solidFill>
                  <a:srgbClr val="B0A0D0"/>
                </a:solidFill>
              </a:rPr>
              <a:t>Dead-zone packet loss</a:t>
            </a:r>
          </a:p>
        </p:txBody>
      </p:sp>
      <p:sp>
        <p:nvSpPr>
          <p:cNvPr id="40" name="Rectangle 39"/>
          <p:cNvSpPr/>
          <p:nvPr/>
        </p:nvSpPr>
        <p:spPr>
          <a:xfrm>
            <a:off x="8821674"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21674" y="5961888"/>
            <a:ext cx="2635758" cy="320040"/>
          </a:xfrm>
          <a:prstGeom prst="rect">
            <a:avLst/>
          </a:prstGeom>
          <a:noFill/>
        </p:spPr>
        <p:txBody>
          <a:bodyPr wrap="square" lIns="0" rIns="0" tIns="0" bIns="0">
            <a:spAutoFit/>
          </a:bodyPr>
          <a:lstStyle/>
          <a:p>
            <a:pPr algn="ctr"/>
            <a:r>
              <a:rPr sz="1800" b="1" i="0">
                <a:solidFill>
                  <a:srgbClr val="F87171"/>
                </a:solidFill>
              </a:rPr>
              <a:t>1 hop</a:t>
            </a:r>
          </a:p>
        </p:txBody>
      </p:sp>
      <p:sp>
        <p:nvSpPr>
          <p:cNvPr id="42" name="TextBox 41"/>
          <p:cNvSpPr txBox="1"/>
          <p:nvPr/>
        </p:nvSpPr>
        <p:spPr>
          <a:xfrm>
            <a:off x="8821674" y="6291072"/>
            <a:ext cx="2635758" cy="256032"/>
          </a:xfrm>
          <a:prstGeom prst="rect">
            <a:avLst/>
          </a:prstGeom>
          <a:noFill/>
        </p:spPr>
        <p:txBody>
          <a:bodyPr wrap="square" lIns="0" rIns="0" tIns="0" bIns="0">
            <a:spAutoFit/>
          </a:bodyPr>
          <a:lstStyle/>
          <a:p>
            <a:pPr algn="ctr"/>
            <a:r>
              <a:rPr sz="900" b="0" i="0">
                <a:solidFill>
                  <a:srgbClr val="B0A0D0"/>
                </a:solidFill>
              </a:rPr>
              <a:t>Jammer detect &amp; blacklist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5  |  PROJECT PLANNING &amp; MILESTONES  |  2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Development Timeline &amp; Phase Completion</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Structured engineering phases from literature survey through final empirical validation</a:t>
            </a:r>
          </a:p>
        </p:txBody>
      </p:sp>
      <p:sp>
        <p:nvSpPr>
          <p:cNvPr id="7" name="Rectangle 6"/>
          <p:cNvSpPr/>
          <p:nvPr/>
        </p:nvSpPr>
        <p:spPr>
          <a:xfrm>
            <a:off x="640080" y="1572768"/>
            <a:ext cx="10908792" cy="448056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92640" y="1773936"/>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755648"/>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10" name="TextBox 9"/>
          <p:cNvSpPr txBox="1"/>
          <p:nvPr/>
        </p:nvSpPr>
        <p:spPr>
          <a:xfrm>
            <a:off x="822960" y="1755648"/>
            <a:ext cx="8686800" cy="201168"/>
          </a:xfrm>
          <a:prstGeom prst="rect">
            <a:avLst/>
          </a:prstGeom>
          <a:noFill/>
        </p:spPr>
        <p:txBody>
          <a:bodyPr wrap="square" lIns="0" rIns="0" tIns="0" bIns="0">
            <a:spAutoFit/>
          </a:bodyPr>
          <a:lstStyle/>
          <a:p>
            <a:pPr algn="l"/>
            <a:r>
              <a:rPr sz="1000" b="1" i="0">
                <a:solidFill>
                  <a:srgbClr val="FFFFFF"/>
                </a:solidFill>
              </a:rPr>
              <a:t>Phase 1 -- Literature Survey &amp; Threat Modelling</a:t>
            </a:r>
          </a:p>
        </p:txBody>
      </p:sp>
      <p:sp>
        <p:nvSpPr>
          <p:cNvPr id="11" name="TextBox 10"/>
          <p:cNvSpPr txBox="1"/>
          <p:nvPr/>
        </p:nvSpPr>
        <p:spPr>
          <a:xfrm>
            <a:off x="896112" y="2011680"/>
            <a:ext cx="9601200" cy="384048"/>
          </a:xfrm>
          <a:prstGeom prst="rect">
            <a:avLst/>
          </a:prstGeom>
          <a:noFill/>
        </p:spPr>
        <p:txBody>
          <a:bodyPr wrap="square" lIns="0" rIns="0" tIns="0" bIns="0">
            <a:spAutoFit/>
          </a:bodyPr>
          <a:lstStyle/>
          <a:p>
            <a:pPr algn="l"/>
            <a:r>
              <a:rPr sz="900" b="0" i="0">
                <a:solidFill>
                  <a:srgbClr val="B0A0D0"/>
                </a:solidFill>
              </a:rPr>
              <a:t>Surveyed 100+ IEEE/ACM papers across FHSS, blacklisting, DTN, and game theory. Defined 4 jammer attack profiles (spot, sweep, random, reactive) and the DTN edge buffering requirements.</a:t>
            </a:r>
          </a:p>
        </p:txBody>
      </p:sp>
      <p:sp>
        <p:nvSpPr>
          <p:cNvPr id="12" name="Rectangle 11"/>
          <p:cNvSpPr/>
          <p:nvPr/>
        </p:nvSpPr>
        <p:spPr>
          <a:xfrm>
            <a:off x="822960" y="2523744"/>
            <a:ext cx="9784080"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0" y="2615184"/>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0" y="2596896"/>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15" name="TextBox 14"/>
          <p:cNvSpPr txBox="1"/>
          <p:nvPr/>
        </p:nvSpPr>
        <p:spPr>
          <a:xfrm>
            <a:off x="822960" y="2596896"/>
            <a:ext cx="8686800" cy="201168"/>
          </a:xfrm>
          <a:prstGeom prst="rect">
            <a:avLst/>
          </a:prstGeom>
          <a:noFill/>
        </p:spPr>
        <p:txBody>
          <a:bodyPr wrap="square" lIns="0" rIns="0" tIns="0" bIns="0">
            <a:spAutoFit/>
          </a:bodyPr>
          <a:lstStyle/>
          <a:p>
            <a:pPr algn="l"/>
            <a:r>
              <a:rPr sz="1000" b="1" i="0">
                <a:solidFill>
                  <a:srgbClr val="FFFFFF"/>
                </a:solidFill>
              </a:rPr>
              <a:t>Phase 2 -- Protocol Design &amp; Mathematical Models</a:t>
            </a:r>
          </a:p>
        </p:txBody>
      </p:sp>
      <p:sp>
        <p:nvSpPr>
          <p:cNvPr id="16" name="TextBox 15"/>
          <p:cNvSpPr txBox="1"/>
          <p:nvPr/>
        </p:nvSpPr>
        <p:spPr>
          <a:xfrm>
            <a:off x="896112" y="2852928"/>
            <a:ext cx="9601200" cy="384048"/>
          </a:xfrm>
          <a:prstGeom prst="rect">
            <a:avLst/>
          </a:prstGeom>
          <a:noFill/>
        </p:spPr>
        <p:txBody>
          <a:bodyPr wrap="square" lIns="0" rIns="0" tIns="0" bIns="0">
            <a:spAutoFit/>
          </a:bodyPr>
          <a:lstStyle/>
          <a:p>
            <a:pPr algn="l"/>
            <a:r>
              <a:rPr sz="900" b="0" i="0">
                <a:solidFill>
                  <a:srgbClr val="B0A0D0"/>
                </a:solidFill>
              </a:rPr>
              <a:t>Designed 25 ms slotted frame structure with 6 sub-phases. Developed XORShift32 PRNG for deterministic lockstep hopping. Specified 32-byte frame format with CRC-8 integrity and 16-byte blacklist bitmap for zero-negotiation avoidance.</a:t>
            </a:r>
          </a:p>
        </p:txBody>
      </p:sp>
      <p:sp>
        <p:nvSpPr>
          <p:cNvPr id="17" name="Rectangle 16"/>
          <p:cNvSpPr/>
          <p:nvPr/>
        </p:nvSpPr>
        <p:spPr>
          <a:xfrm>
            <a:off x="822960" y="3364992"/>
            <a:ext cx="9784080"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692640" y="3456432"/>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0" y="3438144"/>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20" name="TextBox 19"/>
          <p:cNvSpPr txBox="1"/>
          <p:nvPr/>
        </p:nvSpPr>
        <p:spPr>
          <a:xfrm>
            <a:off x="822960" y="3438144"/>
            <a:ext cx="8686800" cy="201168"/>
          </a:xfrm>
          <a:prstGeom prst="rect">
            <a:avLst/>
          </a:prstGeom>
          <a:noFill/>
        </p:spPr>
        <p:txBody>
          <a:bodyPr wrap="square" lIns="0" rIns="0" tIns="0" bIns="0">
            <a:spAutoFit/>
          </a:bodyPr>
          <a:lstStyle/>
          <a:p>
            <a:pPr algn="l"/>
            <a:r>
              <a:rPr sz="1000" b="1" i="0">
                <a:solidFill>
                  <a:srgbClr val="FFFFFF"/>
                </a:solidFill>
              </a:rPr>
              <a:t>Phase 3 -- Firmware Development &amp; Hardware Assembly</a:t>
            </a:r>
          </a:p>
        </p:txBody>
      </p:sp>
      <p:sp>
        <p:nvSpPr>
          <p:cNvPr id="21" name="TextBox 20"/>
          <p:cNvSpPr txBox="1"/>
          <p:nvPr/>
        </p:nvSpPr>
        <p:spPr>
          <a:xfrm>
            <a:off x="896112" y="3694176"/>
            <a:ext cx="9601200" cy="384048"/>
          </a:xfrm>
          <a:prstGeom prst="rect">
            <a:avLst/>
          </a:prstGeom>
          <a:noFill/>
        </p:spPr>
        <p:txBody>
          <a:bodyPr wrap="square" lIns="0" rIns="0" tIns="0" bIns="0">
            <a:spAutoFit/>
          </a:bodyPr>
          <a:lstStyle/>
          <a:p>
            <a:pPr algn="l"/>
            <a:r>
              <a:rPr sz="900" b="0" i="0">
                <a:solidFill>
                  <a:srgbClr val="B0A0D0"/>
                </a:solidFill>
              </a:rPr>
              <a:t>Wrote all node firmware in C/C++. Assembled 3 ESP32 nodes with nRF24L01+ transceivers and SPI bus. Built Arduino Mega jammer console with 3.5" TFT touchscreen. Verified clean compilation across all targets.</a:t>
            </a:r>
          </a:p>
        </p:txBody>
      </p:sp>
      <p:sp>
        <p:nvSpPr>
          <p:cNvPr id="22" name="Rectangle 21"/>
          <p:cNvSpPr/>
          <p:nvPr/>
        </p:nvSpPr>
        <p:spPr>
          <a:xfrm>
            <a:off x="822960" y="4206240"/>
            <a:ext cx="9784080"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692640" y="4297680"/>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4279392"/>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25" name="TextBox 24"/>
          <p:cNvSpPr txBox="1"/>
          <p:nvPr/>
        </p:nvSpPr>
        <p:spPr>
          <a:xfrm>
            <a:off x="822960" y="4279392"/>
            <a:ext cx="8686800" cy="201168"/>
          </a:xfrm>
          <a:prstGeom prst="rect">
            <a:avLst/>
          </a:prstGeom>
          <a:noFill/>
        </p:spPr>
        <p:txBody>
          <a:bodyPr wrap="square" lIns="0" rIns="0" tIns="0" bIns="0">
            <a:spAutoFit/>
          </a:bodyPr>
          <a:lstStyle/>
          <a:p>
            <a:pPr algn="l"/>
            <a:r>
              <a:rPr sz="1000" b="1" i="0">
                <a:solidFill>
                  <a:srgbClr val="FFFFFF"/>
                </a:solidFill>
              </a:rPr>
              <a:t>Phase 4 -- Cloud Backend &amp; Web Dashboard</a:t>
            </a:r>
          </a:p>
        </p:txBody>
      </p:sp>
      <p:sp>
        <p:nvSpPr>
          <p:cNvPr id="26" name="TextBox 25"/>
          <p:cNvSpPr txBox="1"/>
          <p:nvPr/>
        </p:nvSpPr>
        <p:spPr>
          <a:xfrm>
            <a:off x="896112" y="4535424"/>
            <a:ext cx="9601200" cy="384048"/>
          </a:xfrm>
          <a:prstGeom prst="rect">
            <a:avLst/>
          </a:prstGeom>
          <a:noFill/>
        </p:spPr>
        <p:txBody>
          <a:bodyPr wrap="square" lIns="0" rIns="0" tIns="0" bIns="0">
            <a:spAutoFit/>
          </a:bodyPr>
          <a:lstStyle/>
          <a:p>
            <a:pPr algn="l"/>
            <a:r>
              <a:rPr sz="900" b="0" i="0">
                <a:solidFill>
                  <a:srgbClr val="B0A0D0"/>
                </a:solidFill>
              </a:rPr>
              <a:t>Configured Supabase PostgreSQL with 4 relational tables. Implemented REST API polling on ESP32 nodes. Built HTML5/CSS3 124-channel spectrum heatmap with WebSocket real-time telemetry streaming.</a:t>
            </a:r>
          </a:p>
        </p:txBody>
      </p:sp>
      <p:sp>
        <p:nvSpPr>
          <p:cNvPr id="27" name="Rectangle 26"/>
          <p:cNvSpPr/>
          <p:nvPr/>
        </p:nvSpPr>
        <p:spPr>
          <a:xfrm>
            <a:off x="822960" y="5047488"/>
            <a:ext cx="9784080"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92640" y="5138928"/>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0" y="5120640"/>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30" name="TextBox 29"/>
          <p:cNvSpPr txBox="1"/>
          <p:nvPr/>
        </p:nvSpPr>
        <p:spPr>
          <a:xfrm>
            <a:off x="822960" y="5120640"/>
            <a:ext cx="8686800" cy="201168"/>
          </a:xfrm>
          <a:prstGeom prst="rect">
            <a:avLst/>
          </a:prstGeom>
          <a:noFill/>
        </p:spPr>
        <p:txBody>
          <a:bodyPr wrap="square" lIns="0" rIns="0" tIns="0" bIns="0">
            <a:spAutoFit/>
          </a:bodyPr>
          <a:lstStyle/>
          <a:p>
            <a:pPr algn="l"/>
            <a:r>
              <a:rPr sz="1000" b="1" i="0">
                <a:solidFill>
                  <a:srgbClr val="FFFFFF"/>
                </a:solidFill>
              </a:rPr>
              <a:t>Phase 5 -- RF Simulation &amp; Empirical Validation</a:t>
            </a:r>
          </a:p>
        </p:txBody>
      </p:sp>
      <p:sp>
        <p:nvSpPr>
          <p:cNvPr id="31" name="TextBox 30"/>
          <p:cNvSpPr txBox="1"/>
          <p:nvPr/>
        </p:nvSpPr>
        <p:spPr>
          <a:xfrm>
            <a:off x="896112" y="5376672"/>
            <a:ext cx="9601200" cy="384048"/>
          </a:xfrm>
          <a:prstGeom prst="rect">
            <a:avLst/>
          </a:prstGeom>
          <a:noFill/>
        </p:spPr>
        <p:txBody>
          <a:bodyPr wrap="square" lIns="0" rIns="0" tIns="0" bIns="0">
            <a:spAutoFit/>
          </a:bodyPr>
          <a:lstStyle/>
          <a:p>
            <a:pPr algn="l"/>
            <a:r>
              <a:rPr sz="900" b="0" i="0">
                <a:solidFill>
                  <a:srgbClr val="B0A0D0"/>
                </a:solidFill>
              </a:rPr>
              <a:t>Ran Ansys HFSS antenna simulation at 2.45 GHz. Executed all 4 live test scenarios. Measured: sync acquisition 380 ms, dead-zone loss 0.00%, jammer blacklist in 1 hop.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6  |  TEAM PRESENTATION &amp; Q&amp;A  |  2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Work Breakdown &amp; Technical Defense Preparation</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Clear engineering ownership and answers ready for viva evaluation</a:t>
            </a:r>
          </a:p>
        </p:txBody>
      </p:sp>
      <p:sp>
        <p:nvSpPr>
          <p:cNvPr id="7" name="Rectangle 6"/>
          <p:cNvSpPr/>
          <p:nvPr/>
        </p:nvSpPr>
        <p:spPr>
          <a:xfrm>
            <a:off x="640080" y="1572768"/>
            <a:ext cx="530352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37744"/>
          </a:xfrm>
          <a:prstGeom prst="rect">
            <a:avLst/>
          </a:prstGeom>
          <a:noFill/>
        </p:spPr>
        <p:txBody>
          <a:bodyPr wrap="square" lIns="0" rIns="0" tIns="0" bIns="0">
            <a:spAutoFit/>
          </a:bodyPr>
          <a:lstStyle/>
          <a:p>
            <a:pPr algn="l"/>
            <a:r>
              <a:rPr sz="1100" b="1" i="0">
                <a:solidFill>
                  <a:srgbClr val="38BDF8"/>
                </a:solidFill>
              </a:rPr>
              <a:t>Team Work Breakdown</a:t>
            </a:r>
          </a:p>
        </p:txBody>
      </p:sp>
      <p:sp>
        <p:nvSpPr>
          <p:cNvPr id="9" name="Rectangle 8"/>
          <p:cNvSpPr/>
          <p:nvPr/>
        </p:nvSpPr>
        <p:spPr>
          <a:xfrm>
            <a:off x="804672" y="193852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29968"/>
            <a:ext cx="4974336" cy="201168"/>
          </a:xfrm>
          <a:prstGeom prst="rect">
            <a:avLst/>
          </a:prstGeom>
          <a:noFill/>
        </p:spPr>
        <p:txBody>
          <a:bodyPr wrap="square" lIns="0" rIns="0" tIns="0" bIns="0">
            <a:spAutoFit/>
          </a:bodyPr>
          <a:lstStyle/>
          <a:p>
            <a:pPr algn="l"/>
            <a:r>
              <a:rPr sz="950" b="1" i="0">
                <a:solidFill>
                  <a:srgbClr val="FFFFFF"/>
                </a:solidFill>
              </a:rPr>
              <a:t>  RF Protocol &amp; Firmware</a:t>
            </a:r>
          </a:p>
        </p:txBody>
      </p:sp>
      <p:sp>
        <p:nvSpPr>
          <p:cNvPr id="11" name="TextBox 10"/>
          <p:cNvSpPr txBox="1"/>
          <p:nvPr/>
        </p:nvSpPr>
        <p:spPr>
          <a:xfrm>
            <a:off x="877824" y="2240280"/>
            <a:ext cx="4828032" cy="384048"/>
          </a:xfrm>
          <a:prstGeom prst="rect">
            <a:avLst/>
          </a:prstGeom>
          <a:noFill/>
        </p:spPr>
        <p:txBody>
          <a:bodyPr wrap="square" lIns="0" rIns="0" tIns="0" bIns="0">
            <a:spAutoFit/>
          </a:bodyPr>
          <a:lstStyle/>
          <a:p>
            <a:pPr algn="l"/>
            <a:r>
              <a:rPr sz="880" b="0" i="0">
                <a:solidFill>
                  <a:srgbClr val="B0A0D0"/>
                </a:solidFill>
              </a:rPr>
              <a:t>Slotted 25 ms FHSS timing engine, XORShift32 PRNG, CRC-8 frame structure, FreeRTOS Core 1 SPI driver.</a:t>
            </a:r>
          </a:p>
        </p:txBody>
      </p:sp>
      <p:sp>
        <p:nvSpPr>
          <p:cNvPr id="12" name="TextBox 11"/>
          <p:cNvSpPr txBox="1"/>
          <p:nvPr/>
        </p:nvSpPr>
        <p:spPr>
          <a:xfrm>
            <a:off x="804672" y="2715768"/>
            <a:ext cx="4974336" cy="201168"/>
          </a:xfrm>
          <a:prstGeom prst="rect">
            <a:avLst/>
          </a:prstGeom>
          <a:noFill/>
        </p:spPr>
        <p:txBody>
          <a:bodyPr wrap="square" lIns="0" rIns="0" tIns="0" bIns="0">
            <a:spAutoFit/>
          </a:bodyPr>
          <a:lstStyle/>
          <a:p>
            <a:pPr algn="l"/>
            <a:r>
              <a:rPr sz="950" b="1" i="0">
                <a:solidFill>
                  <a:srgbClr val="FFFFFF"/>
                </a:solidFill>
              </a:rPr>
              <a:t>  Embedded Hardware</a:t>
            </a:r>
          </a:p>
        </p:txBody>
      </p:sp>
      <p:sp>
        <p:nvSpPr>
          <p:cNvPr id="13" name="TextBox 12"/>
          <p:cNvSpPr txBox="1"/>
          <p:nvPr/>
        </p:nvSpPr>
        <p:spPr>
          <a:xfrm>
            <a:off x="877824" y="2926080"/>
            <a:ext cx="4828032" cy="384048"/>
          </a:xfrm>
          <a:prstGeom prst="rect">
            <a:avLst/>
          </a:prstGeom>
          <a:noFill/>
        </p:spPr>
        <p:txBody>
          <a:bodyPr wrap="square" lIns="0" rIns="0" tIns="0" bIns="0">
            <a:spAutoFit/>
          </a:bodyPr>
          <a:lstStyle/>
          <a:p>
            <a:pPr algn="l"/>
            <a:r>
              <a:rPr sz="880" b="0" i="0">
                <a:solidFill>
                  <a:srgbClr val="B0A0D0"/>
                </a:solidFill>
              </a:rPr>
              <a:t>Node assembly, SPI signal routing, decoupling capacitor placement, 16x2 LCD wiring, and jammer touchscreen integration.</a:t>
            </a:r>
          </a:p>
        </p:txBody>
      </p:sp>
      <p:sp>
        <p:nvSpPr>
          <p:cNvPr id="14" name="TextBox 13"/>
          <p:cNvSpPr txBox="1"/>
          <p:nvPr/>
        </p:nvSpPr>
        <p:spPr>
          <a:xfrm>
            <a:off x="804672" y="3401568"/>
            <a:ext cx="4974336" cy="201168"/>
          </a:xfrm>
          <a:prstGeom prst="rect">
            <a:avLst/>
          </a:prstGeom>
          <a:noFill/>
        </p:spPr>
        <p:txBody>
          <a:bodyPr wrap="square" lIns="0" rIns="0" tIns="0" bIns="0">
            <a:spAutoFit/>
          </a:bodyPr>
          <a:lstStyle/>
          <a:p>
            <a:pPr algn="l"/>
            <a:r>
              <a:rPr sz="950" b="1" i="0">
                <a:solidFill>
                  <a:srgbClr val="FFFFFF"/>
                </a:solidFill>
              </a:rPr>
              <a:t>  Cloud &amp; Full-Stack</a:t>
            </a:r>
          </a:p>
        </p:txBody>
      </p:sp>
      <p:sp>
        <p:nvSpPr>
          <p:cNvPr id="15" name="TextBox 14"/>
          <p:cNvSpPr txBox="1"/>
          <p:nvPr/>
        </p:nvSpPr>
        <p:spPr>
          <a:xfrm>
            <a:off x="877824" y="3611880"/>
            <a:ext cx="4828032" cy="384048"/>
          </a:xfrm>
          <a:prstGeom prst="rect">
            <a:avLst/>
          </a:prstGeom>
          <a:noFill/>
        </p:spPr>
        <p:txBody>
          <a:bodyPr wrap="square" lIns="0" rIns="0" tIns="0" bIns="0">
            <a:spAutoFit/>
          </a:bodyPr>
          <a:lstStyle/>
          <a:p>
            <a:pPr algn="l"/>
            <a:r>
              <a:rPr sz="880" b="0" i="0">
                <a:solidFill>
                  <a:srgbClr val="B0A0D0"/>
                </a:solidFill>
              </a:rPr>
              <a:t>Supabase database schema, REST API polling logic, WebSocket telemetry stream, HTML5 spectrum heatmap.</a:t>
            </a:r>
          </a:p>
        </p:txBody>
      </p:sp>
      <p:sp>
        <p:nvSpPr>
          <p:cNvPr id="16" name="TextBox 15"/>
          <p:cNvSpPr txBox="1"/>
          <p:nvPr/>
        </p:nvSpPr>
        <p:spPr>
          <a:xfrm>
            <a:off x="804672" y="4087368"/>
            <a:ext cx="4974336" cy="201168"/>
          </a:xfrm>
          <a:prstGeom prst="rect">
            <a:avLst/>
          </a:prstGeom>
          <a:noFill/>
        </p:spPr>
        <p:txBody>
          <a:bodyPr wrap="square" lIns="0" rIns="0" tIns="0" bIns="0">
            <a:spAutoFit/>
          </a:bodyPr>
          <a:lstStyle/>
          <a:p>
            <a:pPr algn="l"/>
            <a:r>
              <a:rPr sz="950" b="1" i="0">
                <a:solidFill>
                  <a:srgbClr val="FFFFFF"/>
                </a:solidFill>
              </a:rPr>
              <a:t>  RF Modelling &amp; Testing</a:t>
            </a:r>
          </a:p>
        </p:txBody>
      </p:sp>
      <p:sp>
        <p:nvSpPr>
          <p:cNvPr id="17" name="TextBox 16"/>
          <p:cNvSpPr txBox="1"/>
          <p:nvPr/>
        </p:nvSpPr>
        <p:spPr>
          <a:xfrm>
            <a:off x="877824" y="4297680"/>
            <a:ext cx="4828032" cy="384048"/>
          </a:xfrm>
          <a:prstGeom prst="rect">
            <a:avLst/>
          </a:prstGeom>
          <a:noFill/>
        </p:spPr>
        <p:txBody>
          <a:bodyPr wrap="square" lIns="0" rIns="0" tIns="0" bIns="0">
            <a:spAutoFit/>
          </a:bodyPr>
          <a:lstStyle/>
          <a:p>
            <a:pPr algn="l"/>
            <a:r>
              <a:rPr sz="880" b="0" i="0">
                <a:solidFill>
                  <a:srgbClr val="B0A0D0"/>
                </a:solidFill>
              </a:rPr>
              <a:t>Ansys HFSS 2.4 GHz antenna simulation, SIR bounds analysis, empirical dead-zone and jammer stress tests.</a:t>
            </a:r>
          </a:p>
        </p:txBody>
      </p:sp>
      <p:sp>
        <p:nvSpPr>
          <p:cNvPr id="18" name="Rectangle 17"/>
          <p:cNvSpPr/>
          <p:nvPr/>
        </p:nvSpPr>
        <p:spPr>
          <a:xfrm>
            <a:off x="6199632" y="1572768"/>
            <a:ext cx="53492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664208"/>
            <a:ext cx="5020056" cy="237744"/>
          </a:xfrm>
          <a:prstGeom prst="rect">
            <a:avLst/>
          </a:prstGeom>
          <a:noFill/>
        </p:spPr>
        <p:txBody>
          <a:bodyPr wrap="square" lIns="0" rIns="0" tIns="0" bIns="0">
            <a:spAutoFit/>
          </a:bodyPr>
          <a:lstStyle/>
          <a:p>
            <a:pPr algn="l"/>
            <a:r>
              <a:rPr sz="1100" b="1" i="0">
                <a:solidFill>
                  <a:srgbClr val="FBBF24"/>
                </a:solidFill>
              </a:rPr>
              <a:t>Anticipated Viva Questions</a:t>
            </a:r>
          </a:p>
        </p:txBody>
      </p:sp>
      <p:sp>
        <p:nvSpPr>
          <p:cNvPr id="20" name="Rectangle 19"/>
          <p:cNvSpPr/>
          <p:nvPr/>
        </p:nvSpPr>
        <p:spPr>
          <a:xfrm>
            <a:off x="6364224" y="1938528"/>
            <a:ext cx="50200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2029968"/>
            <a:ext cx="5020056" cy="201168"/>
          </a:xfrm>
          <a:prstGeom prst="rect">
            <a:avLst/>
          </a:prstGeom>
          <a:noFill/>
        </p:spPr>
        <p:txBody>
          <a:bodyPr wrap="square" lIns="0" rIns="0" tIns="0" bIns="0">
            <a:spAutoFit/>
          </a:bodyPr>
          <a:lstStyle/>
          <a:p>
            <a:pPr algn="l"/>
            <a:r>
              <a:rPr sz="950" b="1" i="0">
                <a:solidFill>
                  <a:srgbClr val="A060FF"/>
                </a:solidFill>
              </a:rPr>
              <a:t>Q: What if a jammer corrupts the SYNC beacon?</a:t>
            </a:r>
          </a:p>
        </p:txBody>
      </p:sp>
      <p:sp>
        <p:nvSpPr>
          <p:cNvPr id="22" name="TextBox 21"/>
          <p:cNvSpPr txBox="1"/>
          <p:nvPr/>
        </p:nvSpPr>
        <p:spPr>
          <a:xfrm>
            <a:off x="6437376" y="2249424"/>
            <a:ext cx="4846320" cy="530352"/>
          </a:xfrm>
          <a:prstGeom prst="rect">
            <a:avLst/>
          </a:prstGeom>
          <a:noFill/>
        </p:spPr>
        <p:txBody>
          <a:bodyPr wrap="square" lIns="0" rIns="0" tIns="0" bIns="0">
            <a:spAutoFit/>
          </a:bodyPr>
          <a:lstStyle/>
          <a:p>
            <a:pPr algn="l"/>
            <a:r>
              <a:rPr sz="880" b="0" i="0">
                <a:solidFill>
                  <a:srgbClr val="B0A0D0"/>
                </a:solidFill>
              </a:rPr>
              <a:t>The flywheel clock continues hopping on the PRNG trajectory for 40 consecutive hops without a beacon. Sync is maintained until a clear slot allows re-acquisition via the sliding-window correlator.</a:t>
            </a:r>
          </a:p>
        </p:txBody>
      </p:sp>
      <p:sp>
        <p:nvSpPr>
          <p:cNvPr id="23" name="TextBox 22"/>
          <p:cNvSpPr txBox="1"/>
          <p:nvPr/>
        </p:nvSpPr>
        <p:spPr>
          <a:xfrm>
            <a:off x="6364224" y="2907792"/>
            <a:ext cx="5020056" cy="201168"/>
          </a:xfrm>
          <a:prstGeom prst="rect">
            <a:avLst/>
          </a:prstGeom>
          <a:noFill/>
        </p:spPr>
        <p:txBody>
          <a:bodyPr wrap="square" lIns="0" rIns="0" tIns="0" bIns="0">
            <a:spAutoFit/>
          </a:bodyPr>
          <a:lstStyle/>
          <a:p>
            <a:pPr algn="l"/>
            <a:r>
              <a:rPr sz="950" b="1" i="0">
                <a:solidFill>
                  <a:srgbClr val="A060FF"/>
                </a:solidFill>
              </a:rPr>
              <a:t>Q: How does Node B avoid overflow during extended dead zones?</a:t>
            </a:r>
          </a:p>
        </p:txBody>
      </p:sp>
      <p:sp>
        <p:nvSpPr>
          <p:cNvPr id="24" name="TextBox 23"/>
          <p:cNvSpPr txBox="1"/>
          <p:nvPr/>
        </p:nvSpPr>
        <p:spPr>
          <a:xfrm>
            <a:off x="6437376" y="3127248"/>
            <a:ext cx="4846320" cy="530352"/>
          </a:xfrm>
          <a:prstGeom prst="rect">
            <a:avLst/>
          </a:prstGeom>
          <a:noFill/>
        </p:spPr>
        <p:txBody>
          <a:bodyPr wrap="square" lIns="0" rIns="0" tIns="0" bIns="0">
            <a:spAutoFit/>
          </a:bodyPr>
          <a:lstStyle/>
          <a:p>
            <a:pPr algn="l"/>
            <a:r>
              <a:rPr sz="880" b="0" i="0">
                <a:solidFill>
                  <a:srgbClr val="B0A0D0"/>
                </a:solidFill>
              </a:rPr>
              <a:t>Priority queueing (emergency triage first) backed by dual SRAM + SPIFFS non-volatile flash paging. Supports thousands of packets before any eviction is required.</a:t>
            </a:r>
          </a:p>
        </p:txBody>
      </p:sp>
      <p:sp>
        <p:nvSpPr>
          <p:cNvPr id="25" name="TextBox 24"/>
          <p:cNvSpPr txBox="1"/>
          <p:nvPr/>
        </p:nvSpPr>
        <p:spPr>
          <a:xfrm>
            <a:off x="6364224" y="3785616"/>
            <a:ext cx="5020056" cy="201168"/>
          </a:xfrm>
          <a:prstGeom prst="rect">
            <a:avLst/>
          </a:prstGeom>
          <a:noFill/>
        </p:spPr>
        <p:txBody>
          <a:bodyPr wrap="square" lIns="0" rIns="0" tIns="0" bIns="0">
            <a:spAutoFit/>
          </a:bodyPr>
          <a:lstStyle/>
          <a:p>
            <a:pPr algn="l"/>
            <a:r>
              <a:rPr sz="950" b="1" i="0">
                <a:solidFill>
                  <a:srgbClr val="A060FF"/>
                </a:solidFill>
              </a:rPr>
              <a:t>Q: What stops a 124-channel sweep jammer from winning?</a:t>
            </a:r>
          </a:p>
        </p:txBody>
      </p:sp>
      <p:sp>
        <p:nvSpPr>
          <p:cNvPr id="26" name="TextBox 25"/>
          <p:cNvSpPr txBox="1"/>
          <p:nvPr/>
        </p:nvSpPr>
        <p:spPr>
          <a:xfrm>
            <a:off x="6437376" y="4005072"/>
            <a:ext cx="4846320" cy="530352"/>
          </a:xfrm>
          <a:prstGeom prst="rect">
            <a:avLst/>
          </a:prstGeom>
          <a:noFill/>
        </p:spPr>
        <p:txBody>
          <a:bodyPr wrap="square" lIns="0" rIns="0" tIns="0" bIns="0">
            <a:spAutoFit/>
          </a:bodyPr>
          <a:lstStyle/>
          <a:p>
            <a:pPr algn="l"/>
            <a:r>
              <a:rPr sz="880" b="0" i="0">
                <a:solidFill>
                  <a:srgbClr val="B0A0D0"/>
                </a:solidFill>
              </a:rPr>
              <a:t>A sweep jammer's per-channel dwell is &lt;1 ms. Our 25 ms dwell gives a 25x processing-gain advantage: the 32-byte packet completes transmission long before the jammer returns to that channel.</a:t>
            </a:r>
          </a:p>
        </p:txBody>
      </p:sp>
      <p:sp>
        <p:nvSpPr>
          <p:cNvPr id="27" name="Rectangle 26"/>
          <p:cNvSpPr/>
          <p:nvPr/>
        </p:nvSpPr>
        <p:spPr>
          <a:xfrm>
            <a:off x="640080" y="5870448"/>
            <a:ext cx="10908792"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943600"/>
            <a:ext cx="10515600" cy="512064"/>
          </a:xfrm>
          <a:prstGeom prst="rect">
            <a:avLst/>
          </a:prstGeom>
          <a:noFill/>
        </p:spPr>
        <p:txBody>
          <a:bodyPr wrap="square" lIns="0" rIns="0" tIns="0" bIns="0">
            <a:spAutoFit/>
          </a:bodyPr>
          <a:lstStyle/>
          <a:p>
            <a:pPr algn="l"/>
            <a:r>
              <a:rPr sz="1000" b="0" i="0">
                <a:solidFill>
                  <a:srgbClr val="B0A0D0"/>
                </a:solidFill>
              </a:rPr>
              <a:t>All team members can explain theoretical derivations, firmware register operations, and execute the live hardware demonstration end-to-end.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SUMMARY &amp; FUTURE DIRECTIONS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What We Built and Where It Goes Next</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Tactical-grade jamming resilience, zero data loss, and cloud telemetry on commodity embedded hardware</a:t>
            </a:r>
          </a:p>
        </p:txBody>
      </p:sp>
      <p:sp>
        <p:nvSpPr>
          <p:cNvPr id="7" name="Rectangle 6"/>
          <p:cNvSpPr/>
          <p:nvPr/>
        </p:nvSpPr>
        <p:spPr>
          <a:xfrm>
            <a:off x="640080"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2962656" cy="237744"/>
          </a:xfrm>
          <a:prstGeom prst="rect">
            <a:avLst/>
          </a:prstGeom>
          <a:noFill/>
        </p:spPr>
        <p:txBody>
          <a:bodyPr wrap="square" lIns="0" rIns="0" tIns="0" bIns="0">
            <a:spAutoFit/>
          </a:bodyPr>
          <a:lstStyle/>
          <a:p>
            <a:pPr algn="l"/>
            <a:r>
              <a:rPr sz="1100" b="1" i="0">
                <a:solidFill>
                  <a:srgbClr val="38BDF8"/>
                </a:solidFill>
              </a:rPr>
              <a:t>What We Delivered</a:t>
            </a:r>
          </a:p>
        </p:txBody>
      </p:sp>
      <p:sp>
        <p:nvSpPr>
          <p:cNvPr id="9" name="Rectangle 8"/>
          <p:cNvSpPr/>
          <p:nvPr/>
        </p:nvSpPr>
        <p:spPr>
          <a:xfrm>
            <a:off x="804672"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48256"/>
            <a:ext cx="2962656" cy="182880"/>
          </a:xfrm>
          <a:prstGeom prst="rect">
            <a:avLst/>
          </a:prstGeom>
          <a:noFill/>
        </p:spPr>
        <p:txBody>
          <a:bodyPr wrap="square" lIns="0" rIns="0" tIns="0" bIns="0">
            <a:spAutoFit/>
          </a:bodyPr>
          <a:lstStyle/>
          <a:p>
            <a:pPr algn="l"/>
            <a:r>
              <a:rPr sz="950" b="1" i="0">
                <a:solidFill>
                  <a:srgbClr val="FFFFFF"/>
                </a:solidFill>
              </a:rPr>
              <a:t>  25 ms Slotted FHSS</a:t>
            </a:r>
          </a:p>
        </p:txBody>
      </p:sp>
      <p:sp>
        <p:nvSpPr>
          <p:cNvPr id="11" name="TextBox 10"/>
          <p:cNvSpPr txBox="1"/>
          <p:nvPr/>
        </p:nvSpPr>
        <p:spPr>
          <a:xfrm>
            <a:off x="877824" y="2249424"/>
            <a:ext cx="2889504" cy="402336"/>
          </a:xfrm>
          <a:prstGeom prst="rect">
            <a:avLst/>
          </a:prstGeom>
          <a:noFill/>
        </p:spPr>
        <p:txBody>
          <a:bodyPr wrap="square" lIns="0" rIns="0" tIns="0" bIns="0">
            <a:spAutoFit/>
          </a:bodyPr>
          <a:lstStyle/>
          <a:p>
            <a:pPr algn="l"/>
            <a:r>
              <a:rPr sz="880" b="0" i="0">
                <a:solidFill>
                  <a:srgbClr val="B0A0D0"/>
                </a:solidFill>
              </a:rPr>
              <a:t>XORShift lockstep across 124 channels with &lt;10 us jitter on dual-core FreeRTOS.</a:t>
            </a:r>
          </a:p>
        </p:txBody>
      </p:sp>
      <p:sp>
        <p:nvSpPr>
          <p:cNvPr id="12" name="TextBox 11"/>
          <p:cNvSpPr txBox="1"/>
          <p:nvPr/>
        </p:nvSpPr>
        <p:spPr>
          <a:xfrm>
            <a:off x="804672" y="2724912"/>
            <a:ext cx="2962656" cy="182880"/>
          </a:xfrm>
          <a:prstGeom prst="rect">
            <a:avLst/>
          </a:prstGeom>
          <a:noFill/>
        </p:spPr>
        <p:txBody>
          <a:bodyPr wrap="square" lIns="0" rIns="0" tIns="0" bIns="0">
            <a:spAutoFit/>
          </a:bodyPr>
          <a:lstStyle/>
          <a:p>
            <a:pPr algn="l"/>
            <a:r>
              <a:rPr sz="950" b="1" i="0">
                <a:solidFill>
                  <a:srgbClr val="FFFFFF"/>
                </a:solidFill>
              </a:rPr>
              <a:t>  Dynamic Blacklisting</a:t>
            </a:r>
          </a:p>
        </p:txBody>
      </p:sp>
      <p:sp>
        <p:nvSpPr>
          <p:cNvPr id="13" name="TextBox 12"/>
          <p:cNvSpPr txBox="1"/>
          <p:nvPr/>
        </p:nvSpPr>
        <p:spPr>
          <a:xfrm>
            <a:off x="877824" y="2926080"/>
            <a:ext cx="2889504" cy="402336"/>
          </a:xfrm>
          <a:prstGeom prst="rect">
            <a:avLst/>
          </a:prstGeom>
          <a:noFill/>
        </p:spPr>
        <p:txBody>
          <a:bodyPr wrap="square" lIns="0" rIns="0" tIns="0" bIns="0">
            <a:spAutoFit/>
          </a:bodyPr>
          <a:lstStyle/>
          <a:p>
            <a:pPr algn="l"/>
            <a:r>
              <a:rPr sz="880" b="0" i="0">
                <a:solidFill>
                  <a:srgbClr val="B0A0D0"/>
                </a:solidFill>
              </a:rPr>
              <a:t>RPD carrier sensing + 16-byte bitmap beacon. Zero negotiation overhead.</a:t>
            </a:r>
          </a:p>
        </p:txBody>
      </p:sp>
      <p:sp>
        <p:nvSpPr>
          <p:cNvPr id="14" name="TextBox 13"/>
          <p:cNvSpPr txBox="1"/>
          <p:nvPr/>
        </p:nvSpPr>
        <p:spPr>
          <a:xfrm>
            <a:off x="804672" y="3401568"/>
            <a:ext cx="2962656" cy="182880"/>
          </a:xfrm>
          <a:prstGeom prst="rect">
            <a:avLst/>
          </a:prstGeom>
          <a:noFill/>
        </p:spPr>
        <p:txBody>
          <a:bodyPr wrap="square" lIns="0" rIns="0" tIns="0" bIns="0">
            <a:spAutoFit/>
          </a:bodyPr>
          <a:lstStyle/>
          <a:p>
            <a:pPr algn="l"/>
            <a:r>
              <a:rPr sz="950" b="1" i="0">
                <a:solidFill>
                  <a:srgbClr val="FFFFFF"/>
                </a:solidFill>
              </a:rPr>
              <a:t>  Persistent Edge Buffer</a:t>
            </a:r>
          </a:p>
        </p:txBody>
      </p:sp>
      <p:sp>
        <p:nvSpPr>
          <p:cNvPr id="15" name="TextBox 14"/>
          <p:cNvSpPr txBox="1"/>
          <p:nvPr/>
        </p:nvSpPr>
        <p:spPr>
          <a:xfrm>
            <a:off x="877824" y="3602736"/>
            <a:ext cx="2889504" cy="402336"/>
          </a:xfrm>
          <a:prstGeom prst="rect">
            <a:avLst/>
          </a:prstGeom>
          <a:noFill/>
        </p:spPr>
        <p:txBody>
          <a:bodyPr wrap="square" lIns="0" rIns="0" tIns="0" bIns="0">
            <a:spAutoFit/>
          </a:bodyPr>
          <a:lstStyle/>
          <a:p>
            <a:pPr algn="l"/>
            <a:r>
              <a:rPr sz="880" b="0" i="0">
                <a:solidFill>
                  <a:srgbClr val="B0A0D0"/>
                </a:solidFill>
              </a:rPr>
              <a:t>SRAM + SPIFFS store-and-forward: 0.0% dead-zone packet loss verified.</a:t>
            </a:r>
          </a:p>
        </p:txBody>
      </p:sp>
      <p:sp>
        <p:nvSpPr>
          <p:cNvPr id="16" name="TextBox 15"/>
          <p:cNvSpPr txBox="1"/>
          <p:nvPr/>
        </p:nvSpPr>
        <p:spPr>
          <a:xfrm>
            <a:off x="804672" y="4078224"/>
            <a:ext cx="2962656" cy="182880"/>
          </a:xfrm>
          <a:prstGeom prst="rect">
            <a:avLst/>
          </a:prstGeom>
          <a:noFill/>
        </p:spPr>
        <p:txBody>
          <a:bodyPr wrap="square" lIns="0" rIns="0" tIns="0" bIns="0">
            <a:spAutoFit/>
          </a:bodyPr>
          <a:lstStyle/>
          <a:p>
            <a:pPr algn="l"/>
            <a:r>
              <a:rPr sz="950" b="1" i="0">
                <a:solidFill>
                  <a:srgbClr val="FFFFFF"/>
                </a:solidFill>
              </a:rPr>
              <a:t>  Adversary Jammer Console</a:t>
            </a:r>
          </a:p>
        </p:txBody>
      </p:sp>
      <p:sp>
        <p:nvSpPr>
          <p:cNvPr id="17" name="TextBox 16"/>
          <p:cNvSpPr txBox="1"/>
          <p:nvPr/>
        </p:nvSpPr>
        <p:spPr>
          <a:xfrm>
            <a:off x="877824" y="4279392"/>
            <a:ext cx="2889504" cy="402336"/>
          </a:xfrm>
          <a:prstGeom prst="rect">
            <a:avLst/>
          </a:prstGeom>
          <a:noFill/>
        </p:spPr>
        <p:txBody>
          <a:bodyPr wrap="square" lIns="0" rIns="0" tIns="0" bIns="0">
            <a:spAutoFit/>
          </a:bodyPr>
          <a:lstStyle/>
          <a:p>
            <a:pPr algn="l"/>
            <a:r>
              <a:rPr sz="880" b="0" i="0">
                <a:solidFill>
                  <a:srgbClr val="B0A0D0"/>
                </a:solidFill>
              </a:rPr>
              <a:t>Mega 2560 with 3.5" touchscreen. 4 attack modes up to +20 dBm.</a:t>
            </a:r>
          </a:p>
        </p:txBody>
      </p:sp>
      <p:sp>
        <p:nvSpPr>
          <p:cNvPr id="18" name="TextBox 17"/>
          <p:cNvSpPr txBox="1"/>
          <p:nvPr/>
        </p:nvSpPr>
        <p:spPr>
          <a:xfrm>
            <a:off x="804672" y="4754880"/>
            <a:ext cx="2962656" cy="182880"/>
          </a:xfrm>
          <a:prstGeom prst="rect">
            <a:avLst/>
          </a:prstGeom>
          <a:noFill/>
        </p:spPr>
        <p:txBody>
          <a:bodyPr wrap="square" lIns="0" rIns="0" tIns="0" bIns="0">
            <a:spAutoFit/>
          </a:bodyPr>
          <a:lstStyle/>
          <a:p>
            <a:pPr algn="l"/>
            <a:r>
              <a:rPr sz="950" b="1" i="0">
                <a:solidFill>
                  <a:srgbClr val="FFFFFF"/>
                </a:solidFill>
              </a:rPr>
              <a:t>  Cloud Spectrum Heatmap</a:t>
            </a:r>
          </a:p>
        </p:txBody>
      </p:sp>
      <p:sp>
        <p:nvSpPr>
          <p:cNvPr id="19" name="TextBox 18"/>
          <p:cNvSpPr txBox="1"/>
          <p:nvPr/>
        </p:nvSpPr>
        <p:spPr>
          <a:xfrm>
            <a:off x="877824" y="4956048"/>
            <a:ext cx="2889504" cy="402336"/>
          </a:xfrm>
          <a:prstGeom prst="rect">
            <a:avLst/>
          </a:prstGeom>
          <a:noFill/>
        </p:spPr>
        <p:txBody>
          <a:bodyPr wrap="square" lIns="0" rIns="0" tIns="0" bIns="0">
            <a:spAutoFit/>
          </a:bodyPr>
          <a:lstStyle/>
          <a:p>
            <a:pPr algn="l"/>
            <a:r>
              <a:rPr sz="880" b="0" i="0">
                <a:solidFill>
                  <a:srgbClr val="B0A0D0"/>
                </a:solidFill>
              </a:rPr>
              <a:t>Real-time Supabase + WebSocket 124-channel browser display.</a:t>
            </a:r>
          </a:p>
        </p:txBody>
      </p:sp>
      <p:sp>
        <p:nvSpPr>
          <p:cNvPr id="20" name="Rectangle 19"/>
          <p:cNvSpPr/>
          <p:nvPr/>
        </p:nvSpPr>
        <p:spPr>
          <a:xfrm>
            <a:off x="4178808"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1664208"/>
            <a:ext cx="2962656" cy="237744"/>
          </a:xfrm>
          <a:prstGeom prst="rect">
            <a:avLst/>
          </a:prstGeom>
          <a:noFill/>
        </p:spPr>
        <p:txBody>
          <a:bodyPr wrap="square" lIns="0" rIns="0" tIns="0" bIns="0">
            <a:spAutoFit/>
          </a:bodyPr>
          <a:lstStyle/>
          <a:p>
            <a:pPr algn="l"/>
            <a:r>
              <a:rPr sz="1100" b="1" i="0">
                <a:solidFill>
                  <a:srgbClr val="34D399"/>
                </a:solidFill>
              </a:rPr>
              <a:t>Real-World Applications</a:t>
            </a:r>
          </a:p>
        </p:txBody>
      </p:sp>
      <p:sp>
        <p:nvSpPr>
          <p:cNvPr id="22" name="Rectangle 21"/>
          <p:cNvSpPr/>
          <p:nvPr/>
        </p:nvSpPr>
        <p:spPr>
          <a:xfrm>
            <a:off x="4343400"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2048256"/>
            <a:ext cx="2962656" cy="182880"/>
          </a:xfrm>
          <a:prstGeom prst="rect">
            <a:avLst/>
          </a:prstGeom>
          <a:noFill/>
        </p:spPr>
        <p:txBody>
          <a:bodyPr wrap="square" lIns="0" rIns="0" tIns="0" bIns="0">
            <a:spAutoFit/>
          </a:bodyPr>
          <a:lstStyle/>
          <a:p>
            <a:pPr algn="l"/>
            <a:r>
              <a:rPr sz="950" b="1" i="0">
                <a:solidFill>
                  <a:srgbClr val="FFFFFF"/>
                </a:solidFill>
              </a:rPr>
              <a:t>  Hospital Emergency Triage</a:t>
            </a:r>
          </a:p>
        </p:txBody>
      </p:sp>
      <p:sp>
        <p:nvSpPr>
          <p:cNvPr id="24" name="TextBox 23"/>
          <p:cNvSpPr txBox="1"/>
          <p:nvPr/>
        </p:nvSpPr>
        <p:spPr>
          <a:xfrm>
            <a:off x="4416552" y="2249424"/>
            <a:ext cx="2889504" cy="402336"/>
          </a:xfrm>
          <a:prstGeom prst="rect">
            <a:avLst/>
          </a:prstGeom>
          <a:noFill/>
        </p:spPr>
        <p:txBody>
          <a:bodyPr wrap="square" lIns="0" rIns="0" tIns="0" bIns="0">
            <a:spAutoFit/>
          </a:bodyPr>
          <a:lstStyle/>
          <a:p>
            <a:pPr algn="l"/>
            <a:r>
              <a:rPr sz="880" b="0" i="0">
                <a:solidFill>
                  <a:srgbClr val="B0A0D0"/>
                </a:solidFill>
              </a:rPr>
              <a:t>Code Blue alerts and ECG vitals reach doctors through elevator shielding and RF dead zones without a single dropped packet.</a:t>
            </a:r>
          </a:p>
        </p:txBody>
      </p:sp>
      <p:sp>
        <p:nvSpPr>
          <p:cNvPr id="25" name="TextBox 24"/>
          <p:cNvSpPr txBox="1"/>
          <p:nvPr/>
        </p:nvSpPr>
        <p:spPr>
          <a:xfrm>
            <a:off x="4343400" y="2724912"/>
            <a:ext cx="2962656" cy="182880"/>
          </a:xfrm>
          <a:prstGeom prst="rect">
            <a:avLst/>
          </a:prstGeom>
          <a:noFill/>
        </p:spPr>
        <p:txBody>
          <a:bodyPr wrap="square" lIns="0" rIns="0" tIns="0" bIns="0">
            <a:spAutoFit/>
          </a:bodyPr>
          <a:lstStyle/>
          <a:p>
            <a:pPr algn="l"/>
            <a:r>
              <a:rPr sz="950" b="1" i="0">
                <a:solidFill>
                  <a:srgbClr val="FFFFFF"/>
                </a:solidFill>
              </a:rPr>
              <a:t>  Tactical Disaster Mesh</a:t>
            </a:r>
          </a:p>
        </p:txBody>
      </p:sp>
      <p:sp>
        <p:nvSpPr>
          <p:cNvPr id="26" name="TextBox 25"/>
          <p:cNvSpPr txBox="1"/>
          <p:nvPr/>
        </p:nvSpPr>
        <p:spPr>
          <a:xfrm>
            <a:off x="4416552" y="2926080"/>
            <a:ext cx="2889504" cy="402336"/>
          </a:xfrm>
          <a:prstGeom prst="rect">
            <a:avLst/>
          </a:prstGeom>
          <a:noFill/>
        </p:spPr>
        <p:txBody>
          <a:bodyPr wrap="square" lIns="0" rIns="0" tIns="0" bIns="0">
            <a:spAutoFit/>
          </a:bodyPr>
          <a:lstStyle/>
          <a:p>
            <a:pPr algn="l"/>
            <a:r>
              <a:rPr sz="880" b="0" i="0">
                <a:solidFill>
                  <a:srgbClr val="B0A0D0"/>
                </a:solidFill>
              </a:rPr>
              <a:t>Survivable communications in subterranean environments or under active electronic warfare RF denial.</a:t>
            </a:r>
          </a:p>
        </p:txBody>
      </p:sp>
      <p:sp>
        <p:nvSpPr>
          <p:cNvPr id="27" name="TextBox 26"/>
          <p:cNvSpPr txBox="1"/>
          <p:nvPr/>
        </p:nvSpPr>
        <p:spPr>
          <a:xfrm>
            <a:off x="4343400" y="3401568"/>
            <a:ext cx="2962656" cy="182880"/>
          </a:xfrm>
          <a:prstGeom prst="rect">
            <a:avLst/>
          </a:prstGeom>
          <a:noFill/>
        </p:spPr>
        <p:txBody>
          <a:bodyPr wrap="square" lIns="0" rIns="0" tIns="0" bIns="0">
            <a:spAutoFit/>
          </a:bodyPr>
          <a:lstStyle/>
          <a:p>
            <a:pPr algn="l"/>
            <a:r>
              <a:rPr sz="950" b="1" i="0">
                <a:solidFill>
                  <a:srgbClr val="FFFFFF"/>
                </a:solidFill>
              </a:rPr>
              <a:t>  Industrial Automation</a:t>
            </a:r>
          </a:p>
        </p:txBody>
      </p:sp>
      <p:sp>
        <p:nvSpPr>
          <p:cNvPr id="28" name="TextBox 27"/>
          <p:cNvSpPr txBox="1"/>
          <p:nvPr/>
        </p:nvSpPr>
        <p:spPr>
          <a:xfrm>
            <a:off x="4416552" y="3602736"/>
            <a:ext cx="2889504" cy="402336"/>
          </a:xfrm>
          <a:prstGeom prst="rect">
            <a:avLst/>
          </a:prstGeom>
          <a:noFill/>
        </p:spPr>
        <p:txBody>
          <a:bodyPr wrap="square" lIns="0" rIns="0" tIns="0" bIns="0">
            <a:spAutoFit/>
          </a:bodyPr>
          <a:lstStyle/>
          <a:p>
            <a:pPr algn="l"/>
            <a:r>
              <a:rPr sz="880" b="0" i="0">
                <a:solidFill>
                  <a:srgbClr val="B0A0D0"/>
                </a:solidFill>
              </a:rPr>
              <a:t>Guaranteed robotic control telemetry under intense factory-floor electromagnetic interference.</a:t>
            </a:r>
          </a:p>
        </p:txBody>
      </p:sp>
      <p:sp>
        <p:nvSpPr>
          <p:cNvPr id="29" name="Rectangle 28"/>
          <p:cNvSpPr/>
          <p:nvPr/>
        </p:nvSpPr>
        <p:spPr>
          <a:xfrm>
            <a:off x="7717536"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82128" y="1664208"/>
            <a:ext cx="2962656" cy="237744"/>
          </a:xfrm>
          <a:prstGeom prst="rect">
            <a:avLst/>
          </a:prstGeom>
          <a:noFill/>
        </p:spPr>
        <p:txBody>
          <a:bodyPr wrap="square" lIns="0" rIns="0" tIns="0" bIns="0">
            <a:spAutoFit/>
          </a:bodyPr>
          <a:lstStyle/>
          <a:p>
            <a:pPr algn="l"/>
            <a:r>
              <a:rPr sz="1100" b="1" i="0">
                <a:solidFill>
                  <a:srgbClr val="FBBF24"/>
                </a:solidFill>
              </a:rPr>
              <a:t>Future Work</a:t>
            </a:r>
          </a:p>
        </p:txBody>
      </p:sp>
      <p:sp>
        <p:nvSpPr>
          <p:cNvPr id="31" name="Rectangle 30"/>
          <p:cNvSpPr/>
          <p:nvPr/>
        </p:nvSpPr>
        <p:spPr>
          <a:xfrm>
            <a:off x="7882128"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8" y="2048256"/>
            <a:ext cx="2962656" cy="182880"/>
          </a:xfrm>
          <a:prstGeom prst="rect">
            <a:avLst/>
          </a:prstGeom>
          <a:noFill/>
        </p:spPr>
        <p:txBody>
          <a:bodyPr wrap="square" lIns="0" rIns="0" tIns="0" bIns="0">
            <a:spAutoFit/>
          </a:bodyPr>
          <a:lstStyle/>
          <a:p>
            <a:pPr algn="l"/>
            <a:r>
              <a:rPr sz="950" b="1" i="0">
                <a:solidFill>
                  <a:srgbClr val="FFFFFF"/>
                </a:solidFill>
              </a:rPr>
              <a:t>  Multi-Hop AODV Mesh</a:t>
            </a:r>
          </a:p>
        </p:txBody>
      </p:sp>
      <p:sp>
        <p:nvSpPr>
          <p:cNvPr id="33" name="TextBox 32"/>
          <p:cNvSpPr txBox="1"/>
          <p:nvPr/>
        </p:nvSpPr>
        <p:spPr>
          <a:xfrm>
            <a:off x="7955280" y="2249424"/>
            <a:ext cx="2889504" cy="402336"/>
          </a:xfrm>
          <a:prstGeom prst="rect">
            <a:avLst/>
          </a:prstGeom>
          <a:noFill/>
        </p:spPr>
        <p:txBody>
          <a:bodyPr wrap="square" lIns="0" rIns="0" tIns="0" bIns="0">
            <a:spAutoFit/>
          </a:bodyPr>
          <a:lstStyle/>
          <a:p>
            <a:pPr algn="l"/>
            <a:r>
              <a:rPr sz="880" b="0" i="0">
                <a:solidFill>
                  <a:srgbClr val="B0A0D0"/>
                </a:solidFill>
              </a:rPr>
              <a:t>Expanding from 3-node linear topology to self-healing N-node mesh with dynamic routing around jammed sectors.</a:t>
            </a:r>
          </a:p>
        </p:txBody>
      </p:sp>
      <p:sp>
        <p:nvSpPr>
          <p:cNvPr id="34" name="TextBox 33"/>
          <p:cNvSpPr txBox="1"/>
          <p:nvPr/>
        </p:nvSpPr>
        <p:spPr>
          <a:xfrm>
            <a:off x="7882128" y="2724912"/>
            <a:ext cx="2962656" cy="182880"/>
          </a:xfrm>
          <a:prstGeom prst="rect">
            <a:avLst/>
          </a:prstGeom>
          <a:noFill/>
        </p:spPr>
        <p:txBody>
          <a:bodyPr wrap="square" lIns="0" rIns="0" tIns="0" bIns="0">
            <a:spAutoFit/>
          </a:bodyPr>
          <a:lstStyle/>
          <a:p>
            <a:pPr algn="l"/>
            <a:r>
              <a:rPr sz="950" b="1" i="0">
                <a:solidFill>
                  <a:srgbClr val="FFFFFF"/>
                </a:solidFill>
              </a:rPr>
              <a:t>  Dual-Band LoRa Fallback</a:t>
            </a:r>
          </a:p>
        </p:txBody>
      </p:sp>
      <p:sp>
        <p:nvSpPr>
          <p:cNvPr id="35" name="TextBox 34"/>
          <p:cNvSpPr txBox="1"/>
          <p:nvPr/>
        </p:nvSpPr>
        <p:spPr>
          <a:xfrm>
            <a:off x="7955280" y="2926080"/>
            <a:ext cx="2889504" cy="402336"/>
          </a:xfrm>
          <a:prstGeom prst="rect">
            <a:avLst/>
          </a:prstGeom>
          <a:noFill/>
        </p:spPr>
        <p:txBody>
          <a:bodyPr wrap="square" lIns="0" rIns="0" tIns="0" bIns="0">
            <a:spAutoFit/>
          </a:bodyPr>
          <a:lstStyle/>
          <a:p>
            <a:pPr algn="l"/>
            <a:r>
              <a:rPr sz="880" b="0" i="0">
                <a:solidFill>
                  <a:srgbClr val="B0A0D0"/>
                </a:solidFill>
              </a:rPr>
              <a:t>Adding 868 MHz LoRa for 5+ km ultra-low-bandwidth emergency beaconing when 2.4 GHz is fully saturated.</a:t>
            </a:r>
          </a:p>
        </p:txBody>
      </p:sp>
      <p:sp>
        <p:nvSpPr>
          <p:cNvPr id="36" name="TextBox 35"/>
          <p:cNvSpPr txBox="1"/>
          <p:nvPr/>
        </p:nvSpPr>
        <p:spPr>
          <a:xfrm>
            <a:off x="7882128" y="3401568"/>
            <a:ext cx="2962656" cy="182880"/>
          </a:xfrm>
          <a:prstGeom prst="rect">
            <a:avLst/>
          </a:prstGeom>
          <a:noFill/>
        </p:spPr>
        <p:txBody>
          <a:bodyPr wrap="square" lIns="0" rIns="0" tIns="0" bIns="0">
            <a:spAutoFit/>
          </a:bodyPr>
          <a:lstStyle/>
          <a:p>
            <a:pPr algn="l"/>
            <a:r>
              <a:rPr sz="950" b="1" i="0">
                <a:solidFill>
                  <a:srgbClr val="FFFFFF"/>
                </a:solidFill>
              </a:rPr>
              <a:t>  AES-256 GCM Encryption</a:t>
            </a:r>
          </a:p>
        </p:txBody>
      </p:sp>
      <p:sp>
        <p:nvSpPr>
          <p:cNvPr id="37" name="TextBox 36"/>
          <p:cNvSpPr txBox="1"/>
          <p:nvPr/>
        </p:nvSpPr>
        <p:spPr>
          <a:xfrm>
            <a:off x="7955280" y="3602736"/>
            <a:ext cx="2889504" cy="402336"/>
          </a:xfrm>
          <a:prstGeom prst="rect">
            <a:avLst/>
          </a:prstGeom>
          <a:noFill/>
        </p:spPr>
        <p:txBody>
          <a:bodyPr wrap="square" lIns="0" rIns="0" tIns="0" bIns="0">
            <a:spAutoFit/>
          </a:bodyPr>
          <a:lstStyle/>
          <a:p>
            <a:pPr algn="l"/>
            <a:r>
              <a:rPr sz="880" b="0" i="0">
                <a:solidFill>
                  <a:srgbClr val="B0A0D0"/>
                </a:solidFill>
              </a:rPr>
              <a:t>Hardware-accelerated authenticated encryption on the ESP32 crypto engine for zero-overhead payload security.</a:t>
            </a:r>
          </a:p>
        </p:txBody>
      </p:sp>
      <p:sp>
        <p:nvSpPr>
          <p:cNvPr id="38" name="Rectangle 37"/>
          <p:cNvSpPr/>
          <p:nvPr/>
        </p:nvSpPr>
        <p:spPr>
          <a:xfrm>
            <a:off x="640080" y="5870448"/>
            <a:ext cx="10908792"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5943600"/>
            <a:ext cx="10515600" cy="512064"/>
          </a:xfrm>
          <a:prstGeom prst="rect">
            <a:avLst/>
          </a:prstGeom>
          <a:noFill/>
        </p:spPr>
        <p:txBody>
          <a:bodyPr wrap="square" lIns="0" rIns="0" tIns="0" bIns="0">
            <a:spAutoFit/>
          </a:bodyPr>
          <a:lstStyle/>
          <a:p>
            <a:pPr algn="ctr"/>
            <a:r>
              <a:rPr sz="1200" b="1" i="0">
                <a:solidFill>
                  <a:srgbClr val="FFFFFF"/>
                </a:solidFill>
              </a:rPr>
              <a:t>Thank you.  We are ready for your questions and a live hardware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