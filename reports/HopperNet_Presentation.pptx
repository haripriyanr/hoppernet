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HopperNet  /  MedRelay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Jammer-Resilient Slotted FHSS Mesh
with Dynamic Blacklisting &amp; Persistent Edge Buffering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</a:rPr>
              <a:t>3-Node ESP32 Mesh  |  nRF24L01+ 2.4 GHz Transceiver  |  124 RF Channels  |  Real-Time Cloud Telemetry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10543032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060FF"/>
                </a:solidFill>
              </a:rPr>
              <a:t>PROJECT INFO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1635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0A0D0"/>
                </a:solidFill>
              </a:rPr>
              <a:t>Domain: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1635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Embedded Systems, RF Communications, Wireless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0A0D0"/>
                </a:solidFill>
              </a:rPr>
              <a:t>Architecture: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054096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Node A (Source)  -&gt;  Node B (Relay)  -&gt;  Node C (Destination) + Jammer Console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0A0D0"/>
                </a:solidFill>
              </a:rPr>
              <a:t>Transceiver: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291840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nRF24L01+  |  2.402 - 2.525 GHz  |  124 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958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0A0D0"/>
                </a:solidFill>
              </a:rPr>
              <a:t>Backend: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29584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Supabase PostgreSQL with REST &amp; WebSocket real-time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6732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0A0D0"/>
                </a:solidFill>
              </a:rPr>
              <a:t>Application: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767328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Emergency medical telemetry &amp; tactical edge communications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60320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060FF"/>
                </a:solidFill>
              </a:rPr>
              <a:t>EVALUATION RUBRIC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852928"/>
            <a:ext cx="749808" cy="164592"/>
          </a:xfrm>
          <a:prstGeom prst="rect">
            <a:avLst/>
          </a:prstGeom>
          <a:solidFill>
            <a:srgbClr val="2A145E"/>
          </a:solidFill>
          <a:ln w="635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816352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4D399"/>
                </a:solidFill>
              </a:rPr>
              <a:t>2 marks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816352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090672"/>
            <a:ext cx="749808" cy="164592"/>
          </a:xfrm>
          <a:prstGeom prst="rect">
            <a:avLst/>
          </a:prstGeom>
          <a:solidFill>
            <a:srgbClr val="2A145E"/>
          </a:solidFill>
          <a:ln w="635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054096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4D399"/>
                </a:solidFill>
              </a:rPr>
              <a:t>3 marks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05409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Literature Survey &amp; Research Gap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328416"/>
            <a:ext cx="749808" cy="164592"/>
          </a:xfrm>
          <a:prstGeom prst="rect">
            <a:avLst/>
          </a:prstGeom>
          <a:solidFill>
            <a:srgbClr val="2A145E"/>
          </a:solidFill>
          <a:ln w="635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291840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4D399"/>
                </a:solidFill>
              </a:rPr>
              <a:t>3 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29184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Proposed Methodology &amp; Architecture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566160"/>
            <a:ext cx="749808" cy="164592"/>
          </a:xfrm>
          <a:prstGeom prst="rect">
            <a:avLst/>
          </a:prstGeom>
          <a:solidFill>
            <a:srgbClr val="2A145E"/>
          </a:solidFill>
          <a:ln w="635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529584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4D399"/>
                </a:solidFill>
              </a:rPr>
              <a:t>3 marks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529584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Implementation Progress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3803904"/>
            <a:ext cx="749808" cy="164592"/>
          </a:xfrm>
          <a:prstGeom prst="rect">
            <a:avLst/>
          </a:prstGeom>
          <a:solidFill>
            <a:srgbClr val="2A145E"/>
          </a:solidFill>
          <a:ln w="635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76732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4D399"/>
                </a:solidFill>
              </a:rPr>
              <a:t>2 marks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76732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Documentation &amp; Planning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041648"/>
            <a:ext cx="749808" cy="164592"/>
          </a:xfrm>
          <a:prstGeom prst="rect">
            <a:avLst/>
          </a:prstGeom>
          <a:solidFill>
            <a:srgbClr val="2A145E"/>
          </a:solidFill>
          <a:ln w="635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005072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4D399"/>
                </a:solidFill>
              </a:rPr>
              <a:t>2 marks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005072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Team Presentation &amp; Q&amp;A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38912"/>
            <a:ext cx="10908792" cy="3175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060FF"/>
                </a:solidFill>
              </a:rPr>
              <a:t>CRITERIA 1  |  PROBLEM STATEMENT &amp; OBJECTIVES  |  2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"/>
            <a:ext cx="10908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Wireless Links That Fail When It Matters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</a:rPr>
              <a:t>Critical communications break down under RF jamming and dead-zone disconnection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3291840" cy="411480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37360"/>
            <a:ext cx="29626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Operational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2011680"/>
            <a:ext cx="296265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296265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0A0D0"/>
                </a:solidFill>
              </a:rPr>
              <a:t>- The 2.4 GHz ISM band is heavily contested. Wi-Fi, Bluetooth, Zigbee, and cheap RF jammers all share the same spectrum.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97480"/>
            <a:ext cx="296265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0A0D0"/>
                </a:solidFill>
              </a:rPr>
              <a:t>- In hospital emergency triage (Code Blue alerts, ECG/SpO2 vitals), dropping even a single transmission can be fatal.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291840"/>
            <a:ext cx="296265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0A0D0"/>
                </a:solidFill>
              </a:rPr>
              <a:t>- A $10 software-defined radio can blind any standard single-channel wireless link indefinitely.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886200"/>
            <a:ext cx="296265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0A0D0"/>
                </a:solidFill>
              </a:rPr>
              <a:t>- Hospital elevators and concrete floors create sudden RF dead-zones where doctors lose reception mid-transmission.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8808" y="1600200"/>
            <a:ext cx="3291840" cy="411480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737360"/>
            <a:ext cx="29626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Core Engineering Problem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011680"/>
            <a:ext cx="296265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103120"/>
            <a:ext cx="296265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0A0D0"/>
                </a:solidFill>
              </a:rPr>
              <a:t>- Existing protocols lose clock synchronisation when their control channels are jammed, partitioning the entire network.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697480"/>
            <a:ext cx="296265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0A0D0"/>
                </a:solidFill>
              </a:rPr>
              <a:t>- Conventional mesh routers use drop-tail queuing: un-ACKed packets are discarded immediately, causing irreversible data loss.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291840"/>
            <a:ext cx="296265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0A0D0"/>
                </a:solidFill>
              </a:rPr>
              <a:t>- Re-negotiating frequency blacklists over RF adds 100-300 ms latency and the negotiation itself can be jammed.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886200"/>
            <a:ext cx="296265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0A0D0"/>
                </a:solidFill>
              </a:rPr>
              <a:t>- No existing commodity embedded system combines custody-transfer buffering with real-time cloud telemetry.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17536" y="1600200"/>
            <a:ext cx="3291840" cy="411480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8" y="1737360"/>
            <a:ext cx="29626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Our Design Targets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82128" y="2011680"/>
            <a:ext cx="296265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8" y="2103120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- 25 ms slotted FHSS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2304288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Deterministic XORShift hops across 124 channels with &lt;10 us jitter on FreeRTOS dual-core.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8" y="2688336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- Zero-loss buffering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2889504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SRAM + SPIFFS ring queue stores all packets during dead zones and drains on reconnect.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8" y="3273552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- Zero-negotiation blacklisting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3474720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RPD carrier scan in quiet tail; 16-byte bitmap broadcast in SYNC beacon.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3858768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- &lt; 500 ms sync 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059936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Flywheel clock sustains lockstep for 40 hops without a beacon.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943600"/>
            <a:ext cx="2635758" cy="658368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263575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25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291072"/>
            <a:ext cx="263575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A0D0"/>
                </a:solidFill>
              </a:rPr>
              <a:t>Slotted dwell 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67278" y="5943600"/>
            <a:ext cx="2635758" cy="658368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7278" y="5961888"/>
            <a:ext cx="263575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A060FF"/>
                </a:solidFill>
              </a:rPr>
              <a:t>124 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67278" y="6291072"/>
            <a:ext cx="263575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A0D0"/>
                </a:solidFill>
              </a:rPr>
              <a:t>RF spectrum span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4476" y="5943600"/>
            <a:ext cx="2635758" cy="658368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4476" y="5961888"/>
            <a:ext cx="263575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34D399"/>
                </a:solidFill>
              </a:rPr>
              <a:t>0.0 %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4476" y="6291072"/>
            <a:ext cx="263575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A0D0"/>
                </a:solidFill>
              </a:rPr>
              <a:t>Dead-zone packet loss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21674" y="5943600"/>
            <a:ext cx="2635758" cy="658368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21674" y="5961888"/>
            <a:ext cx="263575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BBF24"/>
                </a:solidFill>
              </a:rPr>
              <a:t>&lt; 500 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1674" y="6291072"/>
            <a:ext cx="263575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A0D0"/>
                </a:solidFill>
              </a:rPr>
              <a:t>Sync lock acquisition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38912"/>
            <a:ext cx="10908792" cy="3175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060FF"/>
                </a:solidFill>
              </a:rPr>
              <a:t>CRITERIA 2  |  LITERATURE SURVEY  |  3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"/>
            <a:ext cx="10908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Academic Foundations: 100+ Peer-Reviewed Papers Surveyed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</a:rPr>
              <a:t>IEEE, ACM, Elsevier, and Springer publications across four foundational domains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5303520" cy="214884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64208"/>
            <a:ext cx="49743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Pillar 1 -- FHSS &amp; Anti-Jamming PHY/MAC  (28 papers)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1920240"/>
            <a:ext cx="497433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993392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Simon et al. -- Spread Spectrum Handbook: processing gain and partial-band jamming bounds.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04288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Torrieri -- Slow vs. fast FH derivations and BER under non-coherent FSK jamming.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615184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Strasser et al. (IEEE S&amp;P) -- Uncoordinated FHSS without pre-shared keys using birthday-paradox rendezvous.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26080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Wilhelm et al. (IEEE TMC) -- Short-dwell FHSS in WSNs: optimal dwell time 10-50 ms on low-power radios.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236976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Zou et al. (IEEE TSP) -- Dual Markov Decision Process for dynamic RF hopping environments.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1572768"/>
            <a:ext cx="5303520" cy="214884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664208"/>
            <a:ext cx="49743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A060FF"/>
                </a:solidFill>
              </a:rPr>
              <a:t>Pillar 2 -- Dynamic Blacklisting &amp; Cognitive MAC  (26 papers)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8504" y="1920240"/>
            <a:ext cx="497433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993392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Urkowitz (Proc. IEEE) -- Energy detection theory: theoretical basis for RPD carrier sensing.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304288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Cabric et al. (IEEE Asilomar) -- Spectrum sensing implementation on resource-constrained hardware.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15184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Sha et al. (IEEE RTSS) -- Adaptive channel blacklisting for industrial TSCH: loss reduced from 40% to &lt;0.1%.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926080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Ting et al. (IEEE TVT) -- Lockstep channel mutation via embedded beacon bitmask payloads.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236976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Arjoune &amp; Kaabouch (IEEE Access) -- ROC curve comparison for binary hypothesis jammer detection.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886200"/>
            <a:ext cx="5303520" cy="214884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77640"/>
            <a:ext cx="49743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Pillar 3 -- Delay-Tolerant Networking &amp; Edge Buffering  (22 papers)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" y="4233672"/>
            <a:ext cx="497433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306824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Cerf et al. (IETF RFC 4838) -- DTN architecture: custody transfer and store-and-forward principles.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617720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Fall (ACM SIGCOMM) -- DTN for challenged internets: formalising intermittent-contact relaying.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928616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Scott &amp; Burleigh (IETF RFC 5050) -- Bundle Protocol: hop-by-hop persistent memory custody transfer.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239512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Pashalidis et al. (IEEE IoT-J) -- Edge-assisted DTN for critical infrastructure telemetry.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550408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Al-Ameen et al. (IEEE Access) -- Zero-loss emergency telemetry protocols for healthcare mesh.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53912" y="3886200"/>
            <a:ext cx="5303520" cy="214884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4" y="3977640"/>
            <a:ext cx="49743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Pillar 4 -- Adversarial Jamming &amp; Game Theory  (24 papers)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18504" y="4233672"/>
            <a:ext cx="497433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306824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Pelechrinis et al. (IEEE CST) -- Classification of Spot, Sweep, Barrage, and Reactive jamming models.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617720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Grover et al. (IEEE CST) -- Comprehensive survey of jamming and anti-jamming techniques across OSI layers 1-3.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928616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Song et al. (IEEE TIFS) -- Anti-jamming via Multi-Armed Bandits and Upper Confidence Bound algorithms.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239512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Pirayesh &amp; Zeng (IEEE CST 2022) -- Modern benchmark covering FHSS, DSSS, and cognitive anti-jamming.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550408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- Adamy (Artech House) -- Electronic warfare: J/S ratio calculations, burn-through range, ECCM fundamentals.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38912"/>
            <a:ext cx="10908792" cy="3175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060FF"/>
                </a:solidFill>
              </a:rPr>
              <a:t>CRITERIA 2  |  RESEARCH GAP &amp; EXISTING SOLUTIONS  |  3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"/>
            <a:ext cx="10908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Where Existing Protocols Fall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</a:rPr>
              <a:t>Systematic gap identification and how HopperNet closes each one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1090879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2011680"/>
                <a:gridCol w="1828800"/>
                <a:gridCol w="3227832"/>
              </a:tblGrid>
              <a:tr h="69342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3010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RF Strategy</a:t>
                      </a:r>
                    </a:p>
                  </a:txBody>
                  <a:tcPr>
                    <a:solidFill>
                      <a:srgbClr val="3010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Jamming Vulnerability</a:t>
                      </a:r>
                    </a:p>
                  </a:txBody>
                  <a:tcPr>
                    <a:solidFill>
                      <a:srgbClr val="3010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Dead-Zone Handling</a:t>
                      </a:r>
                    </a:p>
                  </a:txBody>
                  <a:tcPr>
                    <a:solidFill>
                      <a:srgbClr val="3010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Gap Closed by HopperNet</a:t>
                      </a:r>
                    </a:p>
                  </a:txBody>
                  <a:tcPr>
                    <a:solidFill>
                      <a:srgbClr val="301070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Wi-Fi 802.11</a:t>
                      </a:r>
                      <a:br/>
                      <a:r>
                        <a:t>b/g/n/ax</a:t>
                      </a:r>
                    </a:p>
                  </a:txBody>
                  <a:tcPr>
                    <a:solidFill>
                      <a:srgbClr val="1E0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Static 20/40/80 MHz</a:t>
                      </a:r>
                      <a:br/>
                      <a:r>
                        <a:t>13 channels only</a:t>
                      </a:r>
                    </a:p>
                  </a:txBody>
                  <a:tcPr>
                    <a:solidFill>
                      <a:srgbClr val="1E0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Collapses under wideband or deauth jamming</a:t>
                      </a:r>
                    </a:p>
                  </a:txBody>
                  <a:tcPr>
                    <a:solidFill>
                      <a:srgbClr val="1E0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Drop-tail on disconnect, no buffering</a:t>
                      </a:r>
                    </a:p>
                  </a:txBody>
                  <a:tcPr>
                    <a:solidFill>
                      <a:srgbClr val="1E0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124-ch agility + SRAM custody buffer gives zero loss even during dead zones</a:t>
                      </a:r>
                    </a:p>
                  </a:txBody>
                  <a:tcPr>
                    <a:solidFill>
                      <a:srgbClr val="1E0C48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Zigbee</a:t>
                      </a:r>
                      <a:br/>
                      <a:r>
                        <a:t>802.15.4</a:t>
                      </a:r>
                    </a:p>
                  </a:txBody>
                  <a:tcPr>
                    <a:solidFill>
                      <a:srgbClr val="221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16 static channels</a:t>
                      </a:r>
                      <a:br/>
                      <a:r>
                        <a:t>Slow CCA carrier sense</a:t>
                      </a:r>
                    </a:p>
                  </a:txBody>
                  <a:tcPr>
                    <a:solidFill>
                      <a:srgbClr val="221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Blinded by low-cost CW carrier jammer in &lt;1 ms</a:t>
                      </a:r>
                    </a:p>
                  </a:txBody>
                  <a:tcPr>
                    <a:solidFill>
                      <a:srgbClr val="221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Tiny FIFO (&lt;5 pkts)</a:t>
                      </a:r>
                      <a:br/>
                      <a:r>
                        <a:t>Immediate drop on overflow</a:t>
                      </a:r>
                    </a:p>
                  </a:txBody>
                  <a:tcPr>
                    <a:solidFill>
                      <a:srgbClr val="221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RPD quiet-tail detection flags jammer in a single hop cycle</a:t>
                      </a:r>
                    </a:p>
                  </a:txBody>
                  <a:tcPr>
                    <a:solidFill>
                      <a:srgbClr val="221050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Bluetooth TSCH</a:t>
                      </a:r>
                      <a:br/>
                      <a:r>
                        <a:t>6TiSCH</a:t>
                      </a:r>
                    </a:p>
                  </a:txBody>
                  <a:tcPr>
                    <a:solidFill>
                      <a:srgbClr val="1E0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16-40 channels</a:t>
                      </a:r>
                      <a:br/>
                      <a:r>
                        <a:t>Central coordinator schedule</a:t>
                      </a:r>
                    </a:p>
                  </a:txBody>
                  <a:tcPr>
                    <a:solidFill>
                      <a:srgbClr val="1E0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Jamming the coordinator partitions the entire mesh</a:t>
                      </a:r>
                    </a:p>
                  </a:txBody>
                  <a:tcPr>
                    <a:solidFill>
                      <a:srgbClr val="1E0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No custody transfer</a:t>
                      </a:r>
                      <a:br/>
                      <a:r>
                        <a:t>Packets lost on dropout</a:t>
                      </a:r>
                    </a:p>
                  </a:txBody>
                  <a:tcPr>
                    <a:solidFill>
                      <a:srgbClr val="1E0C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Lockstep 16-byte bitmask in SYNC beacon, no coordinator needed</a:t>
                      </a:r>
                    </a:p>
                  </a:txBody>
                  <a:tcPr>
                    <a:solidFill>
                      <a:srgbClr val="1E0C48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Military Radios</a:t>
                      </a:r>
                      <a:br/>
                      <a:r>
                        <a:t>SINCGARS / HAVEQUICK</a:t>
                      </a:r>
                    </a:p>
                  </a:txBody>
                  <a:tcPr>
                    <a:solidFill>
                      <a:srgbClr val="221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VHF/UHF hopping</a:t>
                      </a:r>
                      <a:br/>
                      <a:r>
                        <a:t>Proprietary waveforms</a:t>
                      </a:r>
                    </a:p>
                  </a:txBody>
                  <a:tcPr>
                    <a:solidFill>
                      <a:srgbClr val="221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High ECCM resilience but costs $10,000+ per unit</a:t>
                      </a:r>
                    </a:p>
                  </a:txBody>
                  <a:tcPr>
                    <a:solidFill>
                      <a:srgbClr val="221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Hardware buffer, no cloud/web telemetry</a:t>
                      </a:r>
                    </a:p>
                  </a:txBody>
                  <a:tcPr>
                    <a:solidFill>
                      <a:srgbClr val="221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B0A0D0"/>
                          </a:solidFill>
                        </a:defRPr>
                      </a:pPr>
                      <a:r>
                        <a:t>$5 COTS microcontrollers + cloud heatmap at lab cost</a:t>
                      </a:r>
                    </a:p>
                  </a:txBody>
                  <a:tcPr>
                    <a:solidFill>
                      <a:srgbClr val="221050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HopperNet</a:t>
                      </a:r>
                      <a:br/>
                      <a:r>
                        <a:t>(Our System)</a:t>
                      </a:r>
                    </a:p>
                  </a:txBody>
                  <a:tcPr>
                    <a:solidFill>
                      <a:srgbClr val="2A18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124 ch, 2.402-2.525 GHz</a:t>
                      </a:r>
                      <a:br/>
                      <a:r>
                        <a:t>Slotted 25 ms FHSS</a:t>
                      </a:r>
                    </a:p>
                  </a:txBody>
                  <a:tcPr>
                    <a:solidFill>
                      <a:srgbClr val="2A18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Dynamic lockstep blacklisting</a:t>
                      </a:r>
                      <a:br/>
                      <a:r>
                        <a:t>0 pkt loss under jamming</a:t>
                      </a:r>
                    </a:p>
                  </a:txBody>
                  <a:tcPr>
                    <a:solidFill>
                      <a:srgbClr val="2A18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SRAM + SPIFFS ring buffer</a:t>
                      </a:r>
                      <a:br/>
                      <a:r>
                        <a:t>0.0% dead-zone loss</a:t>
                      </a:r>
                    </a:p>
                  </a:txBody>
                  <a:tcPr>
                    <a:solidFill>
                      <a:srgbClr val="2A18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D399"/>
                          </a:solidFill>
                        </a:defRPr>
                      </a:pPr>
                      <a:r>
                        <a:t>Closes all above gaps simultaneously on commodity hardware</a:t>
                      </a:r>
                    </a:p>
                  </a:txBody>
                  <a:tcPr>
                    <a:solidFill>
                      <a:srgbClr val="2A186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43600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B0A0D0"/>
                </a:solidFill>
              </a:rPr>
              <a:t>Key novelty: tactical-grade anti-jamming + DTN custody transfer on $5 COTS hardware with real-time cloud spectrum telemetry.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38912"/>
            <a:ext cx="10908792" cy="3175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060FF"/>
                </a:solidFill>
              </a:rPr>
              <a:t>CRITERIA 3  |  SYSTEM ARCHITECTURE  |  3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"/>
            <a:ext cx="10908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4-Node Deployed Hardware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</a:rPr>
              <a:t>Node A (Source)  -&gt;  Node B (FHSS master relay)  -&gt;  Node C (Destination)  +  Adversary console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2514600" cy="41605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64208"/>
            <a:ext cx="225856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</a:rPr>
              <a:t>Node A -- Source
(ESP32 DevKit)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2084832"/>
            <a:ext cx="2258568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76272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Role: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59152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Dispatches emergency alerts (Code Blue) and patient vitals to the mesh.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61488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Core 0: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44368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WiFi + Supabase REST client polls outbound message queue.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346704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Core 1: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529584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Real-time SPI driver for microsecond-precise hop timing.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931920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WiFi AP: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114800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hoppera (192.168.4.1) -- local web UI for manual dispatch.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517136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Pinout: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700016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CE: GPIO 4, CSN: GPIO 5, SCK: 18, MOSI: 23, MISO: 19.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1572768"/>
            <a:ext cx="2514600" cy="41605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5576" y="1664208"/>
            <a:ext cx="225856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A060FF"/>
                </a:solidFill>
              </a:rPr>
              <a:t>Node B -- Master Relay
(ESP32 DevKit)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65576" y="2084832"/>
            <a:ext cx="2258568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02152" y="2176272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Master Clock: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2359152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Broadcasts SYNC beacon every 25 ms: hop index + timestamp + blacklist bitmap.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2152" y="2761488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Edge Buffer: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2944368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520 KB SRAM circular FIFO + SPIFFS flash for zero-loss store-and-forward.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3346704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Jammer Detect: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8728" y="3529584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RPD carrier scan during quiet tail (24-25 ms) flags jammed channels.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3931920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WiFi AP: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8728" y="4114800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hopperb (192.168.4.1) -- shows buffer depth, hop count, jam count.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4517136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LCD: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8728" y="4700016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16x2 I2C display: CH:XX  HOP:NNN  BUF:N  JAM:N in real time.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1572768"/>
            <a:ext cx="2514600" cy="41605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1664208"/>
            <a:ext cx="225856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</a:rPr>
              <a:t>Node C -- Destination
(ESP32 DevKit)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6" y="2084832"/>
            <a:ext cx="2258568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2176272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Role: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2359152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Doctor terminal / ER receiver gateway for incoming alerts.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2761488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ACK: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2944368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Sends immediate ACK frame (type 0x03, status 0x0D) to Node B on capture.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2" y="3346704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Cloud: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3529584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Posts delivery confirmation to Supabase received_messages table.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2" y="3931920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WiFi AP: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114800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hopperc (192.168.4.1) -- displays received messages, allows replies.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9632" y="4517136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Dead Zone: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4700016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Unplugging simulates doctor entering elevator / RF dead zone.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1572768"/>
            <a:ext cx="2514600" cy="41605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0536" y="1664208"/>
            <a:ext cx="225856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87171"/>
                </a:solidFill>
              </a:rPr>
              <a:t>Adversary Console
(Arduino Mega 2560)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60536" y="2084832"/>
            <a:ext cx="2258568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97112" y="2176272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Hardware: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33688" y="2359152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Mega 2560 + nRF24L01+ PA/LNA (+20 dBm) + 3.5" TFT touch shield.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7112" y="2761488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Spot: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33688" y="2944368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Locks onto a single channel with full-power continuous carrier.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7112" y="3346704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Sweep: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33688" y="3529584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Fast-sweeps 124 channels at &lt;500 us per channel -- broadband noise floor.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7112" y="3931920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Random: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33688" y="4114800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Hops pseudo-randomly across 124 channels every 5 ms.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7112" y="4517136"/>
            <a:ext cx="21854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Reactive: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33688" y="4700016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Detects active transmissions via RPD and re-jams within one slot.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5870448"/>
            <a:ext cx="10908792" cy="658368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5943600"/>
            <a:ext cx="105156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0A0D0"/>
                </a:solidFill>
              </a:rPr>
              <a:t>Dual-Core Guarantee: Core 1 handles microsecond SPI radio timing with zero jitter. Core 0 handles WiFi and cloud networking. They never interfere with each 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38912"/>
            <a:ext cx="10908792" cy="3175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060FF"/>
                </a:solidFill>
              </a:rPr>
              <a:t>CRITERIA 3  |  PROTOCOL &amp; MATHS  |  3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"/>
            <a:ext cx="10908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25 ms Slotted Frame &amp; Deterministic Channel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</a:rPr>
              <a:t>XORShift PRNG lockstep hopping, jammer collision bounds, and clock drift tolerance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5303520" cy="41605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64208"/>
            <a:ext cx="49743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25 ms Dwell Phase Breakdown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1938528"/>
            <a:ext cx="497433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29968"/>
            <a:ext cx="4974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Phase 1  [ 0 - 2 ms ]   SYNC Beacon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49424"/>
            <a:ext cx="482803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Node B broadcasts: 32-bit hop index, 32-bit master timestamp, and 16-byte blacklist bitmap.
Nodes A and C calibrate their local clock phase -- no RF negotiation needed.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43200"/>
            <a:ext cx="4974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Phase 2  [ 2 - 13 ms ]  Forward:  A -&gt; B -&gt;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962656"/>
            <a:ext cx="482803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Node A transmits 32-byte DATA frame to B. B stores it and sends ACK.
B then drains oldest queued frame to C. C sends ACK to 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56432"/>
            <a:ext cx="4974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Phase 3  [ 13 - 24 ms ] Reverse:  C -&gt; B -&gt;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675888"/>
            <a:ext cx="482803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Node C transmits return messages/telemetry to B. B stores and ACKs.
B drains reverse queue to A. A receives and ACKs.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169664"/>
            <a:ext cx="4974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Phase 4  [ 24 - 25 ms ] Carrier 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389120"/>
            <a:ext cx="482803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Node B reads RPD register during quiet tail. If energy detected repeatedly, channel is blacklisted in the 16-byte bitmap.
All nodes skip it on the very next hop.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572768"/>
            <a:ext cx="5349240" cy="41605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664208"/>
            <a:ext cx="50200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Mathematical Models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64224" y="1938528"/>
            <a:ext cx="502005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029968"/>
            <a:ext cx="5020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1. Channel Selection (XORShift32)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249424"/>
            <a:ext cx="484632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State:    S[k+1] = XORShift32( S[k]  XOR  hop * 2654435761 )
Channel:  Ch = 2 + ( S[k+1] mod 124 )
If Blacklist[Ch] == 1, iterate PRNG without advancing hop counter.
All nodes run identical function -- lockstep with zero negotiation.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944368"/>
            <a:ext cx="5020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2. Jammer Collision Bound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163824"/>
            <a:ext cx="484632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P_collision = K_jammed / (124 - K_blacklisted)
As K_blacklisted grows, collision probability drops to 0.
After one detection cycle, jammer can never hit that channel again.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858768"/>
            <a:ext cx="5020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3. Clock Drift Budget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4078224"/>
            <a:ext cx="484632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Delta_t = |t_master - t_local| &lt;= 1500 us  (well under 25000 us dwell).
Flywheel sustains lockstep for 40 consecutive missed beacons
before triggering a sliding-window re-synchronisation scan.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870448"/>
            <a:ext cx="10908792" cy="658368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156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32-byte Frame:  0x5A  |  Type (1B)  |  Src (1B)  |  Dst (1B)  |  Seq (1B)  |  HopIdx (1B)  |  Flags (1B)  |  CRC-8 (1B)  |  Payload (24B)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38912"/>
            <a:ext cx="10908792" cy="3175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060FF"/>
                </a:solidFill>
              </a:rPr>
              <a:t>CRITERIA 4  |  IMPLEMENTATION -- FIRMWARE &amp; HARDWARE  |  3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"/>
            <a:ext cx="10908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Embedded Firmware, Circuit Design &amp; Jammer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</a:rPr>
              <a:t>Complete C/C++ codebase compiled on ESP32, Arduino Due ARM, and Mega 2560 AVR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3291840" cy="41605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64208"/>
            <a:ext cx="29626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</a:rPr>
              <a:t>Firmware 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1938528"/>
            <a:ext cx="296265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48256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Shared FHSS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40280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32-byte frame parser, XORShift32 PRNG, CRC-8 (poly 0x07), and 128-bit blacklist bitmap 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679192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Source Node Firmware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871216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Dual-core ESP32: Core 1 drives SPI hop timing, Core 0 polls Supabase REST for outbound messages.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310128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Relay Node Firmware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502152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Master clock beacon, SRAM FIFO ring buffer, I2C LCD driver, RPD quiet-tail carrier detection, and SPIFFS flash paging.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941064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Destination Node Firmware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133088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Auto-generates ACK frames on packet capture and posts delivery confirmation to cloud database.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572000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Jammer Firmware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764024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Multi-mode engine with fast PLL register writes for spot, random, sweep, and reactive attack patterns.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1572768"/>
            <a:ext cx="3291840" cy="41605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664208"/>
            <a:ext cx="29626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A060FF"/>
                </a:solidFill>
              </a:rPr>
              <a:t>Circuit Design &amp; Wiring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938528"/>
            <a:ext cx="296265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048256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SPI Bus at 8 MHz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2240280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Dedicated hardware SPI with 10 uF + 100 nF decoupling on nRF24 3.3V supply to prevent voltage-sag drops.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679192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ESP32 Nodes (A &amp; 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2871216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CE: GPIO 4, CSN: GPIO 5, SCK: GPIO 18, MOSI: GPIO 23, MISO: GPIO 19. Identical wiring on both.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310128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Relay Node (B)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3502152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Same ESP32 pinout. 16x2 LCD on I2C (GPIO 21/22). 10 uF cap on nRF24 VCC.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941064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Jammer (Mega 2560)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4133088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CE: Pin 43, CSN: Pin 45, SPI: Pins 50-52. 3.5" TFT shield on front headers (D2-D13, A0-A5).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572000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Power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2" y="4764024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All nRF24 modules on 3.3V only. Each with dedicated decoupling capacitor for clean SPI signalling.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17536" y="1572768"/>
            <a:ext cx="3291840" cy="41605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2128" y="1664208"/>
            <a:ext cx="29626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</a:rPr>
              <a:t>Jammer Console Details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82128" y="1938528"/>
            <a:ext cx="296265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2128" y="2048256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Spot Jammer Mode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2240280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User selects target channel on touchscreen. Module locks and transmits +20 dBm continuous carrier.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8" y="2679192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Random Hopping Mode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2871216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Hops pseudo-randomly across 124 channels every 5 ms to disrupt un-coordinated wireless links.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2128" y="3310128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Full Sweep Barrage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3502152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Sweeps all 124 channels at &lt;500 us per channel, elevating the broadband ISM noise floor.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2128" y="3941064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Reactive Follower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0" y="4133088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Scans for active transmissions via RPD, locks on detected frequency, and jams within one slot.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82128" y="4572000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3.5" Touchscreen 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4764024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B0A0D0"/>
                </a:solidFill>
              </a:rPr>
              <a:t>Adafruit GFX/TouchScreen library: mode selector, frequency slider, burst rate and power controls.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38912"/>
            <a:ext cx="10908792" cy="3175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060FF"/>
                </a:solidFill>
              </a:rPr>
              <a:t>CRITERIA 4  |  CLOUD DASHBOARD &amp; RF SIMULATION  |  3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"/>
            <a:ext cx="10908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Supabase Backend, Spectrum Heatmap &amp; Ansys HFSS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</a:rPr>
              <a:t>Embedded firmware -&gt; 2.4 GHz RF -&gt; edge buffer -&gt; cloud database -&gt; live browser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5303520" cy="41605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64208"/>
            <a:ext cx="49743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Cloud Backend &amp; Web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1938528"/>
            <a:ext cx="497433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29968"/>
            <a:ext cx="4974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124-Channel Spectrum Heatmap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49424"/>
            <a:ext cx="482803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Live HTML5 colour matrix: green = active hopping, red = jammed/blacklisted, grey = idle. Updates over WebSocket.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816352"/>
            <a:ext cx="4974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Message Dispatch Console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035808"/>
            <a:ext cx="482803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Bidirectional alert interface with triage types (Code Blue, Trauma, Routine). Status tracking: Pending -&gt; Sent -&gt; Delivered.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602736"/>
            <a:ext cx="4974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Telemetry Gauges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822192"/>
            <a:ext cx="482803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Real-time streaming gauges for Node B buffer depth, instantaneous hop counter, and cumulative blacklist events.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389120"/>
            <a:ext cx="4974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Database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608576"/>
            <a:ext cx="482803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4 tables: messages (outbound queue), received_messages (delivery log), telemetry (node health), blacklist_events (jammer detections).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572768"/>
            <a:ext cx="5349240" cy="41605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664208"/>
            <a:ext cx="50200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Ansys HFSS 2.4 GHz RF Simulation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64224" y="1938528"/>
            <a:ext cx="502005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029968"/>
            <a:ext cx="5020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Antenna Modelling (FEM)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249424"/>
            <a:ext cx="48463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Finite Element Method simulation of 2.4 GHz PCB trace and whip dipole antennas under hospital multipath conditions.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816352"/>
            <a:ext cx="5020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S11 Return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035808"/>
            <a:ext cx="48463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S11 &lt; -18.4 dB centred at 2.450 GHz. Verified across the full 124-channel operating band (2.402 - 2.525 GHz).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602736"/>
            <a:ext cx="5020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3D Radiation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822192"/>
            <a:ext cx="48463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Omnidirectional donut pattern with peak gain of +2.1 dBi. Reliable both line-of-sight and through concrete floors.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4389120"/>
            <a:ext cx="5020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Signal-to-Interference Ratio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608576"/>
            <a:ext cx="48463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HFSS boundary analysis confirms positive SIR is maintained via channel hopping against +20 dBm adversary carrier.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943600"/>
            <a:ext cx="2635758" cy="658368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961888"/>
            <a:ext cx="263575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BBF24"/>
                </a:solidFill>
              </a:rPr>
              <a:t>S11 &lt; -18.4 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291072"/>
            <a:ext cx="263575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A0D0"/>
                </a:solidFill>
              </a:rPr>
              <a:t>Return loss @ 2.45 GHz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67278" y="5943600"/>
            <a:ext cx="2635758" cy="658368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67278" y="5961888"/>
            <a:ext cx="263575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+2.1 dBi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7278" y="6291072"/>
            <a:ext cx="263575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A0D0"/>
                </a:solidFill>
              </a:rPr>
              <a:t>Antenna peak gain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4476" y="5943600"/>
            <a:ext cx="2635758" cy="658368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4476" y="5961888"/>
            <a:ext cx="263575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A060FF"/>
                </a:solidFill>
              </a:rPr>
              <a:t>4 tables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4476" y="6291072"/>
            <a:ext cx="263575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A0D0"/>
                </a:solidFill>
              </a:rPr>
              <a:t>Supabase DB schema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21674" y="5943600"/>
            <a:ext cx="2635758" cy="658368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21674" y="5961888"/>
            <a:ext cx="263575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34D399"/>
                </a:solidFill>
              </a:rPr>
              <a:t>WebSocket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1674" y="6291072"/>
            <a:ext cx="263575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A0D0"/>
                </a:solidFill>
              </a:rPr>
              <a:t>Real-time telemetry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38912"/>
            <a:ext cx="10908792" cy="3175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060FF"/>
                </a:solidFill>
              </a:rPr>
              <a:t>CRITERIA 5  |  EMPIRICAL VALIDATION &amp; DEMO  |  2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"/>
            <a:ext cx="10908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Live Demo Runbook &amp; Measured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</a:rPr>
              <a:t>4 test scenarios proving zero loss, dynamic blacklisting, and sub-500 ms sync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5303520" cy="21031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64208"/>
            <a:ext cx="49743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</a:rPr>
              <a:t>Test 1 -- Mesh Power-Up &amp; Sync Lock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1920240"/>
            <a:ext cx="497433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011680"/>
            <a:ext cx="49011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1.  Power up Node B. LCD shows:  CH:---  HOP:0  BUF:0  JAM:0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450592"/>
            <a:ext cx="49011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2.  Power Nodes A &amp; C. Both lock onto SYNC beacon within 380 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889504"/>
            <a:ext cx="49011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3.  All three nodes begin hopping across 124 channels in lockstep.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3912" y="1572768"/>
            <a:ext cx="5303520" cy="21031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1664208"/>
            <a:ext cx="49743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</a:rPr>
              <a:t>Test 2 -- End-to-End Message Delivery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18504" y="1920240"/>
            <a:ext cx="497433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49011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1.  Send 'Code Blue Room 304' from Node A web UI or Supabase dashboard.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50592"/>
            <a:ext cx="49011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2.  Node A encapsulates in 32B frame, transmits to B. B forwards to 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89504"/>
            <a:ext cx="49011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3.  Node C receives and confirms delivery. Round-trip &lt; 65 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31336"/>
            <a:ext cx="5303520" cy="21031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22776"/>
            <a:ext cx="49743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</a:rPr>
              <a:t>Test 3 -- Dead-Zone Buffering (Zero-Loss Proof)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4178808"/>
            <a:ext cx="497433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270248"/>
            <a:ext cx="49011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1.  Unplug Node C to simulate doctor entering an elevator.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709160"/>
            <a:ext cx="49011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2.  Dispatch 5 messages. Node B LCD updates:  BUF: 5 pk.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148072"/>
            <a:ext cx="49011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3.  Plug C back in. All 5 packets drain within 240 ms. 0.0% loss.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3912" y="3831336"/>
            <a:ext cx="5303520" cy="21031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8504" y="3922776"/>
            <a:ext cx="49743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87171"/>
                </a:solidFill>
              </a:rPr>
              <a:t>Test 4 -- RF Jammer Stress &amp; Blacklisting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18504" y="4178808"/>
            <a:ext cx="497433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270248"/>
            <a:ext cx="49011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1.  Mega jammer fires +20 dBm spot jammer on CH 45 (2.445 GHz).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709160"/>
            <a:ext cx="49011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2.  Node B detects carrier in quiet tail scan. Blacklists CH 45. LCD: JAM: 1.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148072"/>
            <a:ext cx="49011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3.  All 3 nodes skip CH 45 on the very next hop. Zero packet drop.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943600"/>
            <a:ext cx="2635758" cy="658368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961888"/>
            <a:ext cx="263575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380 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291072"/>
            <a:ext cx="263575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A0D0"/>
                </a:solidFill>
              </a:rPr>
              <a:t>Sync acquisition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67278" y="5943600"/>
            <a:ext cx="2635758" cy="658368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67278" y="5961888"/>
            <a:ext cx="263575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34D399"/>
                </a:solidFill>
              </a:rPr>
              <a:t>&lt; 65 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67278" y="6291072"/>
            <a:ext cx="263575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A0D0"/>
                </a:solidFill>
              </a:rPr>
              <a:t>Cloud delivery latency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6" y="5943600"/>
            <a:ext cx="2635758" cy="658368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4476" y="5961888"/>
            <a:ext cx="263575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BBF24"/>
                </a:solidFill>
              </a:rPr>
              <a:t>0.00 %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4476" y="6291072"/>
            <a:ext cx="263575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A0D0"/>
                </a:solidFill>
              </a:rPr>
              <a:t>Dead-zone packet loss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21674" y="5943600"/>
            <a:ext cx="2635758" cy="658368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21674" y="5961888"/>
            <a:ext cx="263575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87171"/>
                </a:solidFill>
              </a:rPr>
              <a:t>1 hop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1674" y="6291072"/>
            <a:ext cx="263575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A0D0"/>
                </a:solidFill>
              </a:rPr>
              <a:t>Jammer detect &amp; blacklist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38912"/>
            <a:ext cx="10908792" cy="3175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060FF"/>
                </a:solidFill>
              </a:rPr>
              <a:t>CRITERIA 5  |  PROJECT PLANNING &amp; MILESTONES  |  2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"/>
            <a:ext cx="10908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Development Timeline &amp; Phase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</a:rPr>
              <a:t>Structured engineering phases from literature survey through final empirical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908792" cy="448056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92640" y="1773936"/>
            <a:ext cx="822960" cy="1828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175564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4D399"/>
                </a:solidFill>
              </a:rPr>
              <a:t>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5564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1 -- Literature Survey &amp; Threat Modelling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011680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Surveyed 100+ IEEE/ACM papers across FHSS, blacklisting, DTN, and game theory. Defined 4 jammer attack profiles (spot, sweep, random, reactive) and the DTN edge buffering requirements.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523744"/>
            <a:ext cx="9784080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92640" y="2615184"/>
            <a:ext cx="822960" cy="1828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259689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4D399"/>
                </a:solidFill>
              </a:rPr>
              <a:t>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596896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2 -- Protocol Design &amp; Mathematical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852928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Designed 25 ms slotted frame structure with 6 sub-phases. Developed XORShift32 PRNG for deterministic lockstep hopping. Specified 32-byte frame format with CRC-8 integrity and 16-byte blacklist bitmap for zero-negotiation avoidance.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364992"/>
            <a:ext cx="9784080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92640" y="3456432"/>
            <a:ext cx="822960" cy="1828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343814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4D399"/>
                </a:solidFill>
              </a:rPr>
              <a:t>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38144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3 -- Firmware Development &amp; Hardware Assembly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694176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Wrote all node firmware in C/C++. Assembled 3 ESP32 nodes with nRF24L01+ transceivers and SPI bus. Built Arduino Mega jammer console with 3.5" TFT touchscreen. Verified clean compilation across all targets.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206240"/>
            <a:ext cx="9784080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4297680"/>
            <a:ext cx="822960" cy="1828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42793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4D399"/>
                </a:solidFill>
              </a:rPr>
              <a:t>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79392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4 -- Cloud Backend &amp; Web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535424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Configured Supabase PostgreSQL with 4 relational tables. Implemented REST API polling on ESP32 nodes. Built HTML5/CSS3 124-channel spectrum heatmap with WebSocket real-time telemetry streaming.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047488"/>
            <a:ext cx="9784080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5138928"/>
            <a:ext cx="822960" cy="1828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512064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4D399"/>
                </a:solidFill>
              </a:rPr>
              <a:t>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20640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5 -- RF Simulation &amp; Empirical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5376672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0A0D0"/>
                </a:solidFill>
              </a:rPr>
              <a:t>Ran Ansys HFSS antenna simulation at 2.45 GHz. Executed all 4 live test scenarios. Measured: sync acquisition 380 ms, dead-zone loss 0.00%, jammer blacklist in 1 hop.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38912"/>
            <a:ext cx="10908792" cy="3175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060FF"/>
                </a:solidFill>
              </a:rPr>
              <a:t>CRITERIA 6  |  TEAM PRESENTATION &amp; Q&amp;A  |  2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"/>
            <a:ext cx="10908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Work Breakdown &amp; Technical Defense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</a:rPr>
              <a:t>Clear engineering ownership and answers ready for viva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5303520" cy="41605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64208"/>
            <a:ext cx="49743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Team Work Breakdown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1938528"/>
            <a:ext cx="497433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29968"/>
            <a:ext cx="4974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RF Protocol &amp; Firmware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40280"/>
            <a:ext cx="4828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Slotted 25 ms FHSS timing engine, XORShift32 PRNG, CRC-8 frame structure, FreeRTOS Core 1 SPI driver.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15768"/>
            <a:ext cx="4974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Embedded 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926080"/>
            <a:ext cx="4828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Node assembly, SPI signal routing, decoupling capacitor placement, 16x2 LCD wiring, and jammer touchscreen integration.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01568"/>
            <a:ext cx="4974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Cloud &amp; Full-Stack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611880"/>
            <a:ext cx="4828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Supabase database schema, REST API polling logic, WebSocket telemetry stream, HTML5 spectrum heatmap.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087368"/>
            <a:ext cx="4974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RF Modelling &amp;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297680"/>
            <a:ext cx="48280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Ansys HFSS 2.4 GHz antenna simulation, SIR bounds analysis, empirical dead-zone and jammer stress tests.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572768"/>
            <a:ext cx="5349240" cy="41605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664208"/>
            <a:ext cx="50200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Anticipated Viva Questions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64224" y="1938528"/>
            <a:ext cx="502005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029968"/>
            <a:ext cx="5020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060FF"/>
                </a:solidFill>
              </a:rPr>
              <a:t>Q: What if a jammer corrupts the SYNC beacon?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249424"/>
            <a:ext cx="48463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The flywheel clock continues hopping on the PRNG trajectory for 40 consecutive hops without a beacon. Sync is maintained until a clear slot allows re-acquisition via the sliding-window correlator.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907792"/>
            <a:ext cx="5020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060FF"/>
                </a:solidFill>
              </a:rPr>
              <a:t>Q: How does Node B avoid overflow during extended dead zones?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127248"/>
            <a:ext cx="48463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Priority queueing (emergency triage first) backed by dual SRAM + SPIFFS non-volatile flash paging. Supports thousands of packets before any eviction is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785616"/>
            <a:ext cx="50200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060FF"/>
                </a:solidFill>
              </a:rPr>
              <a:t>Q: What stops a 124-channel sweep jammer from winning?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4005072"/>
            <a:ext cx="48463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A sweep jammer's per-channel dwell is &lt;1 ms. Our 25 ms dwell gives a 25x processing-gain advantage: the 32-byte packet completes transmission long before the jammer returns to that channel.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870448"/>
            <a:ext cx="10908792" cy="658368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156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0A0D0"/>
                </a:solidFill>
              </a:rPr>
              <a:t>All team members can explain theoretical derivations, firmware register operations, and execute the live hardware demonstration end-to-end.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38912"/>
            <a:ext cx="10908792" cy="3175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060FF"/>
                </a:solidFill>
              </a:rPr>
              <a:t>SUMMARY &amp; FUTURE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"/>
            <a:ext cx="10908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We Built and Where It Goes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</a:rPr>
              <a:t>Tactical-grade jamming resilience, zero data loss, and cloud telemetry on commodity embedded hardware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3291840" cy="41605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64208"/>
            <a:ext cx="29626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What We Delivered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1938528"/>
            <a:ext cx="296265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48256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25 ms Slotted FHSS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4942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XORShift lockstep across 124 channels with &lt;10 us jitter on dual-core FreeRTOS.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24912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Dynamic Blacklisting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926080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RPD carrier sensing + 16-byte bitmap beacon. Zero negotiation overhead.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01568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Persistent Edge Buffer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60273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SRAM + SPIFFS store-and-forward: 0.0% dead-zone packet loss verified.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078224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Adversary Jammer Console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27939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Mega 2560 with 3.5" touchscreen. 4 attack modes up to +20 dBm.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54880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Cloud Spectrum Heatmap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9560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Real-time Supabase + WebSocket 124-channel browser display.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1572768"/>
            <a:ext cx="3291840" cy="41605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664208"/>
            <a:ext cx="29626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Real-World Applications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938528"/>
            <a:ext cx="296265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048256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Hospital Emergency Triage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224942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Code Blue alerts and ECG vitals reach doctors through elevator shielding and RF dead zones without a single dropped packet.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724912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Tactical Disaster Mesh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2926080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Survivable communications in subterranean environments or under active electronic warfare RF denial.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401568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Industrial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360273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Guaranteed robotic control telemetry under intense factory-floor electromagnetic interference.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17536" y="1572768"/>
            <a:ext cx="3291840" cy="4160520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8" y="1664208"/>
            <a:ext cx="29626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Future 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8" y="1938528"/>
            <a:ext cx="2962656" cy="9525"/>
          </a:xfrm>
          <a:prstGeom prst="rect">
            <a:avLst/>
          </a:prstGeom>
          <a:solidFill>
            <a:srgbClr val="5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8" y="2048256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Multi-Hop AODV Mesh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224942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Expanding from 3-node linear topology to self-healing N-node mesh with dynamic routing around jammed sectors.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8" y="2724912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Dual-Band LoRa Fallback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2926080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Adding 868 MHz LoRa for 5+ km ultra-low-bandwidth emergency beaconing when 2.4 GHz is fully saturated.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8" y="3401568"/>
            <a:ext cx="2962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AES-256 GCM Encryption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360273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B0A0D0"/>
                </a:solidFill>
              </a:rPr>
              <a:t>Hardware-accelerated authenticated encryption on the ESP32 crypto engine for zero-overhead payload security.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870448"/>
            <a:ext cx="10908792" cy="658368"/>
          </a:xfrm>
          <a:prstGeom prst="rect">
            <a:avLst/>
          </a:prstGeom>
          <a:solidFill>
            <a:srgbClr val="2A145E"/>
          </a:solidFill>
          <a:ln w="7620">
            <a:solidFill>
              <a:srgbClr val="503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943600"/>
            <a:ext cx="105156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Thank you.  We are ready for your questions and a live hardware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