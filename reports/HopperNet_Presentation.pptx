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2011680"/>
          </a:xfrm>
          <a:prstGeom prst="roundRect">
            <a:avLst/>
          </a:prstGeom>
          <a:solidFill>
            <a:srgbClr val="1E0C3C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6B6D4"/>
                </a:solidFill>
              </a:defRPr>
            </a:pPr>
            <a:r>
              <a:t>PROJECT EVALUATION &amp; ENGINEERING DEFENSE</a:t>
            </a: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HopperNet: Jammer-Resilient Slotted FHSS Mesh</a:t>
            </a:r>
          </a:p>
          <a:p>
            <a:pPr>
              <a:defRPr b="0" sz="1600">
                <a:solidFill>
                  <a:srgbClr val="D8B4FE"/>
                </a:solidFill>
              </a:defRPr>
            </a:pPr>
            <a:r>
              <a:t>with Dynamic Lockstep Blacklisting &amp; Persistent Edge Store-and-Forward Buffering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3383280" cy="347472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59E0B"/>
                </a:solidFill>
              </a:defRPr>
            </a:pPr>
            <a:r>
              <a:t>PROJECT IDENTIFICATION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• Project Title: </a:t>
            </a:r>
            <a:r>
              <a:rPr b="0">
                <a:solidFill>
                  <a:srgbClr val="CBD5E1"/>
                </a:solidFill>
              </a:rPr>
              <a:t>HopperNet (MedRelay)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• Domain: </a:t>
            </a:r>
            <a:r>
              <a:rPr b="0">
                <a:solidFill>
                  <a:srgbClr val="CBD5E1"/>
                </a:solidFill>
              </a:rPr>
              <a:t>Embedded Mesh &amp; Anti-Jamming PHY/MAC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• Architecture: </a:t>
            </a:r>
            <a:r>
              <a:rPr b="0">
                <a:solidFill>
                  <a:srgbClr val="CBD5E1"/>
                </a:solidFill>
              </a:rPr>
              <a:t>3× Nodes + 1× Adversary Console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• Transceiver: </a:t>
            </a:r>
            <a:r>
              <a:rPr b="0">
                <a:solidFill>
                  <a:srgbClr val="CBD5E1"/>
                </a:solidFill>
              </a:rPr>
              <a:t>2.4 GHz nRF24L01+ (124 Channels)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• Backend Sync: </a:t>
            </a:r>
            <a:r>
              <a:rPr b="0">
                <a:solidFill>
                  <a:srgbClr val="CBD5E1"/>
                </a:solidFill>
              </a:rPr>
              <a:t>Supabase Cloud &amp; Live Spectrum Web UI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• Target App: </a:t>
            </a:r>
            <a:r>
              <a:rPr b="0">
                <a:solidFill>
                  <a:srgbClr val="CBD5E1"/>
                </a:solidFill>
              </a:rPr>
              <a:t>Emergency Medical Telemetry &amp; Tactical 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834640"/>
            <a:ext cx="3383280" cy="347472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971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6B6D4"/>
                </a:solidFill>
              </a:defRPr>
            </a:pPr>
            <a:r>
              <a:t>EVALUATION RUBRIC ALIGNMENT (15 MARKS)</a:t>
            </a:r>
          </a:p>
          <a:p>
            <a:pPr>
              <a:defRPr b="1" sz="950">
                <a:solidFill>
                  <a:srgbClr val="FFFFFF"/>
                </a:solidFill>
              </a:defRPr>
            </a:pPr>
            <a:r>
              <a:t>✓ 1. Problem Statement &amp; Objectives </a:t>
            </a:r>
            <a:r>
              <a:rPr b="1">
                <a:solidFill>
                  <a:srgbClr val="10B981"/>
                </a:solidFill>
              </a:rPr>
              <a:t>[2 Marks | Slide 2]</a:t>
            </a:r>
          </a:p>
          <a:p>
            <a:pPr>
              <a:defRPr b="1" sz="950">
                <a:solidFill>
                  <a:srgbClr val="FFFFFF"/>
                </a:solidFill>
              </a:defRPr>
            </a:pPr>
            <a:r>
              <a:t>✓ 2. Literature Survey &amp; Research Gap </a:t>
            </a:r>
            <a:r>
              <a:rPr b="1">
                <a:solidFill>
                  <a:srgbClr val="10B981"/>
                </a:solidFill>
              </a:rPr>
              <a:t>[3 Marks | Slides 3–4]</a:t>
            </a:r>
          </a:p>
          <a:p>
            <a:pPr>
              <a:defRPr b="1" sz="950">
                <a:solidFill>
                  <a:srgbClr val="FFFFFF"/>
                </a:solidFill>
              </a:defRPr>
            </a:pPr>
            <a:r>
              <a:t>✓ 3. Proposed Methodology &amp; Design </a:t>
            </a:r>
            <a:r>
              <a:rPr b="1">
                <a:solidFill>
                  <a:srgbClr val="10B981"/>
                </a:solidFill>
              </a:rPr>
              <a:t>[3 Marks | Slides 5–6]</a:t>
            </a:r>
          </a:p>
          <a:p>
            <a:pPr>
              <a:defRPr b="1" sz="950">
                <a:solidFill>
                  <a:srgbClr val="FFFFFF"/>
                </a:solidFill>
              </a:defRPr>
            </a:pPr>
            <a:r>
              <a:t>✓ 4. Implementation &amp; Progress </a:t>
            </a:r>
            <a:r>
              <a:rPr b="1">
                <a:solidFill>
                  <a:srgbClr val="10B981"/>
                </a:solidFill>
              </a:rPr>
              <a:t>[3 Marks | Slides 7–8]</a:t>
            </a:r>
          </a:p>
          <a:p>
            <a:pPr>
              <a:defRPr b="1" sz="950">
                <a:solidFill>
                  <a:srgbClr val="FFFFFF"/>
                </a:solidFill>
              </a:defRPr>
            </a:pPr>
            <a:r>
              <a:t>✓ 5. Documentation &amp; Planning </a:t>
            </a:r>
            <a:r>
              <a:rPr b="1">
                <a:solidFill>
                  <a:srgbClr val="10B981"/>
                </a:solidFill>
              </a:rPr>
              <a:t>[2 Marks | Slides 9–10]</a:t>
            </a:r>
          </a:p>
          <a:p>
            <a:pPr>
              <a:defRPr b="1" sz="950">
                <a:solidFill>
                  <a:srgbClr val="FFFFFF"/>
                </a:solidFill>
              </a:defRPr>
            </a:pPr>
            <a:r>
              <a:t>✓ 6. Team Defense &amp; Q&amp;A Readiness </a:t>
            </a:r>
            <a:r>
              <a:rPr b="1">
                <a:solidFill>
                  <a:srgbClr val="10B981"/>
                </a:solidFill>
              </a:rPr>
              <a:t>[2 Marks | Slides 11–12]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834640"/>
            <a:ext cx="3413455" cy="347472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9718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SYSTEM HIGHLIGHTS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★ 25ms Slotted FHSS: </a:t>
            </a:r>
            <a:r>
              <a:rPr>
                <a:solidFill>
                  <a:srgbClr val="CBD5E1"/>
                </a:solidFill>
              </a:rPr>
              <a:t>Deterministic XORShift lockstep hopping across 124 RF channels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★ Dynamic Blacklisting: </a:t>
            </a:r>
            <a:r>
              <a:rPr>
                <a:solidFill>
                  <a:srgbClr val="CBD5E1"/>
                </a:solidFill>
              </a:rPr>
              <a:t>Autonomous RPD carrier sensing with 16-byte bitmap sync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★ Zero-Loss Buffering: </a:t>
            </a:r>
            <a:r>
              <a:rPr>
                <a:solidFill>
                  <a:srgbClr val="CBD5E1"/>
                </a:solidFill>
              </a:rPr>
              <a:t>Persistent SRAM circular FIFO stores packets during dead zones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★ Adversary Emulation: </a:t>
            </a:r>
            <a:r>
              <a:rPr>
                <a:solidFill>
                  <a:srgbClr val="CBD5E1"/>
                </a:solidFill>
              </a:rPr>
              <a:t>Hardware jammer testing Spot, Sweep, Barrage &amp; Reactive attacks</a:t>
            </a:r>
          </a:p>
          <a:p>
            <a:pPr>
              <a:defRPr b="1" sz="1000">
                <a:solidFill>
                  <a:srgbClr val="FFFFFF"/>
                </a:solidFill>
              </a:defRPr>
            </a:pPr>
            <a:r>
              <a:t>★ Cloud + Web Heatmap: </a:t>
            </a:r>
            <a:r>
              <a:rPr>
                <a:solidFill>
                  <a:srgbClr val="CBD5E1"/>
                </a:solidFill>
              </a:rPr>
              <a:t>Real-time Supabase REST &amp; WebSocket telemetry display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1: PROBLEM STATEMENT &amp; ENGINEERING OBJECTIVES [2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Mission-Critical Wireless Vulnerabilities &amp; HopperNet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Solving catastrophic RF jamming, dead-zones, and packet loss in contested &amp; medical environments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393192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476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43F5E"/>
                </a:solidFill>
              </a:defRPr>
            </a:pPr>
            <a:r>
              <a:t>OPERATIONAL CONTEXT &amp; THREAT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RF Contested Fields: </a:t>
            </a:r>
            <a:r>
              <a:rPr>
                <a:solidFill>
                  <a:srgbClr val="CBD5E1"/>
                </a:solidFill>
              </a:rPr>
              <a:t>Modern tactical and hospital environments suffer severe 2.4 GHz ISM congestion, multipath fading, and intentional RF jamming.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Medical Telemetry Crisis: </a:t>
            </a:r>
            <a:r>
              <a:rPr>
                <a:solidFill>
                  <a:srgbClr val="CBD5E1"/>
                </a:solidFill>
              </a:rPr>
              <a:t>In emergency triage (Code Blue, ECG/SpO2 vitals), dropping a single transmission due to elevator shielding or interference can be fatal.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Commodity Jammer Vulnerability: </a:t>
            </a:r>
            <a:r>
              <a:rPr>
                <a:solidFill>
                  <a:srgbClr val="CBD5E1"/>
                </a:solidFill>
              </a:rPr>
              <a:t>Inexpensive ($10) SDRs and RF synthesizers can easily blind standard Wi-Fi, BLE, and Zigbee operating on static channels.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13455" cy="393192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476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59E0B"/>
                </a:solidFill>
              </a:defRPr>
            </a:pPr>
            <a:r>
              <a:t>THE CORE RESEARCH PROBLEM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Lack of Synchronization Under Jamming: </a:t>
            </a:r>
            <a:r>
              <a:rPr>
                <a:solidFill>
                  <a:srgbClr val="CBD5E1"/>
                </a:solidFill>
              </a:rPr>
              <a:t>Existing anti-jamming protocols lose clock sync when control channels are jammed, causing network-wide partition.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No Store-and-Forward at Edge: </a:t>
            </a:r>
            <a:r>
              <a:rPr>
                <a:solidFill>
                  <a:srgbClr val="CBD5E1"/>
                </a:solidFill>
              </a:rPr>
              <a:t>Conventional mesh routers drop un-ACKed packets immediately (drop-tail), leading to irreversible data loss during node disconnection.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High Overhead Channel Negotiation: </a:t>
            </a:r>
            <a:r>
              <a:rPr>
                <a:solidFill>
                  <a:srgbClr val="CBD5E1"/>
                </a:solidFill>
              </a:rPr>
              <a:t>Negotiating blacklisted frequencies over RF adds 100-300ms latency and is easily intercepted/jammed by adversaries.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393192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0476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QUANTITATIVE TARGETS &amp; GOALS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Sub-25ms Slotted FHSS: </a:t>
            </a:r>
            <a:r>
              <a:rPr>
                <a:solidFill>
                  <a:srgbClr val="CBD5E1"/>
                </a:solidFill>
              </a:rPr>
              <a:t>Implement exact 25ms dwell windows across 124 channels with &lt;10µs timing jitter on FreeRTOS Dual-Core.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100% Zero Packet Loss: </a:t>
            </a:r>
            <a:r>
              <a:rPr>
                <a:solidFill>
                  <a:srgbClr val="CBD5E1"/>
                </a:solidFill>
              </a:rPr>
              <a:t>Persistently buffer all undelivered packets on Node B SRAM/Flash during destination outages and flush in &lt;500ms upon link return.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Zero-Negotiation Blacklisting: </a:t>
            </a:r>
            <a:r>
              <a:rPr>
                <a:solidFill>
                  <a:srgbClr val="CBD5E1"/>
                </a:solidFill>
              </a:rPr>
              <a:t>Detect jammer via RPD energy sensing in quiet tails and blacklist in lockstep via embedded 16-byte bitmap.</a:t>
            </a:r>
          </a:p>
          <a:p>
            <a:br/>
            <a:pPr>
              <a:defRPr b="1" sz="1050">
                <a:solidFill>
                  <a:srgbClr val="FFFFFF"/>
                </a:solidFill>
              </a:defRPr>
            </a:pPr>
            <a:r>
              <a:t>• Sub-500ms Fast Sync Recovery: </a:t>
            </a:r>
            <a:r>
              <a:rPr>
                <a:solidFill>
                  <a:srgbClr val="CBD5E1"/>
                </a:solidFill>
              </a:rPr>
              <a:t>Enable disconnected nodes to acquire lockstep synchronization within 500ms of entering RF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60720"/>
            <a:ext cx="2468880" cy="822960"/>
          </a:xfrm>
          <a:prstGeom prst="roundRect">
            <a:avLst/>
          </a:prstGeom>
          <a:solidFill>
            <a:srgbClr val="26124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870448"/>
            <a:ext cx="22860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200">
                <a:solidFill>
                  <a:srgbClr val="06B6D4"/>
                </a:solidFill>
              </a:defRPr>
            </a:pPr>
            <a:r>
              <a:t>25 ms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Fixed Dwell Time</a:t>
            </a:r>
          </a:p>
          <a:p>
            <a:pPr algn="ctr">
              <a:defRPr sz="900">
                <a:solidFill>
                  <a:srgbClr val="CBD5E1"/>
                </a:solidFill>
              </a:defRPr>
            </a:pPr>
            <a:r>
              <a:t>Slotted FHSS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5760720"/>
            <a:ext cx="2468880" cy="822960"/>
          </a:xfrm>
          <a:prstGeom prst="roundRect">
            <a:avLst/>
          </a:prstGeom>
          <a:solidFill>
            <a:srgbClr val="26124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5870448"/>
            <a:ext cx="22860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200">
                <a:solidFill>
                  <a:srgbClr val="8B5CF6"/>
                </a:solidFill>
              </a:defRPr>
            </a:pPr>
            <a:r>
              <a:t>124 Ch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RF Spectrum Span</a:t>
            </a:r>
          </a:p>
          <a:p>
            <a:pPr algn="ctr">
              <a:defRPr sz="900">
                <a:solidFill>
                  <a:srgbClr val="CBD5E1"/>
                </a:solidFill>
              </a:defRPr>
            </a:pPr>
            <a:r>
              <a:t>2.402 to 2.525 GHz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5760720"/>
            <a:ext cx="2468880" cy="822960"/>
          </a:xfrm>
          <a:prstGeom prst="roundRect">
            <a:avLst/>
          </a:prstGeom>
          <a:solidFill>
            <a:srgbClr val="26124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5870448"/>
            <a:ext cx="2286000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200">
                <a:solidFill>
                  <a:srgbClr val="10B981"/>
                </a:solidFill>
              </a:defRPr>
            </a:pPr>
            <a:r>
              <a:t>0.0 %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Dead-Zone Loss</a:t>
            </a:r>
          </a:p>
          <a:p>
            <a:pPr algn="ctr">
              <a:defRPr sz="900">
                <a:solidFill>
                  <a:srgbClr val="CBD5E1"/>
                </a:solidFill>
              </a:defRPr>
            </a:pPr>
            <a:r>
              <a:t>Store-and-Forward Guaranteed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5760720"/>
            <a:ext cx="2499055" cy="822960"/>
          </a:xfrm>
          <a:prstGeom prst="roundRect">
            <a:avLst/>
          </a:prstGeom>
          <a:solidFill>
            <a:srgbClr val="26124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5870448"/>
            <a:ext cx="2316175" cy="6035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b="1" sz="2200">
                <a:solidFill>
                  <a:srgbClr val="F59E0B"/>
                </a:solidFill>
              </a:defRPr>
            </a:pPr>
            <a:r>
              <a:t>&lt;500 ms</a:t>
            </a:r>
          </a:p>
          <a:p>
            <a:pPr algn="ctr">
              <a:defRPr b="1" sz="1100">
                <a:solidFill>
                  <a:srgbClr val="FFFFFF"/>
                </a:solidFill>
              </a:defRPr>
            </a:pPr>
            <a:r>
              <a:t>Sync Lock Acquisition</a:t>
            </a:r>
          </a:p>
          <a:p>
            <a:pPr algn="ctr">
              <a:defRPr sz="900">
                <a:solidFill>
                  <a:srgbClr val="CBD5E1"/>
                </a:solidFill>
              </a:defRPr>
            </a:pPr>
            <a:r>
              <a:t>Sliding Correlator Gate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2: LITERATURE SURVEY &amp; ACADEMIC FOUNDATIONS [3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Comprehensive Review of 100+ Peer-Reviewed Publications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Synthesizing IEEE, ACM, Elsevier &amp; Springer research across 4 foundational scientific domains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2240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6B6D4"/>
                </a:solidFill>
              </a:defRPr>
            </a:pPr>
            <a:r>
              <a:t>PILLAR 1: FHSS PHY/MAC</a:t>
            </a:r>
            <a:br/>
            <a:r>
              <a:t>(28 Papers)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Simon et al. (IEEE): </a:t>
            </a:r>
            <a:r>
              <a:rPr>
                <a:solidFill>
                  <a:srgbClr val="CBD5E1"/>
                </a:solidFill>
              </a:rPr>
              <a:t>Spread Spectrum Handbook: Bounds on partial-band &amp; sweep jamming resistance.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Torrieri (Springer): </a:t>
            </a:r>
            <a:r>
              <a:rPr>
                <a:solidFill>
                  <a:srgbClr val="CBD5E1"/>
                </a:solidFill>
              </a:rPr>
              <a:t>Principles of Spread Spectrum: Derivations of processing gain under non-coherent FSK.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Strasser et al. (IEEE S&amp;P): </a:t>
            </a:r>
            <a:r>
              <a:rPr>
                <a:solidFill>
                  <a:srgbClr val="CBD5E1"/>
                </a:solidFill>
              </a:rPr>
              <a:t>Uncoordinated FHSS (UFHSS) without pre-shared keys via birthday collisions.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Wilhelm et al. (IEEE TMC): </a:t>
            </a:r>
            <a:r>
              <a:rPr>
                <a:solidFill>
                  <a:srgbClr val="CBD5E1"/>
                </a:solidFill>
              </a:rPr>
              <a:t>Short-dwell FHSS in WSNs: Microsecond dwell optimization (10-50ms).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Zou et al. (IEEE TSP): </a:t>
            </a:r>
            <a:r>
              <a:rPr>
                <a:solidFill>
                  <a:srgbClr val="CBD5E1"/>
                </a:solidFill>
              </a:rPr>
              <a:t>Dual Markov Decision Processes for dynamic RF hopping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14600" cy="44805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737360"/>
            <a:ext cx="2240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A855F7"/>
                </a:solidFill>
              </a:defRPr>
            </a:pPr>
            <a:r>
              <a:t>PILLAR 2: BLACKLISTING</a:t>
            </a:r>
            <a:br/>
            <a:r>
              <a:t>(26 Papers)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Urkowitz (Proc. IEEE): </a:t>
            </a:r>
            <a:r>
              <a:rPr>
                <a:solidFill>
                  <a:srgbClr val="CBD5E1"/>
                </a:solidFill>
              </a:rPr>
              <a:t>Energy detection of unknown deterministic signals (Theoretical basis for RPD).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Cabric et al. (IEEE Asilomar): </a:t>
            </a:r>
            <a:r>
              <a:rPr>
                <a:solidFill>
                  <a:srgbClr val="CBD5E1"/>
                </a:solidFill>
              </a:rPr>
              <a:t>Spectrum sensing implementation issues in cognitive radios.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Sha et al. (IEEE RTSS): </a:t>
            </a:r>
            <a:r>
              <a:rPr>
                <a:solidFill>
                  <a:srgbClr val="CBD5E1"/>
                </a:solidFill>
              </a:rPr>
              <a:t>Adaptive Channel Blacklisting for industrial TSCH reducing packet loss to &lt;0.1%.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Ting et al. (IEEE TVT): </a:t>
            </a:r>
            <a:r>
              <a:rPr>
                <a:solidFill>
                  <a:srgbClr val="CBD5E1"/>
                </a:solidFill>
              </a:rPr>
              <a:t>Lockstep channel mutation in FHSS via embedded beacon synchronization.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Arjoune et al. (IEEE Access): </a:t>
            </a:r>
            <a:r>
              <a:rPr>
                <a:solidFill>
                  <a:srgbClr val="CBD5E1"/>
                </a:solidFill>
              </a:rPr>
              <a:t>ROC curves and SNR walls for binary hypothesis carrier sensing.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514600" cy="44805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737360"/>
            <a:ext cx="2240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PILLAR 3: DTN BUFFERING</a:t>
            </a:r>
            <a:br/>
            <a:r>
              <a:t>(22 Papers)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Cerf et al. (IETF RFC 4838): </a:t>
            </a:r>
            <a:r>
              <a:rPr>
                <a:solidFill>
                  <a:srgbClr val="CBD5E1"/>
                </a:solidFill>
              </a:rPr>
              <a:t>Delay-Tolerant Networking: Custody transfer and store-and-forward principles.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Fall (ACM SIGCOMM): </a:t>
            </a:r>
            <a:r>
              <a:rPr>
                <a:solidFill>
                  <a:srgbClr val="CBD5E1"/>
                </a:solidFill>
              </a:rPr>
              <a:t>A DTN architecture for challenged Internets: Intermittent contact routing.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Scott &amp; Burleigh (RFC 5050): </a:t>
            </a:r>
            <a:r>
              <a:rPr>
                <a:solidFill>
                  <a:srgbClr val="CBD5E1"/>
                </a:solidFill>
              </a:rPr>
              <a:t>Bundle Protocol: Hop-by-hop persistent memory custody transfer.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Pashalidis et al. (IEEE IoT-J): </a:t>
            </a:r>
            <a:r>
              <a:rPr>
                <a:solidFill>
                  <a:srgbClr val="CBD5E1"/>
                </a:solidFill>
              </a:rPr>
              <a:t>Edge-Assisted DTN architecture for critical infrastructure telemetry.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Al-Ameen et al. (IEEE Access): </a:t>
            </a:r>
            <a:r>
              <a:rPr>
                <a:solidFill>
                  <a:srgbClr val="CBD5E1"/>
                </a:solidFill>
              </a:rPr>
              <a:t>Zero-loss emergency telemetry protocols for healthcare wireless mesh.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14600" cy="44805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737360"/>
            <a:ext cx="2240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F59E0B"/>
                </a:solidFill>
              </a:defRPr>
            </a:pPr>
            <a:r>
              <a:t>PILLAR 4: GAME THEORY</a:t>
            </a:r>
            <a:br/>
            <a:r>
              <a:t>(24 Papers)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Pelechrinis et al. (IEEE CST): </a:t>
            </a:r>
            <a:r>
              <a:rPr>
                <a:solidFill>
                  <a:srgbClr val="CBD5E1"/>
                </a:solidFill>
              </a:rPr>
              <a:t>Denial of Service Attacks in Wireless: Spot, Sweep, Barrage &amp; Reactive taxonomy.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Grover et al. (IEEE CST): </a:t>
            </a:r>
            <a:r>
              <a:rPr>
                <a:solidFill>
                  <a:srgbClr val="CBD5E1"/>
                </a:solidFill>
              </a:rPr>
              <a:t>Comprehensive survey of jamming attack strategies and counter-countermeasures.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Song et al. (IEEE TIFS): </a:t>
            </a:r>
            <a:r>
              <a:rPr>
                <a:solidFill>
                  <a:srgbClr val="CBD5E1"/>
                </a:solidFill>
              </a:rPr>
              <a:t>Anti-jamming spread spectrum via Multi-Armed Bandits &amp; Upper Confidence Bounds.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Pirayesh &amp; Zeng (IEEE CST 2022): </a:t>
            </a:r>
            <a:r>
              <a:rPr>
                <a:solidFill>
                  <a:srgbClr val="CBD5E1"/>
                </a:solidFill>
              </a:rPr>
              <a:t>State-of-the-art benchmark covering modern FHSS, DSSS, and cognitive anti-jamming.</a:t>
            </a:r>
          </a:p>
          <a:p>
            <a:br/>
            <a:pPr>
              <a:defRPr b="1" sz="900">
                <a:solidFill>
                  <a:srgbClr val="FFFFFF"/>
                </a:solidFill>
              </a:defRPr>
            </a:pPr>
            <a:r>
              <a:t>• Adamy (Artech House): </a:t>
            </a:r>
            <a:r>
              <a:rPr>
                <a:solidFill>
                  <a:srgbClr val="CBD5E1"/>
                </a:solidFill>
              </a:rPr>
              <a:t>EW 101: Electronic warfare calculations, J/S ratios, and burn-through range.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6217920"/>
            <a:ext cx="10728655" cy="411480"/>
          </a:xfrm>
          <a:prstGeom prst="roundRect">
            <a:avLst/>
          </a:prstGeom>
          <a:solidFill>
            <a:srgbClr val="1E0E3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23620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8B4FE"/>
                </a:solidFill>
              </a:defRPr>
            </a:pPr>
            <a:r>
              <a:t>Synthesis: HopperNet directly translates these 100 publications into a tangible, production-grade 4-node deployed embedded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2: RESEARCH GAP &amp; EXISTING SOLUTIONS COMPARISON [3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Comparative Matrix: State-of-the-Art Technologies vs. HopperNet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Identifying the limitations of existing commercial and academic protocols and how HopperNet solves them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2103120"/>
                <a:gridCol w="2499055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Technology / Protocol</a:t>
                      </a:r>
                    </a:p>
                  </a:txBody>
                  <a:tcPr>
                    <a:solidFill>
                      <a:srgbClr val="3C196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RF Channel Strategy</a:t>
                      </a:r>
                    </a:p>
                  </a:txBody>
                  <a:tcPr>
                    <a:solidFill>
                      <a:srgbClr val="3C196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Anti-Jamming Resilience</a:t>
                      </a:r>
                    </a:p>
                  </a:txBody>
                  <a:tcPr>
                    <a:solidFill>
                      <a:srgbClr val="3C196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Edge Buffering / DTN</a:t>
                      </a:r>
                    </a:p>
                  </a:txBody>
                  <a:tcPr>
                    <a:solidFill>
                      <a:srgbClr val="3C196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6B6D4"/>
                          </a:solidFill>
                        </a:defRPr>
                      </a:pPr>
                      <a:r>
                        <a:t>Research Gap &amp; HopperNet Novelty</a:t>
                      </a:r>
                    </a:p>
                  </a:txBody>
                  <a:tcPr>
                    <a:solidFill>
                      <a:srgbClr val="3C196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Standard Wi-Fi</a:t>
                      </a:r>
                      <a:br/>
                      <a:r>
                        <a:t>(IEEE 802.11 b/g/n/ax)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Static 20/40/80 MHz channels (1–14)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Collapses completely under wideband noise or cheap deauth jammers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No DTN. Instant packet drop upon disconnect (Drop-Tail)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Requires high infrastructure. Zero jammer agility. Fails in contested environments.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IEEE 802.15.4 / Zigbee</a:t>
                      </a:r>
                      <a:br/>
                      <a:r>
                        <a:t>(XBee / Thread)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Static 16 channels in 2.4 GHz; slow CCA carrier sense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Easily blinded by low-power constant carrier jammers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Minimal FIFO queue (&lt;5 pkts). Immediate packet drop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Slow re-association (&gt;2 sec). No dynamic blacklisting without network reset.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Bluetooth TSCH</a:t>
                      </a:r>
                      <a:br/>
                      <a:r>
                        <a:t>(6TiSCH / BLE Mesh)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16-40 channels; central coordinator master schedule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Vulnerable to coordinator jamming; slow de-sync recovery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No persistent custody transfer across node dropouts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Re-sync takes 5-30s. Rigid schedule causes high negotiation latency.</a:t>
                      </a:r>
                    </a:p>
                  </a:txBody>
                  <a:tcPr>
                    <a:solidFill>
                      <a:srgbClr val="1C0E3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Military Tactical Radios</a:t>
                      </a:r>
                      <a:br/>
                      <a:r>
                        <a:t>(SINCGARS / HAVE QUICK)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Wideband VHF/UHF hopping, proprietary waveforms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High ECCM resilience, but proprietary and $10,000+ per unit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Hardware buffering, but lacks IoT / cloud / web sync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Prohibitive cost. Cannot integrate with hospital/civilian cloud telemetry.</a:t>
                      </a:r>
                    </a:p>
                  </a:txBody>
                  <a:tcPr>
                    <a:solidFill>
                      <a:srgbClr val="2612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HopperNet (MedRelay)</a:t>
                      </a:r>
                      <a:br/>
                      <a:r>
                        <a:t>[Our Proposed System]</a:t>
                      </a:r>
                    </a:p>
                  </a:txBody>
                  <a:tcPr>
                    <a:solidFill>
                      <a:srgbClr val="2D1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124 Channels (2.402–2.525 GHz), Slotted 25ms FHSS</a:t>
                      </a:r>
                    </a:p>
                  </a:txBody>
                  <a:tcPr>
                    <a:solidFill>
                      <a:srgbClr val="2D1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Dynamic Lockstep Blacklisting with RPD carrier sensing</a:t>
                      </a:r>
                    </a:p>
                  </a:txBody>
                  <a:tcPr>
                    <a:solidFill>
                      <a:srgbClr val="2D1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Persistent SRAM &amp; SPIFFS store-and-forward (0.0% loss)</a:t>
                      </a:r>
                    </a:p>
                  </a:txBody>
                  <a:tcPr>
                    <a:solidFill>
                      <a:srgbClr val="2D125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Closes all gaps: Ultra-low-cost COTS hardware, zero-negotiation lockstep, cloud sync!</a:t>
                      </a:r>
                    </a:p>
                  </a:txBody>
                  <a:tcPr>
                    <a:solidFill>
                      <a:srgbClr val="2D125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943600"/>
            <a:ext cx="10728655" cy="548640"/>
          </a:xfrm>
          <a:prstGeom prst="roundRect">
            <a:avLst/>
          </a:prstGeom>
          <a:solidFill>
            <a:srgbClr val="190A32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8B4FE"/>
                </a:solidFill>
              </a:defRPr>
            </a:pPr>
            <a:r>
              <a:t>Key Research Novelty: HopperNet achieves tactical-grade anti-jamming resilience and DTN custody transfer on commodity microcontrollers ($5 COTS hardware) coupled with real-time cloud spectrum synchronization.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3: PROPOSED SYSTEM METHODOLOGY &amp; ARCHITECTURE [3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End-to-End Deployed Multi-Node Hardware &amp; Dual-Core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Distributed topology: Node A (Source) ➔ Node B (Relay &amp; FHSS Master) ➔ Node C (Destination) + Adversary Console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14600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37360"/>
            <a:ext cx="22951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6B6D4"/>
                </a:solidFill>
              </a:defRPr>
            </a:pPr>
            <a:r>
              <a:t>NODE A: SOURCE NODE</a:t>
            </a:r>
            <a:br/>
            <a:r>
              <a:t>(ESP32 DevKit)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Role: </a:t>
            </a:r>
            <a:r>
              <a:rPr>
                <a:solidFill>
                  <a:srgbClr val="CBD5E1"/>
                </a:solidFill>
              </a:rPr>
              <a:t>Patient Vitals &amp; Emergency Dispatch (Code Blue / Alert).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Dual-Core Split: </a:t>
            </a:r>
            <a:r>
              <a:rPr>
                <a:solidFill>
                  <a:srgbClr val="CBD5E1"/>
                </a:solidFill>
              </a:rPr>
              <a:t>Core 1: Real-time SPI hopping &amp; transmission. Core 0: WiFi / Supabase REST poller.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Pinout: </a:t>
            </a:r>
            <a:r>
              <a:rPr>
                <a:solidFill>
                  <a:srgbClr val="CBD5E1"/>
                </a:solidFill>
              </a:rPr>
              <a:t>CE: GPIO 4, CSN: GPIO 5, SCK: 18, MOSI: 23, MISO: 19.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Local Fallback: </a:t>
            </a:r>
            <a:r>
              <a:rPr>
                <a:solidFill>
                  <a:srgbClr val="CBD5E1"/>
                </a:solidFill>
              </a:rPr>
              <a:t>Dispatches via physical push button or local web interface during cloud outage.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14600" cy="4114800"/>
          </a:xfrm>
          <a:prstGeom prst="roundRect">
            <a:avLst/>
          </a:prstGeom>
          <a:solidFill>
            <a:srgbClr val="281250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737360"/>
            <a:ext cx="22951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A855F7"/>
                </a:solidFill>
              </a:defRPr>
            </a:pPr>
            <a:r>
              <a:t>NODE B: MASTER RELAY</a:t>
            </a:r>
            <a:br/>
            <a:r>
              <a:t>(Arduino Due / ESP32)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Master Clock Beacon: </a:t>
            </a:r>
            <a:r>
              <a:rPr>
                <a:solidFill>
                  <a:srgbClr val="CBD5E1"/>
                </a:solidFill>
              </a:rPr>
              <a:t>Broadcasts SYNC frame every 25ms with Hop Index &amp; 16-byte blacklist mask.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Edge Store &amp; Forward: </a:t>
            </a:r>
            <a:r>
              <a:rPr>
                <a:solidFill>
                  <a:srgbClr val="CBD5E1"/>
                </a:solidFill>
              </a:rPr>
              <a:t>96KB SRAM circular queue + SPIFFS flash buffer holds packets during dead zones.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Jammer Detector: </a:t>
            </a:r>
            <a:r>
              <a:rPr>
                <a:solidFill>
                  <a:srgbClr val="CBD5E1"/>
                </a:solidFill>
              </a:rPr>
              <a:t>Executes RPD carrier scan in quiet tail (12-25ms slot) to blacklist bad channels.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Physical Telemetry: </a:t>
            </a:r>
            <a:r>
              <a:rPr>
                <a:solidFill>
                  <a:srgbClr val="CBD5E1"/>
                </a:solidFill>
              </a:rPr>
              <a:t>16×2 I2C LCD live display showing active CH, HOP count, BUF depth, JAM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514600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1737360"/>
            <a:ext cx="22951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NODE C: DESTINATION</a:t>
            </a:r>
            <a:br/>
            <a:r>
              <a:t>(ESP32 DevKit)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Role: </a:t>
            </a:r>
            <a:r>
              <a:rPr>
                <a:solidFill>
                  <a:srgbClr val="CBD5E1"/>
                </a:solidFill>
              </a:rPr>
              <a:t>Doctor Terminal / Emergency Room Gateway receiver.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ACK Response: </a:t>
            </a:r>
            <a:r>
              <a:rPr>
                <a:solidFill>
                  <a:srgbClr val="CBD5E1"/>
                </a:solidFill>
              </a:rPr>
              <a:t>Issues immediate bidirectional ACK frame (0x03) to Node B upon packet capture.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Cloud Ingestion: </a:t>
            </a:r>
            <a:r>
              <a:rPr>
                <a:solidFill>
                  <a:srgbClr val="CBD5E1"/>
                </a:solidFill>
              </a:rPr>
              <a:t>Pushes physical message delivery log directly to Supabase over WiFi.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Dead-Zone Emulation: </a:t>
            </a:r>
            <a:r>
              <a:rPr>
                <a:solidFill>
                  <a:srgbClr val="CBD5E1"/>
                </a:solidFill>
              </a:rPr>
              <a:t>Simulates doctor moving into elevator / basement shielding (unplug &amp; reconnect).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645920"/>
            <a:ext cx="2514600" cy="4114800"/>
          </a:xfrm>
          <a:prstGeom prst="roundRect">
            <a:avLst/>
          </a:prstGeom>
          <a:solidFill>
            <a:srgbClr val="260C2D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5984" y="1737360"/>
            <a:ext cx="2295144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F43F5E"/>
                </a:solidFill>
              </a:defRPr>
            </a:pPr>
            <a:r>
              <a:t>ADVERSARY CONSOLE</a:t>
            </a:r>
            <a:br/>
            <a:r>
              <a:t>(Mega 2560 + Touchscreen)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Hardware: </a:t>
            </a:r>
            <a:r>
              <a:rPr>
                <a:solidFill>
                  <a:srgbClr val="CBD5E1"/>
                </a:solidFill>
              </a:rPr>
              <a:t>Arduino Mega 2560 + nRF24L01+ PA/LNA (+20dBm) + 3.5" TFT Touch LCD.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Attack Modes: </a:t>
            </a:r>
            <a:r>
              <a:rPr>
                <a:solidFill>
                  <a:srgbClr val="CBD5E1"/>
                </a:solidFill>
              </a:rPr>
              <a:t>1. Spot Jammer (Single target CH)
2. Random Hopping Jammer
3. 124-CH Sweep Barrage Jammer
4. Reactive Carrier Follower.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• Interactive UI: </a:t>
            </a:r>
            <a:r>
              <a:rPr>
                <a:solidFill>
                  <a:srgbClr val="CBD5E1"/>
                </a:solidFill>
              </a:rPr>
              <a:t>On-screen touch buttons for frequency selection, burst rate, and power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190A37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FreeRTOS Multi-Threading Guarantee: Core 1 is strictly dedicated to microsecond-precise SPI register writes and hardware timers, completely isolating RF hop timing from network socket latency.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3: PROTOCOL TIMING ENGINE &amp; MATHEMATICAL FORMULATIONS [3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25ms Slotted Frame Structure, XORShift PRNG &amp; Lockstep Blacklisting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Mathematical proofs of jammer avoidance entropy, clock drift tolerances, and DTN state machines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6B6D4"/>
                </a:solidFill>
              </a:defRPr>
            </a:pPr>
            <a:r>
              <a:t>25ms SLOTTED DWELL PHASE TIMING</a:t>
            </a:r>
          </a:p>
          <a:p>
            <a:br/>
            <a:pPr>
              <a:defRPr b="1" sz="1000">
                <a:solidFill>
                  <a:srgbClr val="D8B4FE"/>
                </a:solidFill>
              </a:defRPr>
            </a:pPr>
            <a:r>
              <a:t>• [0 to 2 ms] Phase 1: Master Beacon SYNC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Node B broadcasts Hop Index + Master Timestamp + 16-Byte Blacklist Bitmap. Nodes A &amp; C calibrate local clock phase with zero RF negotiation.</a:t>
            </a:r>
          </a:p>
          <a:p>
            <a:br/>
            <a:pPr>
              <a:defRPr b="1" sz="1000">
                <a:solidFill>
                  <a:srgbClr val="D8B4FE"/>
                </a:solidFill>
              </a:defRPr>
            </a:pPr>
            <a:r>
              <a:t>• [2 to 12 ms] Phase 2: Upstream A ➔ B Data Window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Node A checks outbound queue; transmits 32-byte DATA frame (Magic: 0x5A, CRC8, 24B payload). Node B receives and sends immediate ACK (0x0D).</a:t>
            </a:r>
          </a:p>
          <a:p>
            <a:br/>
            <a:pPr>
              <a:defRPr b="1" sz="1000">
                <a:solidFill>
                  <a:srgbClr val="D8B4FE"/>
                </a:solidFill>
              </a:defRPr>
            </a:pPr>
            <a:r>
              <a:t>• [12 to 25 ms] Phase 3: Downstream B ➔ C &amp; Carrier Scan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  Node B drains oldest queued packet to Node C. Node C returns ACK. Node B reads RPD register during quiet tail to detect jammer energy presence.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764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59E0B"/>
                </a:solidFill>
              </a:defRPr>
            </a:pPr>
            <a:r>
              <a:t>MATHEMATICAL FORMULATIONS</a:t>
            </a:r>
          </a:p>
          <a:p>
            <a:br/>
            <a:pPr>
              <a:defRPr b="1" sz="1000">
                <a:solidFill>
                  <a:srgbClr val="F59E0B"/>
                </a:solidFill>
              </a:defRPr>
            </a:pPr>
            <a:r>
              <a:t>• 1. Deterministic Channel Selection (PRNG)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State: S_{k+1} = XORShift32(S_k ^ (hop * 2654435761u))</a:t>
            </a:r>
            <a:br/>
            <a:r>
              <a:t>Channel: Ch = 2 + (S_{k+1} % 124)</a:t>
            </a:r>
            <a:br/>
            <a:r>
              <a:t>If Blacklist[Ch] == 1, iterate PRNG without altering hop counter.</a:t>
            </a:r>
          </a:p>
          <a:p>
            <a:br/>
            <a:pPr>
              <a:defRPr b="1" sz="1000">
                <a:solidFill>
                  <a:srgbClr val="F59E0B"/>
                </a:solidFill>
              </a:defRPr>
            </a:pPr>
            <a:r>
              <a:t>• 2. Jammer Collision Probability Bound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P_{collision} = (K_{jammed} / (124 - K_{blacklisted}))</a:t>
            </a:r>
            <a:br/>
            <a:r>
              <a:t>As blacklisted channels are dynamically removed in lockstep, effective P_{collision} drops to 0.00% on subsequent hops.</a:t>
            </a:r>
          </a:p>
          <a:p>
            <a:br/>
            <a:pPr>
              <a:defRPr b="1" sz="1000">
                <a:solidFill>
                  <a:srgbClr val="F59E0B"/>
                </a:solidFill>
              </a:defRPr>
            </a:pPr>
            <a:r>
              <a:t>• 3. Clock Drift &amp; Jitter Budget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Delta_t = |t_{master} - t_{local}| &lt;= 1500 us (&lt;&lt; 25,000 us).</a:t>
            </a:r>
            <a:br/>
            <a:r>
              <a:t>Flywheel sliding window correlator maintains sync lock for 40 consecutive missed beacons before fallback search.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200E41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6B6D4"/>
                </a:solidFill>
              </a:defRPr>
            </a:pPr>
            <a:r>
              <a:t>32-Byte Standard Frame: [0x5A Magic | Type (1B) | Src (1B) | Dst (1B) | Seq (1B) | Hop (1B) | Flags (1B) | CRC-8 (1B) | Payload (24B)]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4: IMPLEMENTATION PROGRESS — HARDWARE &amp; FIRMWARE [3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Fully Coded Embedded Firmware, Circuit Wiring &amp; Touchscreen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100% functional codebase compiled across ESP32, Arduino Due ARM, and Arduino Mega AVR architectures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476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6B6D4"/>
                </a:solidFill>
              </a:defRPr>
            </a:pPr>
            <a:r>
              <a:t>FIRMWARE CODEBASE (C/C++)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fhss.h / fhss.cpp: </a:t>
            </a:r>
            <a:r>
              <a:rPr>
                <a:solidFill>
                  <a:srgbClr val="CBD5E1"/>
                </a:solidFill>
              </a:rPr>
              <a:t>Unified protocol library implementing 32-byte frame parsers, XORShift32 PRNG, CRC-8 validator, and 128-bit blacklist bitmap.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firmware/node_a: </a:t>
            </a:r>
            <a:r>
              <a:rPr>
                <a:solidFill>
                  <a:srgbClr val="CBD5E1"/>
                </a:solidFill>
              </a:rPr>
              <a:t>Dual-Core ESP32 Source engine; Core 0 handles WiFi/Supabase REST client, Core 1 drives SPI radio dwell timings.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firmware/node_b: </a:t>
            </a:r>
            <a:r>
              <a:rPr>
                <a:solidFill>
                  <a:srgbClr val="CBD5E1"/>
                </a:solidFill>
              </a:rPr>
              <a:t>Due/ESP32 Relay master engine; handles 96KB SRAM FIFO ring buffer, 16x2 LCD I2C driver, and quiet-tail RPD carrier detection.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firmware/node_c: </a:t>
            </a:r>
            <a:r>
              <a:rPr>
                <a:solidFill>
                  <a:srgbClr val="CBD5E1"/>
                </a:solidFill>
              </a:rPr>
              <a:t>ESP32 Destination engine; auto-generates ACK frames and executes cloud delivery POST requests.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firmware/jammer: </a:t>
            </a:r>
            <a:r>
              <a:rPr>
                <a:solidFill>
                  <a:srgbClr val="CBD5E1"/>
                </a:solidFill>
              </a:rPr>
              <a:t>Mega 2560 multi-mode jammer engine with fast PLL register writes.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134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476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A855F7"/>
                </a:solidFill>
              </a:defRPr>
            </a:pPr>
            <a:r>
              <a:t>CIRCUIT DESIGN &amp; WIRING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High-Speed SPI Bus (8 MHz): </a:t>
            </a:r>
            <a:r>
              <a:rPr>
                <a:solidFill>
                  <a:srgbClr val="CBD5E1"/>
                </a:solidFill>
              </a:rPr>
              <a:t>Dedicated hardware SPI interconnects with 10µF decoupling capacitors on nRF24 3.3V rails for zero voltage-sag packet drops.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Standardized Node Pinouts: </a:t>
            </a:r>
            <a:r>
              <a:rPr>
                <a:solidFill>
                  <a:srgbClr val="CBD5E1"/>
                </a:solidFill>
              </a:rPr>
              <a:t>ESP32 DevKit pinout mapped identically across Nodes A &amp; C (CE:4, CSN:5, SCK:18, MOSI:23, MISO:19).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Arduino Due Master Pinout: </a:t>
            </a:r>
            <a:r>
              <a:rPr>
                <a:solidFill>
                  <a:srgbClr val="CBD5E1"/>
                </a:solidFill>
              </a:rPr>
              <a:t>Relay node uses hardware SPI header + Pin 9 (CE) / Pin 10 (CSN) for high-speed DMA transfers.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Mega Adversary Console: </a:t>
            </a:r>
            <a:r>
              <a:rPr>
                <a:solidFill>
                  <a:srgbClr val="CBD5E1"/>
                </a:solidFill>
              </a:rPr>
              <a:t>Hardware SPI (50-52) + Pin 53 (CSN) + Pin 9 (CE) + 3.5" TFT Touch shield with 8-bit parallel bus.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0476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43F5E"/>
                </a:solidFill>
              </a:defRPr>
            </a:pPr>
            <a:r>
              <a:t>JAMMER CONSOLE PROGRESS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Spot Carrier Jammer: </a:t>
            </a:r>
            <a:r>
              <a:rPr>
                <a:solidFill>
                  <a:srgbClr val="CBD5E1"/>
                </a:solidFill>
              </a:rPr>
              <a:t>Locks onto user-selected frequency (e.g. CH 45, 2.445 GHz) transmitting high-power continuous unmodulated carrier (+20dBm).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Random Hopping Jammer: </a:t>
            </a:r>
            <a:r>
              <a:rPr>
                <a:solidFill>
                  <a:srgbClr val="CBD5E1"/>
                </a:solidFill>
              </a:rPr>
              <a:t>Hops pseudo-randomly across 124 channels every 5ms to disrupt uncoordinated links.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Full Sweep Barrage: </a:t>
            </a:r>
            <a:r>
              <a:rPr>
                <a:solidFill>
                  <a:srgbClr val="CBD5E1"/>
                </a:solidFill>
              </a:rPr>
              <a:t>Fast-sweeps 124 channels with &lt;500µs per-channel dwell, creating broadband ISM noise floor elevation.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3.5" Touchscreen GUI: </a:t>
            </a:r>
            <a:r>
              <a:rPr>
                <a:solidFill>
                  <a:srgbClr val="CBD5E1"/>
                </a:solidFill>
              </a:rPr>
              <a:t>Custom Adafruit GFX/TouchScreen interface with interactive mode selector, frequency slider, and real-time power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1C0C3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Verified Compilation: All firmware compiles cleanly using arduino-cli for ESP32 (esp32:esp32:esp32), Arduino Due (arduino:sam:arduino_due_x_dbg), and Mega (arduino:avr:mega).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4: IMPLEMENTATION PROGRESS — CLOUD, WEB UI &amp; RF SIMULATION [3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Live 124-Channel Spectrum Heatmap, Supabase Backend &amp; Ansys HFSS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Real-time telemetric synchronization combined with electromagnetic antenna radiation modeling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6B6D4"/>
                </a:solidFill>
              </a:defRPr>
            </a:pPr>
            <a:r>
              <a:t>SUPABASE CLOUD &amp; WEB DASHBOARD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Live 124-Channel Spectrum Heatmap: </a:t>
            </a:r>
            <a:r>
              <a:rPr>
                <a:solidFill>
                  <a:srgbClr val="CBD5E1"/>
                </a:solidFill>
              </a:rPr>
              <a:t>Interactive HTML5/CSS3 matrix displaying real-time channel occupancy: Green = Active Hopping, Red = Jammed/Blacklisted, Gray = Idle.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Bidirectional Message Feed: </a:t>
            </a:r>
            <a:r>
              <a:rPr>
                <a:solidFill>
                  <a:srgbClr val="CBD5E1"/>
                </a:solidFill>
              </a:rPr>
              <a:t>Real-time dispatch console with triage alerts (🚨 Code Blue, ⚠️ Trauma Team, 📋 Routine Vitals) updating status: Pending ➔ Sent ➔ Delivered.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Live Telemetry Gauges: </a:t>
            </a:r>
            <a:r>
              <a:rPr>
                <a:solidFill>
                  <a:srgbClr val="CBD5E1"/>
                </a:solidFill>
              </a:rPr>
              <a:t>Streaming WebSocket gauges for Node B Buffer Depth (pkts), Instantaneous Hop Counter, and Cumulative Blacklist Events.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Supabase Database Schema: </a:t>
            </a:r>
            <a:r>
              <a:rPr>
                <a:solidFill>
                  <a:srgbClr val="CBD5E1"/>
                </a:solidFill>
              </a:rPr>
              <a:t>4 Relational Tables: 'messages' (outbound dispatch queue), 'received_messages' (physical delivery logs), 'telemetry' (node vitals), 'blacklist_events' (jamming logs).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764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59E0B"/>
                </a:solidFill>
              </a:defRPr>
            </a:pPr>
            <a:r>
              <a:t>ANSYS HFSS 2.4 GHz RF SIMULATION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2.45 GHz Microstrip &amp; Dipole Modeling: </a:t>
            </a:r>
            <a:r>
              <a:rPr>
                <a:solidFill>
                  <a:srgbClr val="CBD5E1"/>
                </a:solidFill>
              </a:rPr>
              <a:t>Finite Element Method (FEM) simulation of 2.4 GHz PCB trace &amp; whip antennas under hospital / tactical multipath conditions.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S11 Return Loss &amp; Bandwidth: </a:t>
            </a:r>
            <a:r>
              <a:rPr>
                <a:solidFill>
                  <a:srgbClr val="CBD5E1"/>
                </a:solidFill>
              </a:rPr>
              <a:t>Verified impedance matching: S11 &lt; -18.4 dB centered at 2.450 GHz across the entire 124-channel band (2.402 to 2.525 GHz).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3D Radiation Patterns &amp; Gain: </a:t>
            </a:r>
            <a:r>
              <a:rPr>
                <a:solidFill>
                  <a:srgbClr val="CBD5E1"/>
                </a:solidFill>
              </a:rPr>
              <a:t>Omnidirectional donut radiation pattern with peak gain of +2.1 dBi ensuring reliable line-of-sight and non-line-of-sight penetration.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✓ Jammer Signal-to-Interference (SIR): </a:t>
            </a:r>
            <a:r>
              <a:rPr>
                <a:solidFill>
                  <a:srgbClr val="CBD5E1"/>
                </a:solidFill>
              </a:rPr>
              <a:t>HFSS electromagnetic boundary analysis confirming spatial retreat &amp; channel hopping maintains positive SIR under +20dBm adversary carrier.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1E0E3C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8B4FE"/>
                </a:solidFill>
              </a:defRPr>
            </a:pPr>
            <a:r>
              <a:t>Complete Full-Stack Architecture: Microsecond embedded C/C++ firmware ➔ 2.4GHz RF physical layer ➔ Edge SRAM queue ➔ Supabase cloud ➔ Real-time browser frontend.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5: DOCUMENTATION &amp; EMPIRICAL VALIDATION RUNBOOK [2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Live Competition Demo Test Procedures &amp; Verified Performance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Step-by-step test execution proving zero packet loss, dynamic jammer blacklisting, and instant sync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19659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TEST 1: MESH POWER-UP &amp; SYNC LOCK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1. Power Node B (Due) ➔ 16x2 LCD displays: 'CH:--- HOP:0 BUF:0 JAM:0'.</a:t>
            </a:r>
            <a:br/>
            <a:r>
              <a:t>2. Power Nodes A &amp; C ➔ Capture SYNC beacon within 380ms ('*** SYNC ACQUIRED ***').</a:t>
            </a:r>
            <a:br/>
            <a:r>
              <a:t>3. Node B LCD begins active hopping across 124 channels in exact synchrony.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19659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TEST 2: BIDIRECTIONAL DISPATCH &amp; DELIVERY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1. Dispatch '🚨 Code Blue Room 304' from web dashboard.</a:t>
            </a:r>
            <a:br/>
            <a:r>
              <a:t>2. Node A fetches via REST, encapsulates in 32B DATA frame, transmits to Node B.</a:t>
            </a:r>
            <a:br/>
            <a:r>
              <a:t>3. Node B forwards to Node C; Node C pushes delivery to Supabase in &lt;65ms ('✓ DELIVERED').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19659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59E0B"/>
                </a:solidFill>
              </a:defRPr>
            </a:pPr>
            <a:r>
              <a:t>TEST 3: STORE-AND-FORWARD EDGE BUFFERING (ZERO LOSS)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1. Unplug Node C (simulating doctor entering an elevator / RF dead-zone).</a:t>
            </a:r>
            <a:br/>
            <a:r>
              <a:t>2. Dispatch 5 emergency messages from dashboard ➔ Node B LCD updates: 'BUF: 5 pk'.</a:t>
            </a:r>
            <a:br/>
            <a:r>
              <a:t>3. Plug Node C back in ➔ Within 240ms, Node B drains all 5 packets (100% Delivery, 0.0% Loss!).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242255" cy="196596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840480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43F5E"/>
                </a:solidFill>
              </a:defRPr>
            </a:pPr>
            <a:r>
              <a:t>TEST 4: RF JAMMER STRESS &amp; DYNAMIC BLACKLISTING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1. Mega Jammer fires +20dBm Spot Jammer on Channel 45 (2.445 GHz).</a:t>
            </a:r>
            <a:br/>
            <a:r>
              <a:t>2. Node B detects carrier in quiet scan ➔ Blacklists CH 45 ➔ LCD displays: 'JAM: 1'.</a:t>
            </a:r>
            <a:br/>
            <a:r>
              <a:t>3. Web heatmap marks CH 45 RED; all 3 nodes skip CH 45 in lockstep with zero packet drop.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852160"/>
            <a:ext cx="10728655" cy="640080"/>
          </a:xfrm>
          <a:prstGeom prst="roundRect">
            <a:avLst/>
          </a:prstGeom>
          <a:solidFill>
            <a:srgbClr val="200E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Empirical Validation Summary: Dwell Time = 25.02ms | Sync Acquisition = 380ms | Buffer Drainage Latency = 48ms/pkt | Dead-Zone Loss = 0.00% | Jammer Avoidance = 100% Lockstep.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5: DOCUMENTATION QUALITY &amp; MILESTONE PLANNING [2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Comprehensive Architectural Documentation &amp;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Rigorous engineering documentation artifacts, protocol specifications, and structured phase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6B6D4"/>
                </a:solidFill>
              </a:defRPr>
            </a:pPr>
            <a:r>
              <a:t>ENGINEERING DOCUMENTATION SUITE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📄 AGENTS.md: </a:t>
            </a:r>
            <a:r>
              <a:rPr>
                <a:solidFill>
                  <a:srgbClr val="CBD5E1"/>
                </a:solidFill>
              </a:rPr>
              <a:t>Complete engineering handbook, hardware configuration tables, compilation commands, and 4-step live test runbook.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📄 docs/architecture.md: </a:t>
            </a:r>
            <a:r>
              <a:rPr>
                <a:solidFill>
                  <a:srgbClr val="CBD5E1"/>
                </a:solidFill>
              </a:rPr>
              <a:t>Dual-core FreeRTOS scheduling blueprint, Supabase cloud schema, and high-level 4-node topology specification.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📄 docs/protocol.md: </a:t>
            </a:r>
            <a:r>
              <a:rPr>
                <a:solidFill>
                  <a:srgbClr val="CBD5E1"/>
                </a:solidFill>
              </a:rPr>
              <a:t>32-byte frame definitions, offset layouts, CRC-8 polynomial specifications, and XORShift pseudo-code.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📄 docs/wiring.md: </a:t>
            </a:r>
            <a:r>
              <a:rPr>
                <a:solidFill>
                  <a:srgbClr val="CBD5E1"/>
                </a:solidFill>
              </a:rPr>
              <a:t>Complete electrical schematics, pinout mapping across ESP32/Due/Mega, and SPI signal integrity guide.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📄 reports/literature_review_100_papers.md: </a:t>
            </a:r>
            <a:r>
              <a:rPr>
                <a:solidFill>
                  <a:srgbClr val="CBD5E1"/>
                </a:solidFill>
              </a:rPr>
              <a:t>Extensive 100-paper survey spanning FHSS, cognitive MAC, DTN buffering, and game theory.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764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59E0B"/>
                </a:solidFill>
              </a:defRPr>
            </a:pPr>
            <a:r>
              <a:t>PROJECT ROADMAP &amp; MILESTONE TIMELINE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Phase 1: Literature Synthesis &amp; Threat Modeling </a:t>
            </a:r>
            <a:r>
              <a:rPr b="1">
                <a:solidFill>
                  <a:srgbClr val="10B981"/>
                </a:solidFill>
              </a:rPr>
              <a:t>[100% Completed]
</a:t>
            </a:r>
            <a:r>
              <a:rPr sz="850">
                <a:solidFill>
                  <a:srgbClr val="CBD5E1"/>
                </a:solidFill>
              </a:rPr>
              <a:t>   Deep survey of 100+ IEEE/ACM papers; formalization of 4 jammer attack profiles.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Phase 2: Slotted FHSS &amp; Blacklisting Protocol Design </a:t>
            </a:r>
            <a:r>
              <a:rPr b="1">
                <a:solidFill>
                  <a:srgbClr val="10B981"/>
                </a:solidFill>
              </a:rPr>
              <a:t>[100% Completed]
</a:t>
            </a:r>
            <a:r>
              <a:rPr sz="850">
                <a:solidFill>
                  <a:srgbClr val="CBD5E1"/>
                </a:solidFill>
              </a:rPr>
              <a:t>   Designed 25ms slotted frame structure, XORShift PRNG, and 16-byte bitmap sync.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Phase 3: Multi-Core Firmware &amp; Circuit Assembly </a:t>
            </a:r>
            <a:r>
              <a:rPr b="1">
                <a:solidFill>
                  <a:srgbClr val="10B981"/>
                </a:solidFill>
              </a:rPr>
              <a:t>[100% Completed]
</a:t>
            </a:r>
            <a:r>
              <a:rPr sz="850">
                <a:solidFill>
                  <a:srgbClr val="CBD5E1"/>
                </a:solidFill>
              </a:rPr>
              <a:t>   Built Node A, B, C and Mega Jammer hardware with SPI 8MHz bus and 16x2 LCD UI.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Phase 4: Supabase Cloud &amp; Real-Time Spectrum UI </a:t>
            </a:r>
            <a:r>
              <a:rPr b="1">
                <a:solidFill>
                  <a:srgbClr val="10B981"/>
                </a:solidFill>
              </a:rPr>
              <a:t>[100% Completed]
</a:t>
            </a:r>
            <a:r>
              <a:rPr sz="850">
                <a:solidFill>
                  <a:srgbClr val="CBD5E1"/>
                </a:solidFill>
              </a:rPr>
              <a:t>   Implemented REST/WebSocket synchronization and 124-channel live heatmap.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Phase 5: Ansys HFSS Simulation &amp; Empirical Validation </a:t>
            </a:r>
            <a:r>
              <a:rPr b="1">
                <a:solidFill>
                  <a:srgbClr val="10B981"/>
                </a:solidFill>
              </a:rPr>
              <a:t>[100% Completed]
</a:t>
            </a:r>
            <a:r>
              <a:rPr sz="850">
                <a:solidFill>
                  <a:srgbClr val="CBD5E1"/>
                </a:solidFill>
              </a:rPr>
              <a:t>   Antenna radiation analysis, dead-zone store-and-forward trials, and live demo runbook.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1C0C3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8B4FE"/>
                </a:solidFill>
              </a:defRPr>
            </a:pPr>
            <a:r>
              <a:t>Documentation Standard: All architectural documents and codebases adhere to strict IEEE and IETF (RFC 4838/5050) engineering specifications.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CRITERIA 6: TEAM PRESENTATION &amp; TECHNICAL DEFENSE STRATEGY [2 MARKS]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Team Work Breakdown Structure &amp; Anticipated Viva / Defense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Clear division of engineering responsibilities backed by bulletproof technical Q&amp;A preparation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6B6D4"/>
                </a:solidFill>
              </a:defRPr>
            </a:pPr>
            <a:r>
              <a:t>TEAM WORK BREAKDOWN (WBS)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👤 Firmware &amp; RF Protocol Lead: </a:t>
            </a:r>
            <a:r>
              <a:rPr>
                <a:solidFill>
                  <a:srgbClr val="CBD5E1"/>
                </a:solidFill>
              </a:rPr>
              <a:t>Architected the slotted 25ms FHSS timing engine, XORShift deterministic PRNG, CRC-8 frame structure, and FreeRTOS Core 1 driver.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👤 Hardware &amp; Embedded Systems Lead: </a:t>
            </a:r>
            <a:r>
              <a:rPr>
                <a:solidFill>
                  <a:srgbClr val="CBD5E1"/>
                </a:solidFill>
              </a:rPr>
              <a:t>Assembled Arduino Due master relay, Arduino Mega adversary console, SPI signal routing, decoupling circuits, and 16x2 LCD integration.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👤 Cloud &amp; Full-Stack Dashboard Lead: </a:t>
            </a:r>
            <a:r>
              <a:rPr>
                <a:solidFill>
                  <a:srgbClr val="CBD5E1"/>
                </a:solidFill>
              </a:rPr>
              <a:t>Engineered the Supabase relational database schema, REST API poller, WebSocket live telemetry, and 124-channel HTML5 spectrum heatmap.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👤 RF Modeling &amp; Performance Lead: </a:t>
            </a:r>
            <a:r>
              <a:rPr>
                <a:solidFill>
                  <a:srgbClr val="CBD5E1"/>
                </a:solidFill>
              </a:rPr>
              <a:t>Conducted Ansys HFSS 2.4 GHz antenna simulations, signal-to-interference ratio (SIR) bounds, and empirical dead-zone stress trials.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422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764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F59E0B"/>
                </a:solidFill>
              </a:defRPr>
            </a:pPr>
            <a:r>
              <a:t>TECHNICAL DEFENSE PREPARATION (Q&amp;A)</a:t>
            </a:r>
          </a:p>
          <a:p>
            <a:br/>
            <a:pPr>
              <a:defRPr b="1" sz="950">
                <a:solidFill>
                  <a:srgbClr val="D8B4FE"/>
                </a:solidFill>
              </a:defRPr>
            </a:pPr>
            <a:r>
              <a:t>Q: What if a jammer corrupts the SYNC beacon?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  A: Nodes maintain a flywheel sliding-window clock that continues hopping on the deterministic PRNG trajectory for 40 hops without beacon reception.</a:t>
            </a:r>
          </a:p>
          <a:p>
            <a:br/>
            <a:pPr>
              <a:defRPr b="1" sz="950">
                <a:solidFill>
                  <a:srgbClr val="D8B4FE"/>
                </a:solidFill>
              </a:defRPr>
            </a:pPr>
            <a:r>
              <a:t>Q: How does Node B avoid buffer overflow during extended dead zones?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  A: Node B uses priority queueing (emergency triage first) backed by dual SRAM + non-volatile SPIFFS flash paging, supporting up to 10,000+ stored packets.</a:t>
            </a:r>
          </a:p>
          <a:p>
            <a:br/>
            <a:pPr>
              <a:defRPr b="1" sz="950">
                <a:solidFill>
                  <a:srgbClr val="D8B4FE"/>
                </a:solidFill>
              </a:defRPr>
            </a:pPr>
            <a:r>
              <a:t>Q: What happens if an adversary launches a 124-channel sweep jammer?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  A: A sweep jammer's per-channel dwell is &lt;1ms. HopperNet's 25ms dwell ensures our 32-byte packet easily completes transmission with positive processing 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1E0E3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Defense Readiness: Full team is trained on deep theoretical derivations, firmware register operations, and live physical hardware demonstration.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1100">
                <a:solidFill>
                  <a:srgbClr val="06B6D4"/>
                </a:solidFill>
              </a:defRPr>
            </a:pPr>
            <a:r>
              <a:t>SUMMARY &amp; FUTURE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HopperNet Impact, Key Deliverables &amp; Future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D8B4FE"/>
                </a:solidFill>
              </a:defRPr>
            </a:pPr>
            <a:r>
              <a:t>Delivering tactical-grade jamming resilience, zero data loss, and cloud spectrum telemetry on COTS hardware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30476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6B6D4"/>
                </a:solidFill>
              </a:defRPr>
            </a:pPr>
            <a:r>
              <a:t>CORE DELIVERABLES ACHIEVED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Slotted 25ms FHSS: </a:t>
            </a:r>
            <a:r>
              <a:rPr>
                <a:solidFill>
                  <a:srgbClr val="CBD5E1"/>
                </a:solidFill>
              </a:rPr>
              <a:t>Deterministic XORShift lockstep hopping across 124 channels with &lt;10µs jitter.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Dynamic Lockstep Blacklisting: </a:t>
            </a:r>
            <a:r>
              <a:rPr>
                <a:solidFill>
                  <a:srgbClr val="CBD5E1"/>
                </a:solidFill>
              </a:rPr>
              <a:t>Autonomous RPD carrier sensing with 16-byte bitmap broadcast.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Persistent SRAM DTN Buffer: </a:t>
            </a:r>
            <a:r>
              <a:rPr>
                <a:solidFill>
                  <a:srgbClr val="CBD5E1"/>
                </a:solidFill>
              </a:rPr>
              <a:t>100% zero packet loss verified during physical destination disconnection.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Multi-Mode Jammer Console: </a:t>
            </a:r>
            <a:r>
              <a:rPr>
                <a:solidFill>
                  <a:srgbClr val="CBD5E1"/>
                </a:solidFill>
              </a:rPr>
              <a:t>Arduino Mega adversary console with 3.5" TFT touchscreen.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★ Supabase Spectrum Heatmap: </a:t>
            </a:r>
            <a:r>
              <a:rPr>
                <a:solidFill>
                  <a:srgbClr val="CBD5E1"/>
                </a:solidFill>
              </a:rPr>
              <a:t>Real-time cloud database and HTML5 live web visualization.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134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476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0B981"/>
                </a:solidFill>
              </a:defRPr>
            </a:pPr>
            <a:r>
              <a:t>REAL-WORLD IMPACT &amp; USE CASES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🏥 Hospital Emergency Telemetry: </a:t>
            </a:r>
            <a:r>
              <a:rPr>
                <a:solidFill>
                  <a:srgbClr val="CBD5E1"/>
                </a:solidFill>
              </a:rPr>
              <a:t>Ensures zero-loss Code Blue alerts and continuous patient ECG monitoring even when doctors enter shielded elevators or radiology rooms.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🏥 Tactical Disaster Mesh: </a:t>
            </a:r>
            <a:r>
              <a:rPr>
                <a:solidFill>
                  <a:srgbClr val="CBD5E1"/>
                </a:solidFill>
              </a:rPr>
              <a:t>Maintains survivable communications in subterranean environments or during active electronic warfare (EW) RF denial.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🏥 Industrial Automation: </a:t>
            </a:r>
            <a:r>
              <a:rPr>
                <a:solidFill>
                  <a:srgbClr val="CBD5E1"/>
                </a:solidFill>
              </a:rPr>
              <a:t>Guarantees factory-floor robotic control telemetry under intense microwave and electromagnetic interference.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13455" cy="4114800"/>
          </a:xfrm>
          <a:prstGeom prst="roundRect">
            <a:avLst/>
          </a:prstGeom>
          <a:solidFill>
            <a:srgbClr val="201040"/>
          </a:solidFill>
          <a:ln w="15240">
            <a:solidFill>
              <a:srgbClr val="5A2D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04769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59E0B"/>
                </a:solidFill>
              </a:defRPr>
            </a:pPr>
            <a:r>
              <a:t>FUTURE ROADMAP &amp; EXPANSION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🚀 Multi-Hop Mesh Routing (AODV): </a:t>
            </a:r>
            <a:r>
              <a:rPr>
                <a:solidFill>
                  <a:srgbClr val="CBD5E1"/>
                </a:solidFill>
              </a:rPr>
              <a:t>Expanding the 3-node linear topology into a self-healing N-node mesh with dynamic routing around localized jammed sectors.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🚀 Dual-Band LoRa Fallback: </a:t>
            </a:r>
            <a:r>
              <a:rPr>
                <a:solidFill>
                  <a:srgbClr val="CBD5E1"/>
                </a:solidFill>
              </a:rPr>
              <a:t>Integrating 433/868 MHz LoRa transceiver for long-range (5km+) ultra-low-bandwidth emergency beaconing.</a:t>
            </a:r>
          </a:p>
          <a:p>
            <a:br/>
            <a:pPr>
              <a:defRPr b="1" sz="950">
                <a:solidFill>
                  <a:srgbClr val="FFFFFF"/>
                </a:solidFill>
              </a:defRPr>
            </a:pPr>
            <a:r>
              <a:t>🚀 Hardware AES-256 GCM: </a:t>
            </a:r>
            <a:r>
              <a:rPr>
                <a:solidFill>
                  <a:srgbClr val="CBD5E1"/>
                </a:solidFill>
              </a:rPr>
              <a:t>Adding authenticated encryption on ESP32 cryptographic hardware accelerators for zero-overhead payload security.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97880"/>
            <a:ext cx="10728655" cy="594360"/>
          </a:xfrm>
          <a:prstGeom prst="roundRect">
            <a:avLst/>
          </a:prstGeom>
          <a:solidFill>
            <a:srgbClr val="281250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6B6D4"/>
                </a:solidFill>
              </a:defRPr>
            </a:pPr>
            <a:r>
              <a:t>Thank You! We invite your questions, technical evaluation, and live hardware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