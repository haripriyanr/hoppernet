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E5FF"/>
                </a:solidFill>
                <a:latin typeface="Arial"/>
              </a:defRPr>
            </a:pPr>
            <a:r>
              <a:rPr sz="2000" b="1">
                <a:solidFill>
                  <a:srgbClr val="00E5FF"/>
                </a:solidFill>
                <a:latin typeface="Arial"/>
                <a:ea typeface="Yu Gothic"/>
              </a:rPr>
              <a:t>PROBLEM STATEMENT C01 | RESEARCH &amp; ENGINEERING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Yu Gothic"/>
              </a:rPr>
              <a:t>Spectrum-Pipe: Jammer-Resilient FHSS Mesh with Persistent Edge Buffering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94A3B8"/>
                </a:solidFill>
                <a:latin typeface="Arial"/>
              </a:defRPr>
            </a:pPr>
            <a:r>
              <a:rPr sz="1600" b="0">
                <a:solidFill>
                  <a:srgbClr val="94A3B8"/>
                </a:solidFill>
                <a:latin typeface="Arial"/>
                <a:ea typeface="Yu Gothic"/>
              </a:rPr>
              <a:t>A Slotted Frequency-Hopping Spread Spectrum Mesh with Lockstep Channel Blacklisting, Sub-Millisecond Clock Synchronization, and Zero-Loss Store-and-Forward Relaying.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303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8BDF8"/>
                </a:solidFill>
                <a:latin typeface="Arial"/>
              </a:defRPr>
            </a:pPr>
            <a:r>
              <a:rPr sz="1400">
                <a:solidFill>
                  <a:srgbClr val="38BDF8"/>
                </a:solidFill>
                <a:latin typeface="Arial"/>
                <a:ea typeface="Yu Gothic"/>
              </a:rPr>
              <a:t>Hardware Architecture: 3× ESP32 Mesh Nodes + 1× Arduino Mega Adversary Console | 100+ Paper Research Survey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545775" cy="457200"/>
          </a:xfrm>
          <a:prstGeom prst="rect">
            <a:avLst/>
          </a:prstGeom>
          <a:noFill/>
        </p:spPr>
        <p:txBody>
          <a:bodyPr wrap="square" anchor="b">
            <a:normAutofit fontScale="60000"/>
          </a:bodyPr>
          <a:lstStyle/>
          <a:p>
            <a:pPr>
              <a:defRPr sz="2200" b="1">
                <a:solidFill>
                  <a:srgbClr val="051C2C"/>
                </a:solidFill>
                <a:latin typeface="Arial"/>
              </a:defRPr>
            </a:pPr>
            <a:r>
              <a:rPr sz="2200" b="1">
                <a:solidFill>
                  <a:srgbClr val="051C2C"/>
                </a:solidFill>
                <a:latin typeface="Arial"/>
              </a:rPr>
              <a:t>1. Problem Statement &amp; Deep Problem Understanding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868680"/>
            <a:ext cx="10545775" cy="18288"/>
          </a:xfrm>
          <a:prstGeom prst="rect">
            <a:avLst/>
          </a:prstGeom>
          <a:solidFill>
            <a:srgbClr val="225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E5FF"/>
                </a:solidFill>
                <a:latin typeface="Arial"/>
              </a:defRPr>
            </a:pPr>
            <a:r>
              <a:rPr sz="1400" b="1">
                <a:solidFill>
                  <a:srgbClr val="00E5FF"/>
                </a:solidFill>
                <a:latin typeface="Arial"/>
                <a:ea typeface="Yu Gothic"/>
              </a:rPr>
              <a:t>PROBLEM BREAKDOWN &amp; ACADEMIC GROUNDING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970"/>
              </a:lnSpc>
              <a:defRPr sz="1200">
                <a:solidFill>
                  <a:srgbClr val="051C2C"/>
                </a:solidFill>
                <a:latin typeface="Arial"/>
              </a:defRPr>
            </a:pPr>
            <a:r>
              <a:rPr sz="1200">
                <a:solidFill>
                  <a:srgbClr val="051C2C"/>
                </a:solidFill>
                <a:latin typeface="Arial"/>
              </a:rPr>
              <a:t>•  Context: Critical wireless links (tactical, industrial, healthcare) fail catastrophically when subjected to intentional RF jamming or severe RF dead-zones.</a:t>
            </a:r>
          </a:p>
          <a:p>
            <a:pPr>
              <a:lnSpc>
                <a:spcPts val="2970"/>
              </a:lnSpc>
              <a:defRPr sz="1200">
                <a:solidFill>
                  <a:srgbClr val="051C2C"/>
                </a:solidFill>
                <a:latin typeface="Arial"/>
              </a:defRPr>
            </a:pPr>
            <a:r>
              <a:t>•  Problem Statement: Build a 3-node wireless system (A -&gt; B -&gt; C) where Node B acts as an intelligent store-and-forward relay using automated FHSS to defeat active jammers.</a:t>
            </a:r>
          </a:p>
          <a:p>
            <a:pPr>
              <a:lnSpc>
                <a:spcPts val="2970"/>
              </a:lnSpc>
              <a:defRPr sz="1200">
                <a:solidFill>
                  <a:srgbClr val="051C2C"/>
                </a:solidFill>
                <a:latin typeface="Arial"/>
              </a:defRPr>
            </a:pPr>
            <a:r>
              <a:t>•  Zero Data Loss Requirement: When Node C is unreachable, Node B must buffer undelivered packets persistently in memory and drain them upon link restoration.</a:t>
            </a:r>
          </a:p>
          <a:p>
            <a:pPr>
              <a:lnSpc>
                <a:spcPts val="2970"/>
              </a:lnSpc>
              <a:defRPr sz="1200">
                <a:solidFill>
                  <a:srgbClr val="051C2C"/>
                </a:solidFill>
                <a:latin typeface="Arial"/>
              </a:defRPr>
            </a:pPr>
            <a:r>
              <a:t>•  Automatic Jammer Avoidance: Detect carrier interference, dynamically blacklist corrupted channels across all nodes in lockstep, and restore sync if lost.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3474720"/>
          <a:ext cx="10515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4206240"/>
                <a:gridCol w="4206240"/>
              </a:tblGrid>
              <a:tr h="2743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Challenge Axis</a:t>
                      </a:r>
                    </a:p>
                  </a:txBody>
                  <a:tcPr anchor="ctr" marL="91440" marR="91440" marT="27432" marB="27432">
                    <a:solidFill>
                      <a:srgbClr val="051C2C"/>
                    </a:solidFill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25400" cmpd="sng">
                      <a:solidFill>
                        <a:srgbClr val="051C2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Standard Wireless Vulnerability</a:t>
                      </a:r>
                    </a:p>
                  </a:txBody>
                  <a:tcPr anchor="ctr" marL="91440" marR="91440" marT="27432" marB="27432">
                    <a:solidFill>
                      <a:srgbClr val="051C2C"/>
                    </a:solidFill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25400" cmpd="sng">
                      <a:solidFill>
                        <a:srgbClr val="051C2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Spectrum-Pipe Engineering Solution</a:t>
                      </a:r>
                    </a:p>
                  </a:txBody>
                  <a:tcPr anchor="ctr" marL="91440" marR="91440" marT="27432" marB="27432">
                    <a:solidFill>
                      <a:srgbClr val="051C2C"/>
                    </a:solidFill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25400" cmpd="sng">
                      <a:solidFill>
                        <a:srgbClr val="051C2C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51C2C"/>
                          </a:solidFill>
                          <a:latin typeface="Arial"/>
                        </a:defRPr>
                      </a:pPr>
                      <a:r>
                        <a:t>RF Jamming</a:t>
                      </a:r>
                    </a:p>
                  </a:txBody>
                  <a:tcPr anchor="ctr" marL="91440" marR="91440" marT="27432" marB="27432">
                    <a:noFill/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51C2C"/>
                          </a:solidFill>
                          <a:latin typeface="Arial"/>
                        </a:defRPr>
                      </a:pPr>
                      <a:r>
                        <a:t>Static frequencies (e.g. WiFi/Zigbee) completely blocked by 10mW noise.</a:t>
                      </a:r>
                    </a:p>
                  </a:txBody>
                  <a:tcPr anchor="ctr" marL="91440" marR="91440" marT="27432" marB="27432">
                    <a:noFill/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51C2C"/>
                          </a:solidFill>
                          <a:latin typeface="Arial"/>
                        </a:defRPr>
                      </a:pPr>
                      <a:r>
                        <a:t>124-channel slotted FHSS (25ms dwell) + dynamic 16-byte lockstep blacklist.</a:t>
                      </a:r>
                    </a:p>
                  </a:txBody>
                  <a:tcPr anchor="ctr" marL="91440" marR="91440" marT="27432" marB="27432">
                    <a:noFill/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51C2C"/>
                          </a:solidFill>
                          <a:latin typeface="Arial"/>
                        </a:defRPr>
                      </a:pPr>
                      <a:r>
                        <a:t>Dead-Zones</a:t>
                      </a:r>
                    </a:p>
                  </a:txBody>
                  <a:tcPr anchor="ctr" marL="91440" marR="91440" marT="27432" marB="27432">
                    <a:solidFill>
                      <a:srgbClr val="F5F5F5"/>
                    </a:solidFill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51C2C"/>
                          </a:solidFill>
                          <a:latin typeface="Arial"/>
                        </a:defRPr>
                      </a:pPr>
                      <a:r>
                        <a:t>Packets dropped irreversibly during link outages or elevator trips.</a:t>
                      </a:r>
                    </a:p>
                  </a:txBody>
                  <a:tcPr anchor="ctr" marL="91440" marR="91440" marT="27432" marB="27432">
                    <a:solidFill>
                      <a:srgbClr val="F5F5F5"/>
                    </a:solidFill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51C2C"/>
                          </a:solidFill>
                          <a:latin typeface="Arial"/>
                        </a:defRPr>
                      </a:pPr>
                      <a:r>
                        <a:t>Autonomous 520KB SRAM + 4MB Flash ring buffer on Node B (Zero Packet Loss).</a:t>
                      </a:r>
                    </a:p>
                  </a:txBody>
                  <a:tcPr anchor="ctr" marL="91440" marR="91440" marT="27432" marB="27432">
                    <a:solidFill>
                      <a:srgbClr val="F5F5F5"/>
                    </a:solidFill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51C2C"/>
                          </a:solidFill>
                          <a:latin typeface="Arial"/>
                        </a:defRPr>
                      </a:pPr>
                      <a:r>
                        <a:t>Sync Loss</a:t>
                      </a:r>
                    </a:p>
                  </a:txBody>
                  <a:tcPr anchor="ctr" marL="91440" marR="91440" marT="27432" marB="27432">
                    <a:noFill/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51C2C"/>
                          </a:solidFill>
                          <a:latin typeface="Arial"/>
                        </a:defRPr>
                      </a:pPr>
                      <a:r>
                        <a:t>Nodes desynchronize when hopping clocks drift or beacons are jammed.</a:t>
                      </a:r>
                    </a:p>
                  </a:txBody>
                  <a:tcPr anchor="ctr" marL="91440" marR="91440" marT="27432" marB="27432">
                    <a:noFill/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51C2C"/>
                          </a:solidFill>
                          <a:latin typeface="Arial"/>
                        </a:defRPr>
                      </a:pPr>
                      <a:r>
                        <a:t>Continuous sliding-window master clock broadcast with fast fallback sweep.</a:t>
                      </a:r>
                    </a:p>
                  </a:txBody>
                  <a:tcPr anchor="ctr" marL="91440" marR="91440" marT="27432" marB="27432">
                    <a:noFill/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545775" cy="457200"/>
          </a:xfrm>
          <a:prstGeom prst="rect">
            <a:avLst/>
          </a:prstGeom>
          <a:noFill/>
        </p:spPr>
        <p:txBody>
          <a:bodyPr wrap="square" anchor="b">
            <a:normAutofit fontScale="60000"/>
          </a:bodyPr>
          <a:lstStyle/>
          <a:p>
            <a:pPr>
              <a:defRPr sz="2200" b="1">
                <a:solidFill>
                  <a:srgbClr val="051C2C"/>
                </a:solidFill>
                <a:latin typeface="Arial"/>
              </a:defRPr>
            </a:pPr>
            <a:r>
              <a:rPr sz="2200" b="1">
                <a:solidFill>
                  <a:srgbClr val="051C2C"/>
                </a:solidFill>
                <a:latin typeface="Arial"/>
              </a:rPr>
              <a:t>2. Academic Foundations &amp; Literature Survey (100 Papers)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868680"/>
            <a:ext cx="10545775" cy="18288"/>
          </a:xfrm>
          <a:prstGeom prst="rect">
            <a:avLst/>
          </a:prstGeom>
          <a:solidFill>
            <a:srgbClr val="225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E5FF"/>
                </a:solidFill>
                <a:latin typeface="Arial"/>
              </a:defRPr>
            </a:pPr>
            <a:r>
              <a:rPr sz="1400" b="1">
                <a:solidFill>
                  <a:srgbClr val="00E5FF"/>
                </a:solidFill>
                <a:latin typeface="Arial"/>
                <a:ea typeface="Yu Gothic"/>
              </a:rPr>
              <a:t>SURVEY OF 100 PEER-REVIEWED PAPERS (IEEE / ACM / SPRINGER)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80160"/>
            <a:ext cx="2464993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280160"/>
            <a:ext cx="54864" cy="1188720"/>
          </a:xfrm>
          <a:prstGeom prst="rect">
            <a:avLst/>
          </a:prstGeom>
          <a:solidFill>
            <a:srgbClr val="225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1417319"/>
            <a:ext cx="2044369" cy="54864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>
              <a:defRPr sz="2800" b="1">
                <a:solidFill>
                  <a:srgbClr val="2251FF"/>
                </a:solidFill>
                <a:latin typeface="Arial"/>
              </a:defRPr>
            </a:pPr>
            <a:r>
              <a:rPr sz="2800" b="1">
                <a:solidFill>
                  <a:srgbClr val="2251FF"/>
                </a:solidFill>
                <a:latin typeface="Arial"/>
              </a:rPr>
              <a:t>28 Papers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" y="2011680"/>
            <a:ext cx="204436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66666"/>
                </a:solidFill>
                <a:latin typeface="Arial"/>
              </a:defRPr>
            </a:pPr>
            <a:r>
              <a:rPr sz="1100">
                <a:solidFill>
                  <a:srgbClr val="666666"/>
                </a:solidFill>
                <a:latin typeface="Arial"/>
              </a:rPr>
              <a:t>Anti-Jamming &amp; FHSS (Simon, Torrieri, Strasser)</a:t>
            </a:r>
          </a:p>
        </p:txBody>
      </p:sp>
      <p:sp>
        <p:nvSpPr>
          <p:cNvPr id="9" name="Rectangle 8"/>
          <p:cNvSpPr/>
          <p:nvPr/>
        </p:nvSpPr>
        <p:spPr>
          <a:xfrm>
            <a:off x="3516553" y="1280160"/>
            <a:ext cx="2464993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16553" y="1280160"/>
            <a:ext cx="54864" cy="1188720"/>
          </a:xfrm>
          <a:prstGeom prst="rect">
            <a:avLst/>
          </a:prstGeom>
          <a:solidFill>
            <a:srgbClr val="225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00017" y="1417319"/>
            <a:ext cx="2044369" cy="54864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>
              <a:defRPr sz="2800" b="1">
                <a:solidFill>
                  <a:srgbClr val="2251FF"/>
                </a:solidFill>
                <a:latin typeface="Arial"/>
              </a:defRPr>
            </a:pPr>
            <a:r>
              <a:rPr sz="2800" b="1">
                <a:solidFill>
                  <a:srgbClr val="2251FF"/>
                </a:solidFill>
                <a:latin typeface="Arial"/>
              </a:rPr>
              <a:t>26 Papers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0017" y="2011680"/>
            <a:ext cx="204436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66666"/>
                </a:solidFill>
                <a:latin typeface="Arial"/>
              </a:defRPr>
            </a:pPr>
            <a:r>
              <a:rPr sz="1100">
                <a:solidFill>
                  <a:srgbClr val="666666"/>
                </a:solidFill>
                <a:latin typeface="Arial"/>
              </a:rPr>
              <a:t>Cognitive Blacklisting (Cabric, Urkowitz, Sha)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0147" y="1280160"/>
            <a:ext cx="2464993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0147" y="1280160"/>
            <a:ext cx="54864" cy="1188720"/>
          </a:xfrm>
          <a:prstGeom prst="rect">
            <a:avLst/>
          </a:prstGeom>
          <a:solidFill>
            <a:srgbClr val="225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3611" y="1417319"/>
            <a:ext cx="2044369" cy="54864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>
              <a:defRPr sz="2800" b="1">
                <a:solidFill>
                  <a:srgbClr val="2251FF"/>
                </a:solidFill>
                <a:latin typeface="Arial"/>
              </a:defRPr>
            </a:pPr>
            <a:r>
              <a:rPr sz="2800" b="1">
                <a:solidFill>
                  <a:srgbClr val="2251FF"/>
                </a:solidFill>
                <a:latin typeface="Arial"/>
              </a:rPr>
              <a:t>22 Papers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3611" y="2011680"/>
            <a:ext cx="204436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66666"/>
                </a:solidFill>
                <a:latin typeface="Arial"/>
              </a:defRPr>
            </a:pPr>
            <a:r>
              <a:rPr sz="1100">
                <a:solidFill>
                  <a:srgbClr val="666666"/>
                </a:solidFill>
                <a:latin typeface="Arial"/>
              </a:rPr>
              <a:t>DTN &amp; Edge Buffering (Cerf, Fall, Lindgren)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03741" y="1280160"/>
            <a:ext cx="2464993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03741" y="1280160"/>
            <a:ext cx="54864" cy="1188720"/>
          </a:xfrm>
          <a:prstGeom prst="rect">
            <a:avLst/>
          </a:prstGeom>
          <a:solidFill>
            <a:srgbClr val="225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7205" y="1417319"/>
            <a:ext cx="2044369" cy="54864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>
              <a:defRPr sz="2800" b="1">
                <a:solidFill>
                  <a:srgbClr val="2251FF"/>
                </a:solidFill>
                <a:latin typeface="Arial"/>
              </a:defRPr>
            </a:pPr>
            <a:r>
              <a:rPr sz="2800" b="1">
                <a:solidFill>
                  <a:srgbClr val="2251FF"/>
                </a:solidFill>
                <a:latin typeface="Arial"/>
              </a:rPr>
              <a:t>24 Papers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7205" y="2011680"/>
            <a:ext cx="204436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66666"/>
                </a:solidFill>
                <a:latin typeface="Arial"/>
              </a:defRPr>
            </a:pPr>
            <a:r>
              <a:rPr sz="1100">
                <a:solidFill>
                  <a:srgbClr val="666666"/>
                </a:solidFill>
                <a:latin typeface="Arial"/>
              </a:rPr>
              <a:t>Game Theory &amp; Jammers (Pelechrinis, Grover, Pirayesh)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256032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510"/>
              </a:lnSpc>
              <a:defRPr sz="1200">
                <a:solidFill>
                  <a:srgbClr val="051C2C"/>
                </a:solidFill>
                <a:latin typeface="Arial"/>
              </a:defRPr>
            </a:pPr>
            <a:r>
              <a:rPr sz="1200">
                <a:solidFill>
                  <a:srgbClr val="051C2C"/>
                </a:solidFill>
                <a:latin typeface="Arial"/>
              </a:rPr>
              <a:t>•  Anti-Jamming PHY/MAC: Fast frequency hopping outperforms DSSS under spot and sweep jammers (Torrieri et al.); short dwell times (10-50ms) minimize interception probability.</a:t>
            </a:r>
          </a:p>
          <a:p>
            <a:pPr>
              <a:lnSpc>
                <a:spcPts val="3510"/>
              </a:lnSpc>
              <a:defRPr sz="1200">
                <a:solidFill>
                  <a:srgbClr val="051C2C"/>
                </a:solidFill>
                <a:latin typeface="Arial"/>
              </a:defRPr>
            </a:pPr>
            <a:r>
              <a:t>•  Cognitive Energy Detection: RPD (Received Power Detector) energy sensing enables real-time carrier presence detection in sub-millisecond windows (Urkowitz et al.).</a:t>
            </a:r>
          </a:p>
          <a:p>
            <a:pPr>
              <a:lnSpc>
                <a:spcPts val="3510"/>
              </a:lnSpc>
              <a:defRPr sz="1200">
                <a:solidFill>
                  <a:srgbClr val="051C2C"/>
                </a:solidFill>
                <a:latin typeface="Arial"/>
              </a:defRPr>
            </a:pPr>
            <a:r>
              <a:t>•  Delay-Tolerant Edge Buffering: RFC 4838 / RFC 5050 custody transfer guarantees zero data loss by holding packets at intermediate edge nodes until bidirectional ACK verification.</a:t>
            </a:r>
          </a:p>
          <a:p>
            <a:pPr>
              <a:lnSpc>
                <a:spcPts val="3510"/>
              </a:lnSpc>
              <a:defRPr sz="1200">
                <a:solidFill>
                  <a:srgbClr val="051C2C"/>
                </a:solidFill>
                <a:latin typeface="Arial"/>
              </a:defRPr>
            </a:pPr>
            <a:r>
              <a:t>•  Adversarial Minimax Games: Attacker-defender dynamics prove pseudo-random XORShift lockstep hopping provides maximum entropy against adaptive jammers.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545775" cy="457200"/>
          </a:xfrm>
          <a:prstGeom prst="rect">
            <a:avLst/>
          </a:prstGeom>
          <a:noFill/>
        </p:spPr>
        <p:txBody>
          <a:bodyPr wrap="square" anchor="b">
            <a:normAutofit fontScale="60000"/>
          </a:bodyPr>
          <a:lstStyle/>
          <a:p>
            <a:pPr>
              <a:defRPr sz="2200" b="1">
                <a:solidFill>
                  <a:srgbClr val="051C2C"/>
                </a:solidFill>
                <a:latin typeface="Arial"/>
              </a:defRPr>
            </a:pPr>
            <a:r>
              <a:rPr sz="2200" b="1">
                <a:solidFill>
                  <a:srgbClr val="051C2C"/>
                </a:solidFill>
                <a:latin typeface="Arial"/>
              </a:rPr>
              <a:t>3. Deployed Hardware &amp; Node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868680"/>
            <a:ext cx="10545775" cy="18288"/>
          </a:xfrm>
          <a:prstGeom prst="rect">
            <a:avLst/>
          </a:prstGeom>
          <a:solidFill>
            <a:srgbClr val="225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E5FF"/>
                </a:solidFill>
                <a:latin typeface="Arial"/>
              </a:defRPr>
            </a:pPr>
            <a:r>
              <a:rPr sz="1400" b="1">
                <a:solidFill>
                  <a:srgbClr val="00E5FF"/>
                </a:solidFill>
                <a:latin typeface="Arial"/>
                <a:ea typeface="Yu Gothic"/>
              </a:rPr>
              <a:t>END-TO-END DEPLOYED SYSTEM BLUEPRINT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371600"/>
          <a:ext cx="10515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7340"/>
                <a:gridCol w="1892808"/>
                <a:gridCol w="2313432"/>
                <a:gridCol w="4732020"/>
              </a:tblGrid>
              <a:tr h="2743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Node Role</a:t>
                      </a:r>
                    </a:p>
                  </a:txBody>
                  <a:tcPr anchor="ctr" marL="91440" marR="91440" marT="27432" marB="27432">
                    <a:solidFill>
                      <a:srgbClr val="051C2C"/>
                    </a:solidFill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25400" cmpd="sng">
                      <a:solidFill>
                        <a:srgbClr val="051C2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Hardware MCU</a:t>
                      </a:r>
                    </a:p>
                  </a:txBody>
                  <a:tcPr anchor="ctr" marL="91440" marR="91440" marT="27432" marB="27432">
                    <a:solidFill>
                      <a:srgbClr val="051C2C"/>
                    </a:solidFill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25400" cmpd="sng">
                      <a:solidFill>
                        <a:srgbClr val="051C2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Physical UI</a:t>
                      </a:r>
                    </a:p>
                  </a:txBody>
                  <a:tcPr anchor="ctr" marL="91440" marR="91440" marT="27432" marB="27432">
                    <a:solidFill>
                      <a:srgbClr val="051C2C"/>
                    </a:solidFill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25400" cmpd="sng">
                      <a:solidFill>
                        <a:srgbClr val="051C2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Core Responsibilities &amp; Capabilities</a:t>
                      </a:r>
                    </a:p>
                  </a:txBody>
                  <a:tcPr anchor="ctr" marL="91440" marR="91440" marT="27432" marB="27432">
                    <a:solidFill>
                      <a:srgbClr val="051C2C"/>
                    </a:solidFill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25400" cmpd="sng">
                      <a:solidFill>
                        <a:srgbClr val="051C2C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51C2C"/>
                          </a:solidFill>
                          <a:latin typeface="Arial"/>
                        </a:defRPr>
                      </a:pPr>
                      <a:r>
                        <a:t>Node A (Source)</a:t>
                      </a:r>
                    </a:p>
                  </a:txBody>
                  <a:tcPr anchor="ctr" marL="91440" marR="91440" marT="27432" marB="27432">
                    <a:noFill/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51C2C"/>
                          </a:solidFill>
                          <a:latin typeface="Arial"/>
                        </a:defRPr>
                      </a:pPr>
                      <a:r>
                        <a:t>ESP32 DevKit (240MHz)</a:t>
                      </a:r>
                    </a:p>
                  </a:txBody>
                  <a:tcPr anchor="ctr" marL="91440" marR="91440" marT="27432" marB="27432">
                    <a:noFill/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51C2C"/>
                          </a:solidFill>
                          <a:latin typeface="Arial"/>
                        </a:defRPr>
                      </a:pPr>
                      <a:r>
                        <a:t>Local Web Hub / App</a:t>
                      </a:r>
                    </a:p>
                  </a:txBody>
                  <a:tcPr anchor="ctr" marL="91440" marR="91440" marT="27432" marB="27432">
                    <a:noFill/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51C2C"/>
                          </a:solidFill>
                          <a:latin typeface="Arial"/>
                        </a:defRPr>
                      </a:pPr>
                      <a:r>
                        <a:t>Dispatches alerts/images; captures return messages; polls local queue; syncs to FHSS clock.</a:t>
                      </a:r>
                    </a:p>
                  </a:txBody>
                  <a:tcPr anchor="ctr" marL="91440" marR="91440" marT="27432" marB="27432">
                    <a:noFill/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51C2C"/>
                          </a:solidFill>
                          <a:latin typeface="Arial"/>
                        </a:defRPr>
                      </a:pPr>
                      <a:r>
                        <a:t>Node B (Relay)</a:t>
                      </a:r>
                    </a:p>
                  </a:txBody>
                  <a:tcPr anchor="ctr" marL="91440" marR="91440" marT="27432" marB="27432">
                    <a:solidFill>
                      <a:srgbClr val="F5F5F5"/>
                    </a:solidFill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51C2C"/>
                          </a:solidFill>
                          <a:latin typeface="Arial"/>
                        </a:defRPr>
                      </a:pPr>
                      <a:r>
                        <a:t>ESP32 DevKit (240MHz)</a:t>
                      </a:r>
                    </a:p>
                  </a:txBody>
                  <a:tcPr anchor="ctr" marL="91440" marR="91440" marT="27432" marB="27432">
                    <a:solidFill>
                      <a:srgbClr val="F5F5F5"/>
                    </a:solidFill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51C2C"/>
                          </a:solidFill>
                          <a:latin typeface="Arial"/>
                        </a:defRPr>
                      </a:pPr>
                      <a:r>
                        <a:t>16x2 I2C LCD Display</a:t>
                      </a:r>
                    </a:p>
                  </a:txBody>
                  <a:tcPr anchor="ctr" marL="91440" marR="91440" marT="27432" marB="27432">
                    <a:solidFill>
                      <a:srgbClr val="F5F5F5"/>
                    </a:solidFill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51C2C"/>
                          </a:solidFill>
                          <a:latin typeface="Arial"/>
                        </a:defRPr>
                      </a:pPr>
                      <a:r>
                        <a:t>Master FHSS clock beacon; 520KB SRAM dual-direction ring buffers; RPD jammer detector &amp; blacklisting.</a:t>
                      </a:r>
                    </a:p>
                  </a:txBody>
                  <a:tcPr anchor="ctr" marL="91440" marR="91440" marT="27432" marB="27432">
                    <a:solidFill>
                      <a:srgbClr val="F5F5F5"/>
                    </a:solidFill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51C2C"/>
                          </a:solidFill>
                          <a:latin typeface="Arial"/>
                        </a:defRPr>
                      </a:pPr>
                      <a:r>
                        <a:t>Node C (Dest)</a:t>
                      </a:r>
                    </a:p>
                  </a:txBody>
                  <a:tcPr anchor="ctr" marL="91440" marR="91440" marT="27432" marB="27432">
                    <a:noFill/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51C2C"/>
                          </a:solidFill>
                          <a:latin typeface="Arial"/>
                        </a:defRPr>
                      </a:pPr>
                      <a:r>
                        <a:t>ESP32 DevKit (240MHz)</a:t>
                      </a:r>
                    </a:p>
                  </a:txBody>
                  <a:tcPr anchor="ctr" marL="91440" marR="91440" marT="27432" marB="27432">
                    <a:noFill/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51C2C"/>
                          </a:solidFill>
                          <a:latin typeface="Arial"/>
                        </a:defRPr>
                      </a:pPr>
                      <a:r>
                        <a:t>Local Web Hub / App</a:t>
                      </a:r>
                    </a:p>
                  </a:txBody>
                  <a:tcPr anchor="ctr" marL="91440" marR="91440" marT="27432" marB="27432">
                    <a:noFill/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51C2C"/>
                          </a:solidFill>
                          <a:latin typeface="Arial"/>
                        </a:defRPr>
                      </a:pPr>
                      <a:r>
                        <a:t>Receives forwarded packets; issues immediate ACKs; sends reverse telemetry back to Node A.</a:t>
                      </a:r>
                    </a:p>
                  </a:txBody>
                  <a:tcPr anchor="ctr" marL="91440" marR="91440" marT="27432" marB="27432">
                    <a:noFill/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51C2C"/>
                          </a:solidFill>
                          <a:latin typeface="Arial"/>
                        </a:defRPr>
                      </a:pPr>
                      <a:r>
                        <a:t>Jammer Console</a:t>
                      </a:r>
                    </a:p>
                  </a:txBody>
                  <a:tcPr anchor="ctr" marL="91440" marR="91440" marT="27432" marB="27432">
                    <a:solidFill>
                      <a:srgbClr val="F5F5F5"/>
                    </a:solidFill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51C2C"/>
                          </a:solidFill>
                          <a:latin typeface="Arial"/>
                        </a:defRPr>
                      </a:pPr>
                      <a:r>
                        <a:t>Arduino Mega 2560</a:t>
                      </a:r>
                    </a:p>
                  </a:txBody>
                  <a:tcPr anchor="ctr" marL="91440" marR="91440" marT="27432" marB="27432">
                    <a:solidFill>
                      <a:srgbClr val="F5F5F5"/>
                    </a:solidFill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51C2C"/>
                          </a:solidFill>
                          <a:latin typeface="Arial"/>
                        </a:defRPr>
                      </a:pPr>
                      <a:r>
                        <a:t>3.5\" TFT Touchscreen</a:t>
                      </a:r>
                    </a:p>
                  </a:txBody>
                  <a:tcPr anchor="ctr" marL="91440" marR="91440" marT="27432" marB="27432">
                    <a:solidFill>
                      <a:srgbClr val="F5F5F5"/>
                    </a:solidFill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51C2C"/>
                          </a:solidFill>
                          <a:latin typeface="Arial"/>
                        </a:defRPr>
                      </a:pPr>
                      <a:r>
                        <a:t>Adversary testbed: Spot, sweep (124 ch), random, and adaptive mesh tracking modes.</a:t>
                      </a:r>
                    </a:p>
                  </a:txBody>
                  <a:tcPr anchor="ctr" marL="91440" marR="91440" marT="27432" marB="27432">
                    <a:solidFill>
                      <a:srgbClr val="F5F5F5"/>
                    </a:solidFill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438912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600"/>
              </a:lnSpc>
              <a:defRPr sz="1200">
                <a:solidFill>
                  <a:srgbClr val="051C2C"/>
                </a:solidFill>
                <a:latin typeface="Arial"/>
              </a:defRPr>
            </a:pPr>
            <a:r>
              <a:rPr sz="1200">
                <a:solidFill>
                  <a:srgbClr val="051C2C"/>
                </a:solidFill>
                <a:latin typeface="Arial"/>
              </a:rPr>
              <a:t>•  100% Local &amp; Cloudless: Zero external server dependencies; operates reliably in underground bunkers, hospitals, and isolated tactical fields.</a:t>
            </a:r>
          </a:p>
          <a:p>
            <a:pPr>
              <a:lnSpc>
                <a:spcPts val="3600"/>
              </a:lnSpc>
              <a:defRPr sz="1200">
                <a:solidFill>
                  <a:srgbClr val="051C2C"/>
                </a:solidFill>
                <a:latin typeface="Arial"/>
              </a:defRPr>
            </a:pPr>
            <a:r>
              <a:t>•  Hardware Pinout Standardization: Identical nRF24 SPI pinouts across all 3 ESP32 nodes (CE:4, CSN:5, SCK:18, MOSI:23, MISO:19); 16x2 LCD on I2C GPIO 21/22.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545775" cy="457200"/>
          </a:xfrm>
          <a:prstGeom prst="rect">
            <a:avLst/>
          </a:prstGeom>
          <a:noFill/>
        </p:spPr>
        <p:txBody>
          <a:bodyPr wrap="square" anchor="b">
            <a:normAutofit fontScale="60000"/>
          </a:bodyPr>
          <a:lstStyle/>
          <a:p>
            <a:pPr>
              <a:defRPr sz="2200" b="1">
                <a:solidFill>
                  <a:srgbClr val="051C2C"/>
                </a:solidFill>
                <a:latin typeface="Arial"/>
              </a:defRPr>
            </a:pPr>
            <a:r>
              <a:rPr sz="2200" b="1">
                <a:solidFill>
                  <a:srgbClr val="051C2C"/>
                </a:solidFill>
                <a:latin typeface="Arial"/>
              </a:rPr>
              <a:t>4. Slotted FHSS Protocol &amp; Bidirectional Timing Engine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868680"/>
            <a:ext cx="10545775" cy="18288"/>
          </a:xfrm>
          <a:prstGeom prst="rect">
            <a:avLst/>
          </a:prstGeom>
          <a:solidFill>
            <a:srgbClr val="225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E5FF"/>
                </a:solidFill>
                <a:latin typeface="Arial"/>
              </a:defRPr>
            </a:pPr>
            <a:r>
              <a:rPr sz="1400" b="1">
                <a:solidFill>
                  <a:srgbClr val="00E5FF"/>
                </a:solidFill>
                <a:latin typeface="Arial"/>
                <a:ea typeface="Yu Gothic"/>
              </a:rPr>
              <a:t>25 MILLISECOND SLOTTED FHSS FRAME STRUCTURE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371600"/>
          <a:ext cx="105156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3154680"/>
                <a:gridCol w="3154680"/>
              </a:tblGrid>
              <a:tr h="2743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Phase Window</a:t>
                      </a:r>
                    </a:p>
                  </a:txBody>
                  <a:tcPr anchor="ctr" marL="91440" marR="91440" marT="27432" marB="27432">
                    <a:solidFill>
                      <a:srgbClr val="051C2C"/>
                    </a:solidFill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25400" cmpd="sng">
                      <a:solidFill>
                        <a:srgbClr val="051C2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Duration</a:t>
                      </a:r>
                    </a:p>
                  </a:txBody>
                  <a:tcPr anchor="ctr" marL="91440" marR="91440" marT="27432" marB="27432">
                    <a:solidFill>
                      <a:srgbClr val="051C2C"/>
                    </a:solidFill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25400" cmpd="sng">
                      <a:solidFill>
                        <a:srgbClr val="051C2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Transmitting Node</a:t>
                      </a:r>
                    </a:p>
                  </a:txBody>
                  <a:tcPr anchor="ctr" marL="91440" marR="91440" marT="27432" marB="27432">
                    <a:solidFill>
                      <a:srgbClr val="051C2C"/>
                    </a:solidFill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25400" cmpd="sng">
                      <a:solidFill>
                        <a:srgbClr val="051C2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Function / Operation</a:t>
                      </a:r>
                    </a:p>
                  </a:txBody>
                  <a:tcPr anchor="ctr" marL="91440" marR="91440" marT="27432" marB="27432">
                    <a:solidFill>
                      <a:srgbClr val="051C2C"/>
                    </a:solidFill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25400" cmpd="sng">
                      <a:solidFill>
                        <a:srgbClr val="051C2C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51C2C"/>
                          </a:solidFill>
                          <a:latin typeface="Arial"/>
                        </a:defRPr>
                      </a:pPr>
                      <a:r>
                        <a:t>Phase 1: SYNC</a:t>
                      </a:r>
                    </a:p>
                  </a:txBody>
                  <a:tcPr anchor="ctr" marL="91440" marR="91440" marT="27432" marB="27432">
                    <a:noFill/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51C2C"/>
                          </a:solidFill>
                          <a:latin typeface="Arial"/>
                        </a:defRPr>
                      </a:pPr>
                      <a:r>
                        <a:t>0 ms - 2 ms (2000 us)</a:t>
                      </a:r>
                    </a:p>
                  </a:txBody>
                  <a:tcPr anchor="ctr" marL="91440" marR="91440" marT="27432" marB="27432">
                    <a:noFill/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51C2C"/>
                          </a:solidFill>
                          <a:latin typeface="Arial"/>
                        </a:defRPr>
                      </a:pPr>
                      <a:r>
                        <a:t>Node B (Master)</a:t>
                      </a:r>
                    </a:p>
                  </a:txBody>
                  <a:tcPr anchor="ctr" marL="91440" marR="91440" marT="27432" marB="27432">
                    <a:noFill/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51C2C"/>
                          </a:solidFill>
                          <a:latin typeface="Arial"/>
                        </a:defRPr>
                      </a:pPr>
                      <a:r>
                        <a:t>Broadcasts hop index, master timestamp (us), and 16-byte blacklist mask.</a:t>
                      </a:r>
                    </a:p>
                  </a:txBody>
                  <a:tcPr anchor="ctr" marL="91440" marR="91440" marT="27432" marB="27432">
                    <a:noFill/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51C2C"/>
                          </a:solidFill>
                          <a:latin typeface="Arial"/>
                        </a:defRPr>
                      </a:pPr>
                      <a:r>
                        <a:t>Phase 2: FORWARD (A-&gt;B)</a:t>
                      </a:r>
                    </a:p>
                  </a:txBody>
                  <a:tcPr anchor="ctr" marL="91440" marR="91440" marT="27432" marB="27432">
                    <a:solidFill>
                      <a:srgbClr val="F5F5F5"/>
                    </a:solidFill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51C2C"/>
                          </a:solidFill>
                          <a:latin typeface="Arial"/>
                        </a:defRPr>
                      </a:pPr>
                      <a:r>
                        <a:t>2 ms - 7 ms (5000 us)</a:t>
                      </a:r>
                    </a:p>
                  </a:txBody>
                  <a:tcPr anchor="ctr" marL="91440" marR="91440" marT="27432" marB="27432">
                    <a:solidFill>
                      <a:srgbClr val="F5F5F5"/>
                    </a:solidFill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51C2C"/>
                          </a:solidFill>
                          <a:latin typeface="Arial"/>
                        </a:defRPr>
                      </a:pPr>
                      <a:r>
                        <a:t>Node A (Source)</a:t>
                      </a:r>
                    </a:p>
                  </a:txBody>
                  <a:tcPr anchor="ctr" marL="91440" marR="91440" marT="27432" marB="27432">
                    <a:solidFill>
                      <a:srgbClr val="F5F5F5"/>
                    </a:solidFill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51C2C"/>
                          </a:solidFill>
                          <a:latin typeface="Arial"/>
                        </a:defRPr>
                      </a:pPr>
                      <a:r>
                        <a:t>Transmits forward data/image packet to Node B; Node B immediately ACKs.</a:t>
                      </a:r>
                    </a:p>
                  </a:txBody>
                  <a:tcPr anchor="ctr" marL="91440" marR="91440" marT="27432" marB="27432">
                    <a:solidFill>
                      <a:srgbClr val="F5F5F5"/>
                    </a:solidFill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51C2C"/>
                          </a:solidFill>
                          <a:latin typeface="Arial"/>
                        </a:defRPr>
                      </a:pPr>
                      <a:r>
                        <a:t>Phase 3: DRAIN (B-&gt;C)</a:t>
                      </a:r>
                    </a:p>
                  </a:txBody>
                  <a:tcPr anchor="ctr" marL="91440" marR="91440" marT="27432" marB="27432">
                    <a:noFill/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51C2C"/>
                          </a:solidFill>
                          <a:latin typeface="Arial"/>
                        </a:defRPr>
                      </a:pPr>
                      <a:r>
                        <a:t>7 ms - 13 ms (6000 us)</a:t>
                      </a:r>
                    </a:p>
                  </a:txBody>
                  <a:tcPr anchor="ctr" marL="91440" marR="91440" marT="27432" marB="27432">
                    <a:noFill/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51C2C"/>
                          </a:solidFill>
                          <a:latin typeface="Arial"/>
                        </a:defRPr>
                      </a:pPr>
                      <a:r>
                        <a:t>Node B (Relay)</a:t>
                      </a:r>
                    </a:p>
                  </a:txBody>
                  <a:tcPr anchor="ctr" marL="91440" marR="91440" marT="27432" marB="27432">
                    <a:noFill/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51C2C"/>
                          </a:solidFill>
                          <a:latin typeface="Arial"/>
                        </a:defRPr>
                      </a:pPr>
                      <a:r>
                        <a:t>Node B flushes forward buffer to Node C; Node C sends immediate ACK.</a:t>
                      </a:r>
                    </a:p>
                  </a:txBody>
                  <a:tcPr anchor="ctr" marL="91440" marR="91440" marT="27432" marB="27432">
                    <a:noFill/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51C2C"/>
                          </a:solidFill>
                          <a:latin typeface="Arial"/>
                        </a:defRPr>
                      </a:pPr>
                      <a:r>
                        <a:t>Phase 4: REVERSE (C-&gt;B)</a:t>
                      </a:r>
                    </a:p>
                  </a:txBody>
                  <a:tcPr anchor="ctr" marL="91440" marR="91440" marT="27432" marB="27432">
                    <a:solidFill>
                      <a:srgbClr val="F5F5F5"/>
                    </a:solidFill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51C2C"/>
                          </a:solidFill>
                          <a:latin typeface="Arial"/>
                        </a:defRPr>
                      </a:pPr>
                      <a:r>
                        <a:t>13 ms - 18 ms (5000 us)</a:t>
                      </a:r>
                    </a:p>
                  </a:txBody>
                  <a:tcPr anchor="ctr" marL="91440" marR="91440" marT="27432" marB="27432">
                    <a:solidFill>
                      <a:srgbClr val="F5F5F5"/>
                    </a:solidFill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51C2C"/>
                          </a:solidFill>
                          <a:latin typeface="Arial"/>
                        </a:defRPr>
                      </a:pPr>
                      <a:r>
                        <a:t>Node C (Dest)</a:t>
                      </a:r>
                    </a:p>
                  </a:txBody>
                  <a:tcPr anchor="ctr" marL="91440" marR="91440" marT="27432" marB="27432">
                    <a:solidFill>
                      <a:srgbClr val="F5F5F5"/>
                    </a:solidFill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51C2C"/>
                          </a:solidFill>
                          <a:latin typeface="Arial"/>
                        </a:defRPr>
                      </a:pPr>
                      <a:r>
                        <a:t>Transmits return message/status to Node B; Node B immediately ACKs.</a:t>
                      </a:r>
                    </a:p>
                  </a:txBody>
                  <a:tcPr anchor="ctr" marL="91440" marR="91440" marT="27432" marB="27432">
                    <a:solidFill>
                      <a:srgbClr val="F5F5F5"/>
                    </a:solidFill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51C2C"/>
                          </a:solidFill>
                          <a:latin typeface="Arial"/>
                        </a:defRPr>
                      </a:pPr>
                      <a:r>
                        <a:t>Phase 5: DRAIN (B-&gt;A)</a:t>
                      </a:r>
                    </a:p>
                  </a:txBody>
                  <a:tcPr anchor="ctr" marL="91440" marR="91440" marT="27432" marB="27432">
                    <a:noFill/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51C2C"/>
                          </a:solidFill>
                          <a:latin typeface="Arial"/>
                        </a:defRPr>
                      </a:pPr>
                      <a:r>
                        <a:t>18 ms - 24 ms (6000 us)</a:t>
                      </a:r>
                    </a:p>
                  </a:txBody>
                  <a:tcPr anchor="ctr" marL="91440" marR="91440" marT="27432" marB="27432">
                    <a:noFill/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51C2C"/>
                          </a:solidFill>
                          <a:latin typeface="Arial"/>
                        </a:defRPr>
                      </a:pPr>
                      <a:r>
                        <a:t>Node B (Relay)</a:t>
                      </a:r>
                    </a:p>
                  </a:txBody>
                  <a:tcPr anchor="ctr" marL="91440" marR="91440" marT="27432" marB="27432">
                    <a:noFill/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51C2C"/>
                          </a:solidFill>
                          <a:latin typeface="Arial"/>
                        </a:defRPr>
                      </a:pPr>
                      <a:r>
                        <a:t>Node B flushes reverse buffer to Node A; Node A sends immediate ACK.</a:t>
                      </a:r>
                    </a:p>
                  </a:txBody>
                  <a:tcPr anchor="ctr" marL="91440" marR="91440" marT="27432" marB="27432">
                    <a:noFill/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51C2C"/>
                          </a:solidFill>
                          <a:latin typeface="Arial"/>
                        </a:defRPr>
                      </a:pPr>
                      <a:r>
                        <a:t>Phase 6: CARRIER SCAN</a:t>
                      </a:r>
                    </a:p>
                  </a:txBody>
                  <a:tcPr anchor="ctr" marL="91440" marR="91440" marT="27432" marB="27432">
                    <a:solidFill>
                      <a:srgbClr val="F5F5F5"/>
                    </a:solidFill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51C2C"/>
                          </a:solidFill>
                          <a:latin typeface="Arial"/>
                        </a:defRPr>
                      </a:pPr>
                      <a:r>
                        <a:t>24 ms - 25 ms (1000 us)</a:t>
                      </a:r>
                    </a:p>
                  </a:txBody>
                  <a:tcPr anchor="ctr" marL="91440" marR="91440" marT="27432" marB="27432">
                    <a:solidFill>
                      <a:srgbClr val="F5F5F5"/>
                    </a:solidFill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51C2C"/>
                          </a:solidFill>
                          <a:latin typeface="Arial"/>
                        </a:defRPr>
                      </a:pPr>
                      <a:r>
                        <a:t>Node B (Relay)</a:t>
                      </a:r>
                    </a:p>
                  </a:txBody>
                  <a:tcPr anchor="ctr" marL="91440" marR="91440" marT="27432" marB="27432">
                    <a:solidFill>
                      <a:srgbClr val="F5F5F5"/>
                    </a:solidFill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51C2C"/>
                          </a:solidFill>
                          <a:latin typeface="Arial"/>
                        </a:defRPr>
                      </a:pPr>
                      <a:r>
                        <a:t>RPD energy sensing to detect active RF jammers and trigger blacklisting.</a:t>
                      </a:r>
                    </a:p>
                  </a:txBody>
                  <a:tcPr anchor="ctr" marL="91440" marR="91440" marT="27432" marB="27432">
                    <a:solidFill>
                      <a:srgbClr val="F5F5F5"/>
                    </a:solidFill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47548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40"/>
              </a:lnSpc>
              <a:defRPr sz="1200">
                <a:solidFill>
                  <a:srgbClr val="051C2C"/>
                </a:solidFill>
                <a:latin typeface="Arial"/>
              </a:defRPr>
            </a:pPr>
            <a:r>
              <a:rPr sz="1200">
                <a:solidFill>
                  <a:srgbClr val="051C2C"/>
                </a:solidFill>
                <a:latin typeface="Arial"/>
              </a:rPr>
              <a:t>•  Deterministic XORShift PRNG: Guarantees all nodes hop across 124 channels (2.402 to 2.525 GHz) in exact synchrony without exchanging future channel lists.</a:t>
            </a:r>
          </a:p>
          <a:p>
            <a:pPr>
              <a:lnSpc>
                <a:spcPts val="3240"/>
              </a:lnSpc>
              <a:defRPr sz="1200">
                <a:solidFill>
                  <a:srgbClr val="051C2C"/>
                </a:solidFill>
                <a:latin typeface="Arial"/>
              </a:defRPr>
            </a:pPr>
            <a:r>
              <a:t>•  Dynamic Lockstep Avoidance: Corrupted channels are skipped on the very next hop by all nodes simultaneously with zero packet collision.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545775" cy="457200"/>
          </a:xfrm>
          <a:prstGeom prst="rect">
            <a:avLst/>
          </a:prstGeom>
          <a:noFill/>
        </p:spPr>
        <p:txBody>
          <a:bodyPr wrap="square" anchor="b">
            <a:normAutofit fontScale="60000"/>
          </a:bodyPr>
          <a:lstStyle/>
          <a:p>
            <a:pPr>
              <a:defRPr sz="2200" b="1">
                <a:solidFill>
                  <a:srgbClr val="051C2C"/>
                </a:solidFill>
                <a:latin typeface="Arial"/>
              </a:defRPr>
            </a:pPr>
            <a:r>
              <a:rPr sz="2200" b="1">
                <a:solidFill>
                  <a:srgbClr val="051C2C"/>
                </a:solidFill>
                <a:latin typeface="Arial"/>
              </a:rPr>
              <a:t>5. Demo Runbook &amp; Empirical Validation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868680"/>
            <a:ext cx="10545775" cy="18288"/>
          </a:xfrm>
          <a:prstGeom prst="rect">
            <a:avLst/>
          </a:prstGeom>
          <a:solidFill>
            <a:srgbClr val="225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E5FF"/>
                </a:solidFill>
                <a:latin typeface="Arial"/>
              </a:defRPr>
            </a:pPr>
            <a:r>
              <a:rPr sz="1400" b="1">
                <a:solidFill>
                  <a:srgbClr val="00E5FF"/>
                </a:solidFill>
                <a:latin typeface="Arial"/>
                <a:ea typeface="Yu Gothic"/>
              </a:rPr>
              <a:t>LIVE TEST PROCEDURES &amp; COMPETITION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510"/>
              </a:lnSpc>
              <a:defRPr sz="1200">
                <a:solidFill>
                  <a:srgbClr val="051C2C"/>
                </a:solidFill>
                <a:latin typeface="Arial"/>
              </a:defRPr>
            </a:pPr>
            <a:r>
              <a:rPr sz="1200">
                <a:solidFill>
                  <a:srgbClr val="051C2C"/>
                </a:solidFill>
                <a:latin typeface="Arial"/>
              </a:rPr>
              <a:t>•  Test 1: Mesh Power-Up &amp; Sync Lock: Power Node B -&gt; Node A &amp; C acquire SYNC within 500ms; Node B 16x2 LCD displays active CH and HOP count.</a:t>
            </a:r>
          </a:p>
          <a:p>
            <a:pPr>
              <a:lnSpc>
                <a:spcPts val="3510"/>
              </a:lnSpc>
              <a:defRPr sz="1200">
                <a:solidFill>
                  <a:srgbClr val="051C2C"/>
                </a:solidFill>
                <a:latin typeface="Arial"/>
              </a:defRPr>
            </a:pPr>
            <a:r>
              <a:t>•  Test 2: Bidirectional Zero-Loss Messenger: Transmit text/alert from Node A -&gt; displayed on Node C; transmit reply from Node C -&gt; displayed on Node A via local app.</a:t>
            </a:r>
          </a:p>
          <a:p>
            <a:pPr>
              <a:lnSpc>
                <a:spcPts val="3510"/>
              </a:lnSpc>
              <a:defRPr sz="1200">
                <a:solidFill>
                  <a:srgbClr val="051C2C"/>
                </a:solidFill>
                <a:latin typeface="Arial"/>
              </a:defRPr>
            </a:pPr>
            <a:r>
              <a:t>•  Test 3: Store-and-Forward Edge Buffering (Dead-Zone Demo): Unplug Node C -&gt; dispatch 5 messages -&gt; observe Node B LCD 'F:5' -&gt; plug Node C back in -&gt; all 5 packets flush instantly with 0% loss.</a:t>
            </a:r>
          </a:p>
          <a:p>
            <a:pPr>
              <a:lnSpc>
                <a:spcPts val="3510"/>
              </a:lnSpc>
              <a:defRPr sz="1200">
                <a:solidFill>
                  <a:srgbClr val="051C2C"/>
                </a:solidFill>
                <a:latin typeface="Arial"/>
              </a:defRPr>
            </a:pPr>
            <a:r>
              <a:t>•  Test 4: RF Jammer Stress Test &amp; Dynamic Blacklisting: Turn on Mega Jammer on Channel 45 -&gt; Node B detects carrier -&gt; blacklists CH 45 -&gt; LCD displays 'JAM:1' -&gt; mesh hops around CH 45 with zero interruption.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389120"/>
            <a:ext cx="2464993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4389120"/>
            <a:ext cx="54864" cy="1188720"/>
          </a:xfrm>
          <a:prstGeom prst="rect">
            <a:avLst/>
          </a:prstGeom>
          <a:solidFill>
            <a:srgbClr val="225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6424" y="4526280"/>
            <a:ext cx="2044369" cy="54864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>
              <a:defRPr sz="2800" b="1">
                <a:solidFill>
                  <a:srgbClr val="2251FF"/>
                </a:solidFill>
                <a:latin typeface="Arial"/>
              </a:defRPr>
            </a:pPr>
            <a:r>
              <a:rPr sz="2800" b="1">
                <a:solidFill>
                  <a:srgbClr val="2251FF"/>
                </a:solidFill>
                <a:latin typeface="Arial"/>
              </a:rPr>
              <a:t>25 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" y="5120640"/>
            <a:ext cx="204436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66666"/>
                </a:solidFill>
                <a:latin typeface="Arial"/>
              </a:defRPr>
            </a:pPr>
            <a:r>
              <a:rPr sz="1100">
                <a:solidFill>
                  <a:srgbClr val="666666"/>
                </a:solidFill>
                <a:latin typeface="Arial"/>
              </a:rPr>
              <a:t>Slotted Dwell Time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16553" y="4389120"/>
            <a:ext cx="2464993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16553" y="4389120"/>
            <a:ext cx="54864" cy="1188720"/>
          </a:xfrm>
          <a:prstGeom prst="rect">
            <a:avLst/>
          </a:prstGeom>
          <a:solidFill>
            <a:srgbClr val="225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00017" y="4526280"/>
            <a:ext cx="2044369" cy="54864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>
              <a:defRPr sz="2800" b="1">
                <a:solidFill>
                  <a:srgbClr val="2251FF"/>
                </a:solidFill>
                <a:latin typeface="Arial"/>
              </a:defRPr>
            </a:pPr>
            <a:r>
              <a:rPr sz="2800" b="1">
                <a:solidFill>
                  <a:srgbClr val="2251FF"/>
                </a:solidFill>
                <a:latin typeface="Arial"/>
              </a:rPr>
              <a:t>124 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0017" y="5120640"/>
            <a:ext cx="204436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66666"/>
                </a:solidFill>
                <a:latin typeface="Arial"/>
              </a:defRPr>
            </a:pPr>
            <a:r>
              <a:rPr sz="1100">
                <a:solidFill>
                  <a:srgbClr val="666666"/>
                </a:solidFill>
                <a:latin typeface="Arial"/>
              </a:rPr>
              <a:t>RF Channels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0147" y="4389120"/>
            <a:ext cx="2464993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0147" y="4389120"/>
            <a:ext cx="54864" cy="1188720"/>
          </a:xfrm>
          <a:prstGeom prst="rect">
            <a:avLst/>
          </a:prstGeom>
          <a:solidFill>
            <a:srgbClr val="225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3611" y="4526280"/>
            <a:ext cx="2044369" cy="54864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>
              <a:defRPr sz="2800" b="1">
                <a:solidFill>
                  <a:srgbClr val="2251FF"/>
                </a:solidFill>
                <a:latin typeface="Arial"/>
              </a:defRPr>
            </a:pPr>
            <a:r>
              <a:rPr sz="2800" b="1">
                <a:solidFill>
                  <a:srgbClr val="2251FF"/>
                </a:solidFill>
                <a:latin typeface="Arial"/>
              </a:rPr>
              <a:t>0.0%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3611" y="5120640"/>
            <a:ext cx="204436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66666"/>
                </a:solidFill>
                <a:latin typeface="Arial"/>
              </a:defRPr>
            </a:pPr>
            <a:r>
              <a:rPr sz="1100">
                <a:solidFill>
                  <a:srgbClr val="666666"/>
                </a:solidFill>
                <a:latin typeface="Arial"/>
              </a:rPr>
              <a:t>Dead-Zone Packet Loss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03741" y="4389120"/>
            <a:ext cx="2464993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03741" y="4389120"/>
            <a:ext cx="54864" cy="1188720"/>
          </a:xfrm>
          <a:prstGeom prst="rect">
            <a:avLst/>
          </a:prstGeom>
          <a:solidFill>
            <a:srgbClr val="225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7205" y="4526280"/>
            <a:ext cx="2044369" cy="54864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>
              <a:defRPr sz="2800" b="1">
                <a:solidFill>
                  <a:srgbClr val="2251FF"/>
                </a:solidFill>
                <a:latin typeface="Arial"/>
              </a:defRPr>
            </a:pPr>
            <a:r>
              <a:rPr sz="2800" b="1">
                <a:solidFill>
                  <a:srgbClr val="2251FF"/>
                </a:solidFill>
                <a:latin typeface="Arial"/>
              </a:rPr>
              <a:t>&lt;500 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7205" y="5120640"/>
            <a:ext cx="204436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66666"/>
                </a:solidFill>
                <a:latin typeface="Arial"/>
              </a:defRPr>
            </a:pPr>
            <a:r>
              <a:rPr sz="1100">
                <a:solidFill>
                  <a:srgbClr val="666666"/>
                </a:solidFill>
                <a:latin typeface="Arial"/>
              </a:rPr>
              <a:t>Sync Acquisition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